
<file path=[Content_Types].xml><?xml version="1.0" encoding="utf-8"?>
<Types xmlns="http://schemas.openxmlformats.org/package/2006/content-types">
  <Default Extension="emf" ContentType="image/x-emf"/>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3" r:id="rId14"/>
    <p:sldId id="275" r:id="rId15"/>
    <p:sldId id="274" r:id="rId16"/>
    <p:sldId id="268" r:id="rId17"/>
    <p:sldId id="269" r:id="rId18"/>
    <p:sldId id="270" r:id="rId19"/>
    <p:sldId id="271" r:id="rId20"/>
    <p:sldId id="272"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1" d="100"/>
          <a:sy n="111" d="100"/>
        </p:scale>
        <p:origin x="5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ébastien Sotiaux" userId="bf322666-57d4-4fb5-aab8-416a28c40cce" providerId="ADAL" clId="{1C38CF4F-4A94-4963-AA9A-4EB7EE22EEAA}"/>
    <pc:docChg chg="modSld">
      <pc:chgData name="Sébastien Sotiaux" userId="bf322666-57d4-4fb5-aab8-416a28c40cce" providerId="ADAL" clId="{1C38CF4F-4A94-4963-AA9A-4EB7EE22EEAA}" dt="2026-02-23T14:23:55.077" v="1" actId="1076"/>
      <pc:docMkLst>
        <pc:docMk/>
      </pc:docMkLst>
      <pc:sldChg chg="modSp mod">
        <pc:chgData name="Sébastien Sotiaux" userId="bf322666-57d4-4fb5-aab8-416a28c40cce" providerId="ADAL" clId="{1C38CF4F-4A94-4963-AA9A-4EB7EE22EEAA}" dt="2026-02-23T14:23:55.077" v="1" actId="1076"/>
        <pc:sldMkLst>
          <pc:docMk/>
          <pc:sldMk cId="3066346210" sldId="265"/>
        </pc:sldMkLst>
        <pc:picChg chg="mod">
          <ac:chgData name="Sébastien Sotiaux" userId="bf322666-57d4-4fb5-aab8-416a28c40cce" providerId="ADAL" clId="{1C38CF4F-4A94-4963-AA9A-4EB7EE22EEAA}" dt="2026-02-23T14:23:55.077" v="1" actId="1076"/>
          <ac:picMkLst>
            <pc:docMk/>
            <pc:sldMk cId="3066346210" sldId="265"/>
            <ac:picMk id="7" creationId="{00000000-0000-0000-0000-00000000000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BE"/>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BE"/>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BE"/>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BE"/>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BE"/>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BE"/>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BE"/>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BE"/>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dirty="0"/>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dirty="0"/>
              <a:t>2/23/2026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2/23/2026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2/23/2026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2/23/2026</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BE"/>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BE"/>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BE"/>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BE"/>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BE"/>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BE"/>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BE"/>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BE"/>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2/23/2026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5" r:id="rId2"/>
    <p:sldLayoutId id="2147483651" r:id="rId3"/>
    <p:sldLayoutId id="2147483666" r:id="rId4"/>
    <p:sldLayoutId id="2147483653" r:id="rId5"/>
    <p:sldLayoutId id="2147483654" r:id="rId6"/>
    <p:sldLayoutId id="2147483655" r:id="rId7"/>
    <p:sldLayoutId id="2147483667" r:id="rId8"/>
    <p:sldLayoutId id="2147483657" r:id="rId9"/>
    <p:sldLayoutId id="2147483660" r:id="rId10"/>
    <p:sldLayoutId id="2147483661" r:id="rId11"/>
    <p:sldLayoutId id="2147483662" r:id="rId12"/>
    <p:sldLayoutId id="2147483663" r:id="rId13"/>
    <p:sldLayoutId id="2147483664" r:id="rId14"/>
    <p:sldLayoutId id="2147483668"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15.emf"/><Relationship Id="rId3" Type="http://schemas.openxmlformats.org/officeDocument/2006/relationships/slideLayout" Target="../slideLayouts/slideLayout2.xml"/><Relationship Id="rId7" Type="http://schemas.openxmlformats.org/officeDocument/2006/relationships/image" Target="../media/image14.emf"/><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1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slideLayout" Target="../slideLayouts/slideLayout2.xml"/><Relationship Id="rId7" Type="http://schemas.openxmlformats.org/officeDocument/2006/relationships/image" Target="../media/image20.png"/><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19.png"/><Relationship Id="rId11" Type="http://schemas.openxmlformats.org/officeDocument/2006/relationships/image" Target="../media/image16.png"/><Relationship Id="rId5" Type="http://schemas.openxmlformats.org/officeDocument/2006/relationships/image" Target="../media/image18.png"/><Relationship Id="rId10" Type="http://schemas.openxmlformats.org/officeDocument/2006/relationships/image" Target="../media/image15.emf"/><Relationship Id="rId4" Type="http://schemas.openxmlformats.org/officeDocument/2006/relationships/image" Target="../media/image17.png"/><Relationship Id="rId9" Type="http://schemas.openxmlformats.org/officeDocument/2006/relationships/image" Target="../media/image14.emf"/></Relationships>
</file>

<file path=ppt/slides/_rels/slide1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slideLayout" Target="../slideLayouts/slideLayout2.xml"/><Relationship Id="rId7" Type="http://schemas.openxmlformats.org/officeDocument/2006/relationships/image" Target="../media/image23.png"/><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22.png"/><Relationship Id="rId5" Type="http://schemas.openxmlformats.org/officeDocument/2006/relationships/image" Target="../media/image15.emf"/><Relationship Id="rId10" Type="http://schemas.openxmlformats.org/officeDocument/2006/relationships/image" Target="../media/image16.png"/><Relationship Id="rId4" Type="http://schemas.openxmlformats.org/officeDocument/2006/relationships/image" Target="../media/image14.emf"/><Relationship Id="rId9" Type="http://schemas.openxmlformats.org/officeDocument/2006/relationships/image" Target="../media/image25.png"/></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fr-BE" dirty="0"/>
              <a:t>2 – Réseaux IP et DHCP</a:t>
            </a:r>
          </a:p>
        </p:txBody>
      </p:sp>
      <p:sp>
        <p:nvSpPr>
          <p:cNvPr id="3" name="Subtitle 2"/>
          <p:cNvSpPr>
            <a:spLocks noGrp="1"/>
          </p:cNvSpPr>
          <p:nvPr>
            <p:ph type="subTitle" idx="1"/>
          </p:nvPr>
        </p:nvSpPr>
        <p:spPr/>
        <p:txBody>
          <a:bodyPr/>
          <a:lstStyle/>
          <a:p>
            <a:endParaRPr lang="fr-BE"/>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587" y="5917082"/>
            <a:ext cx="1396300" cy="876949"/>
          </a:xfrm>
          <a:prstGeom prst="rect">
            <a:avLst/>
          </a:prstGeom>
        </p:spPr>
      </p:pic>
    </p:spTree>
    <p:extLst>
      <p:ext uri="{BB962C8B-B14F-4D97-AF65-F5344CB8AC3E}">
        <p14:creationId xmlns:p14="http://schemas.microsoft.com/office/powerpoint/2010/main" val="1123558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BE" dirty="0"/>
              <a:t>Réseaux IP et DHCP</a:t>
            </a:r>
          </a:p>
        </p:txBody>
      </p:sp>
      <p:sp>
        <p:nvSpPr>
          <p:cNvPr id="3" name="Content Placeholder 2"/>
          <p:cNvSpPr>
            <a:spLocks noGrp="1"/>
          </p:cNvSpPr>
          <p:nvPr>
            <p:ph idx="1"/>
          </p:nvPr>
        </p:nvSpPr>
        <p:spPr/>
        <p:txBody>
          <a:bodyPr>
            <a:normAutofit fontScale="85000" lnSpcReduction="20000"/>
          </a:bodyPr>
          <a:lstStyle/>
          <a:p>
            <a:r>
              <a:rPr lang="fr-BE" dirty="0"/>
              <a:t>Introduction IPv4</a:t>
            </a:r>
          </a:p>
          <a:p>
            <a:r>
              <a:rPr lang="fr-BE" dirty="0"/>
              <a:t>Calcul de réseaux</a:t>
            </a:r>
          </a:p>
          <a:p>
            <a:r>
              <a:rPr lang="fr-BE" dirty="0"/>
              <a:t>Classes d’adresses</a:t>
            </a:r>
          </a:p>
          <a:p>
            <a:r>
              <a:rPr lang="fr-BE" dirty="0"/>
              <a:t>Espace d’adressage</a:t>
            </a:r>
          </a:p>
          <a:p>
            <a:r>
              <a:rPr lang="fr-BE" dirty="0"/>
              <a:t>Outils en CLI</a:t>
            </a:r>
          </a:p>
          <a:p>
            <a:r>
              <a:rPr lang="fr-BE" dirty="0"/>
              <a:t>Introduction IPv6</a:t>
            </a:r>
          </a:p>
          <a:p>
            <a:r>
              <a:rPr lang="fr-BE" dirty="0"/>
              <a:t>Catégories d’adresses IP</a:t>
            </a:r>
          </a:p>
          <a:p>
            <a:r>
              <a:rPr lang="fr-BE" dirty="0"/>
              <a:t>Présentation DHCP</a:t>
            </a:r>
          </a:p>
          <a:p>
            <a:r>
              <a:rPr lang="fr-BE" dirty="0"/>
              <a:t>Services DHCP</a:t>
            </a:r>
          </a:p>
          <a:p>
            <a:r>
              <a:rPr lang="fr-BE" dirty="0"/>
              <a:t>Installation</a:t>
            </a:r>
          </a:p>
          <a:p>
            <a:r>
              <a:rPr lang="fr-BE" dirty="0"/>
              <a:t>Etendues DHCP</a:t>
            </a:r>
          </a:p>
          <a:p>
            <a:r>
              <a:rPr lang="fr-BE" dirty="0"/>
              <a:t>Configuration &amp; Gestion</a:t>
            </a:r>
          </a:p>
          <a:p>
            <a:endParaRPr lang="fr-BE"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124712" cy="706378"/>
          </a:xfrm>
          <a:prstGeom prst="rect">
            <a:avLst/>
          </a:prstGeom>
        </p:spPr>
      </p:pic>
    </p:spTree>
    <p:extLst>
      <p:ext uri="{BB962C8B-B14F-4D97-AF65-F5344CB8AC3E}">
        <p14:creationId xmlns:p14="http://schemas.microsoft.com/office/powerpoint/2010/main" val="25613774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BE" dirty="0"/>
              <a:t>Introduction IPv4</a:t>
            </a:r>
          </a:p>
        </p:txBody>
      </p:sp>
      <p:sp>
        <p:nvSpPr>
          <p:cNvPr id="3" name="Content Placeholder 2"/>
          <p:cNvSpPr>
            <a:spLocks noGrp="1"/>
          </p:cNvSpPr>
          <p:nvPr>
            <p:ph idx="1"/>
          </p:nvPr>
        </p:nvSpPr>
        <p:spPr>
          <a:xfrm>
            <a:off x="677334" y="1930401"/>
            <a:ext cx="8596668" cy="4229330"/>
          </a:xfrm>
        </p:spPr>
        <p:txBody>
          <a:bodyPr>
            <a:normAutofit fontScale="77500" lnSpcReduction="20000"/>
          </a:bodyPr>
          <a:lstStyle/>
          <a:p>
            <a:r>
              <a:rPr lang="fr-BE" dirty="0"/>
              <a:t>Chaque ordinateur d’un réseau possède une adresse IP unique. Cette adresse permet à l’ordinateur de communiquer avec le autres et de pouvoir être contacté</a:t>
            </a:r>
          </a:p>
          <a:p>
            <a:r>
              <a:rPr lang="fr-BE" dirty="0"/>
              <a:t>Chaque IP contient un Network ID, qui identifie le réseau et un Host ID, qui identifie l’ordinateur. Pour savoir quelle partie de l’adresse IP appartient au network et à l’host, on utilise un masque de sous réseau</a:t>
            </a:r>
          </a:p>
          <a:p>
            <a:pPr lvl="1"/>
            <a:r>
              <a:rPr lang="fr-BE" dirty="0"/>
              <a:t>Ex: l’adresse 172.16.0.10 avec un masque de sous réseau 255.255.0.0, le Network ID est 172.16, tandis que l’host est 0.10</a:t>
            </a:r>
          </a:p>
          <a:p>
            <a:r>
              <a:rPr lang="fr-BE" dirty="0"/>
              <a:t>Il existe 2 types d’adresse IP:</a:t>
            </a:r>
          </a:p>
          <a:p>
            <a:pPr lvl="1"/>
            <a:r>
              <a:rPr lang="fr-BE" dirty="0"/>
              <a:t>Publique: toute adresse IP non privée, utilisée sur Internet, unique et routable</a:t>
            </a:r>
          </a:p>
          <a:p>
            <a:pPr lvl="1"/>
            <a:r>
              <a:rPr lang="fr-BE" dirty="0"/>
              <a:t>Privée: utilisées en privé dans une entreprise ou à la maison. Elles ne sont pas routable sur internet:</a:t>
            </a:r>
          </a:p>
          <a:p>
            <a:pPr lvl="2"/>
            <a:r>
              <a:rPr lang="fr-BE" dirty="0"/>
              <a:t>10.0.0.0 à 10.255.255.255</a:t>
            </a:r>
          </a:p>
          <a:p>
            <a:pPr lvl="2"/>
            <a:r>
              <a:rPr lang="fr-BE" dirty="0"/>
              <a:t>172.16.0.0 à 172.31.255.255</a:t>
            </a:r>
          </a:p>
          <a:p>
            <a:pPr lvl="2"/>
            <a:r>
              <a:rPr lang="fr-BE" dirty="0"/>
              <a:t>192.168.0.0 à 192.168.255.255</a:t>
            </a:r>
          </a:p>
          <a:p>
            <a:pPr lvl="2"/>
            <a:endParaRPr lang="fr-BE" dirty="0"/>
          </a:p>
          <a:p>
            <a:r>
              <a:rPr lang="fr-BE" dirty="0"/>
              <a:t>Une adresse APIPA (</a:t>
            </a:r>
            <a:r>
              <a:rPr lang="fr-BE" dirty="0" err="1"/>
              <a:t>Automatic</a:t>
            </a:r>
            <a:r>
              <a:rPr lang="fr-BE" dirty="0"/>
              <a:t> </a:t>
            </a:r>
            <a:r>
              <a:rPr lang="fr-BE" dirty="0" err="1"/>
              <a:t>Private</a:t>
            </a:r>
            <a:r>
              <a:rPr lang="fr-BE" dirty="0"/>
              <a:t> IP </a:t>
            </a:r>
            <a:r>
              <a:rPr lang="fr-BE" dirty="0" err="1"/>
              <a:t>Addressing</a:t>
            </a:r>
            <a:r>
              <a:rPr lang="fr-BE" dirty="0"/>
              <a:t>) est une adresse que la machine va s'attribuer automatiquement si les requêtes DHCP effectuées auparavant échouent.</a:t>
            </a:r>
          </a:p>
          <a:p>
            <a:pPr lvl="1"/>
            <a:r>
              <a:rPr lang="fr-BE" dirty="0"/>
              <a:t>169.254.00 à 169.254.255.255</a:t>
            </a:r>
          </a:p>
          <a:p>
            <a:endParaRPr lang="fr-BE"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124712" cy="706378"/>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68499" y="4264881"/>
            <a:ext cx="5668166" cy="971686"/>
          </a:xfrm>
          <a:prstGeom prst="rect">
            <a:avLst/>
          </a:prstGeom>
        </p:spPr>
      </p:pic>
    </p:spTree>
    <p:extLst>
      <p:ext uri="{BB962C8B-B14F-4D97-AF65-F5344CB8AC3E}">
        <p14:creationId xmlns:p14="http://schemas.microsoft.com/office/powerpoint/2010/main" val="39669258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BE" dirty="0"/>
              <a:t>Introduction IPv4</a:t>
            </a:r>
          </a:p>
        </p:txBody>
      </p:sp>
      <p:sp>
        <p:nvSpPr>
          <p:cNvPr id="3" name="Content Placeholder 2"/>
          <p:cNvSpPr>
            <a:spLocks noGrp="1"/>
          </p:cNvSpPr>
          <p:nvPr>
            <p:ph idx="1"/>
          </p:nvPr>
        </p:nvSpPr>
        <p:spPr/>
        <p:txBody>
          <a:bodyPr>
            <a:normAutofit fontScale="85000" lnSpcReduction="10000"/>
          </a:bodyPr>
          <a:lstStyle/>
          <a:p>
            <a:r>
              <a:rPr lang="fr-BE" dirty="0"/>
              <a:t>Une passerelle est l’adresse du routeur pour sortir du réseau vers d’autres réseaux</a:t>
            </a:r>
          </a:p>
          <a:p>
            <a:endParaRPr lang="fr-BE" dirty="0"/>
          </a:p>
          <a:p>
            <a:r>
              <a:rPr lang="fr-BE" dirty="0"/>
              <a:t>La pénurie d’adresses IPV4 est une des raisons pour lesquelles un protocole plus perfectionné s’est révélé nécessaire.</a:t>
            </a:r>
          </a:p>
          <a:p>
            <a:endParaRPr lang="fr-BE" dirty="0"/>
          </a:p>
          <a:p>
            <a:r>
              <a:rPr lang="fr-BE" dirty="0"/>
              <a:t>NAT (Network </a:t>
            </a:r>
            <a:r>
              <a:rPr lang="fr-BE" dirty="0" err="1"/>
              <a:t>Adress</a:t>
            </a:r>
            <a:r>
              <a:rPr lang="fr-BE" dirty="0"/>
              <a:t> Translation) : mappe plusieurs adresses privées en une seule adresse publique.</a:t>
            </a:r>
          </a:p>
          <a:p>
            <a:endParaRPr lang="fr-BE" dirty="0"/>
          </a:p>
          <a:p>
            <a:r>
              <a:rPr lang="fr-BE" dirty="0"/>
              <a:t>Les adresses IP V4 étant codées sur 32 bits, on dispose potentiellement de 4 milliards d’adresses</a:t>
            </a:r>
          </a:p>
          <a:p>
            <a:endParaRPr lang="fr-BE" dirty="0"/>
          </a:p>
          <a:p>
            <a:r>
              <a:rPr lang="fr-BE" dirty="0"/>
              <a:t>Le protocole IP utilise le protocole TCP pour le transport. C’est pour cela qu’on parle souvent de TCP/IP. Mais il est tout à fait possible d’utiliser UDP (moins </a:t>
            </a:r>
            <a:r>
              <a:rPr lang="fr-BE" dirty="0" err="1"/>
              <a:t>secure</a:t>
            </a:r>
            <a:r>
              <a:rPr lang="fr-BE" dirty="0"/>
              <a:t>)</a:t>
            </a:r>
          </a:p>
          <a:p>
            <a:endParaRPr lang="fr-BE"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124712" cy="706378"/>
          </a:xfrm>
          <a:prstGeom prst="rect">
            <a:avLst/>
          </a:prstGeom>
        </p:spPr>
      </p:pic>
    </p:spTree>
    <p:extLst>
      <p:ext uri="{BB962C8B-B14F-4D97-AF65-F5344CB8AC3E}">
        <p14:creationId xmlns:p14="http://schemas.microsoft.com/office/powerpoint/2010/main" val="5915784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BE" dirty="0"/>
              <a:t>Calcul de réseaux</a:t>
            </a:r>
          </a:p>
        </p:txBody>
      </p:sp>
      <p:sp>
        <p:nvSpPr>
          <p:cNvPr id="3" name="Content Placeholder 2"/>
          <p:cNvSpPr>
            <a:spLocks noGrp="1"/>
          </p:cNvSpPr>
          <p:nvPr>
            <p:ph idx="1"/>
          </p:nvPr>
        </p:nvSpPr>
        <p:spPr>
          <a:xfrm>
            <a:off x="677334" y="2160589"/>
            <a:ext cx="4094171" cy="3880773"/>
          </a:xfrm>
        </p:spPr>
        <p:txBody>
          <a:bodyPr/>
          <a:lstStyle/>
          <a:p>
            <a:r>
              <a:rPr lang="fr-BE" sz="1400" dirty="0"/>
              <a:t>Pour connaitre la forme binaire d’une adresse IP, ou calculer le nombre sous-réseaux, de réseaux ou de machines, il convient de convertir l’adresse IP suivant le tableau suivant :</a:t>
            </a:r>
          </a:p>
          <a:p>
            <a:endParaRPr lang="fr-BE"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124712" cy="706378"/>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8145" y="3685556"/>
            <a:ext cx="3392547" cy="2097081"/>
          </a:xfrm>
          <a:prstGeom prst="rect">
            <a:avLst/>
          </a:prstGeom>
        </p:spPr>
      </p:pic>
      <p:sp>
        <p:nvSpPr>
          <p:cNvPr id="7" name="Content Placeholder 2"/>
          <p:cNvSpPr txBox="1">
            <a:spLocks/>
          </p:cNvSpPr>
          <p:nvPr/>
        </p:nvSpPr>
        <p:spPr>
          <a:xfrm>
            <a:off x="5179831" y="2160588"/>
            <a:ext cx="4094171" cy="3880773"/>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fr-BE" sz="1400" dirty="0"/>
              <a:t>Calcul de sous-réseaux </a:t>
            </a:r>
            <a:br>
              <a:rPr lang="fr-BE" sz="1400" dirty="0"/>
            </a:br>
            <a:r>
              <a:rPr lang="fr-BE" sz="1400" dirty="0"/>
              <a:t>Il faut savoir de combien de </a:t>
            </a:r>
            <a:r>
              <a:rPr lang="fr-BE" sz="1400" dirty="0" err="1"/>
              <a:t>subnet</a:t>
            </a:r>
            <a:r>
              <a:rPr lang="fr-BE" sz="1400" dirty="0"/>
              <a:t> on a besoin, puis on utilise un 2</a:t>
            </a:r>
            <a:r>
              <a:rPr lang="fr-BE" sz="1400" baseline="30000" dirty="0"/>
              <a:t>n</a:t>
            </a:r>
            <a:r>
              <a:rPr lang="fr-BE" sz="1400" dirty="0"/>
              <a:t> pour déterminer le nombre de </a:t>
            </a:r>
            <a:r>
              <a:rPr lang="fr-BE" sz="1400" dirty="0" err="1"/>
              <a:t>subnets</a:t>
            </a:r>
            <a:r>
              <a:rPr lang="fr-BE" sz="1400" dirty="0"/>
              <a:t> disponibles depuis n bits</a:t>
            </a:r>
            <a:br>
              <a:rPr lang="fr-BE" sz="1400" dirty="0"/>
            </a:br>
            <a:r>
              <a:rPr lang="fr-BE" sz="1400" dirty="0"/>
              <a:t>Par exemple, si on a 5 sites, et que l’on veut 5 sous-réseaux différents: </a:t>
            </a:r>
          </a:p>
          <a:p>
            <a:pPr marL="0" indent="0">
              <a:buNone/>
            </a:pPr>
            <a:r>
              <a:rPr lang="fr-BE" sz="1400" dirty="0"/>
              <a:t>	2² = 4 sous-réseaux (pas assez)</a:t>
            </a:r>
          </a:p>
          <a:p>
            <a:pPr marL="0" indent="0">
              <a:buNone/>
            </a:pPr>
            <a:r>
              <a:rPr lang="fr-BE" sz="1400" dirty="0"/>
              <a:t>	2</a:t>
            </a:r>
            <a:r>
              <a:rPr lang="fr-BE" sz="1400" baseline="30000" dirty="0"/>
              <a:t>3</a:t>
            </a:r>
            <a:r>
              <a:rPr lang="fr-BE" sz="1400" dirty="0"/>
              <a:t> = 8 sous-réseaux </a:t>
            </a:r>
          </a:p>
          <a:p>
            <a:pPr marL="0" indent="0">
              <a:buNone/>
            </a:pPr>
            <a:r>
              <a:rPr lang="fr-BE" sz="1400" dirty="0"/>
              <a:t>Calcul d’host</a:t>
            </a:r>
            <a:br>
              <a:rPr lang="fr-BE" sz="1400" dirty="0"/>
            </a:br>
            <a:r>
              <a:rPr lang="fr-BE" sz="1400" dirty="0"/>
              <a:t>Il faut savoir combien d’host on a besoin, puis on utilise un 2</a:t>
            </a:r>
            <a:r>
              <a:rPr lang="fr-BE" sz="1400" baseline="30000" dirty="0"/>
              <a:t>n </a:t>
            </a:r>
            <a:r>
              <a:rPr lang="fr-BE" sz="1400" dirty="0"/>
              <a:t>-2 pour déterminer le nombre d’host disponibles sur chaque </a:t>
            </a:r>
            <a:r>
              <a:rPr lang="fr-BE" sz="1400" dirty="0" err="1"/>
              <a:t>subnet</a:t>
            </a:r>
            <a:r>
              <a:rPr lang="fr-BE" sz="1400" dirty="0"/>
              <a:t> (Host Bits)</a:t>
            </a:r>
            <a:br>
              <a:rPr lang="fr-BE" sz="1400" dirty="0"/>
            </a:br>
            <a:r>
              <a:rPr lang="fr-BE" sz="1400" dirty="0"/>
              <a:t>Par exemple, si on a 100 utilisateurs, 7 Host Bits sont demandés: </a:t>
            </a:r>
          </a:p>
          <a:p>
            <a:pPr marL="0" indent="0">
              <a:buNone/>
            </a:pPr>
            <a:r>
              <a:rPr lang="fr-BE" sz="1400" dirty="0"/>
              <a:t>	2</a:t>
            </a:r>
            <a:r>
              <a:rPr lang="fr-BE" sz="1400" baseline="30000" dirty="0"/>
              <a:t>6</a:t>
            </a:r>
            <a:r>
              <a:rPr lang="fr-BE" sz="1400" dirty="0"/>
              <a:t>-2 = 62 hosts (pas assez)</a:t>
            </a:r>
          </a:p>
          <a:p>
            <a:pPr marL="0" indent="0">
              <a:buNone/>
            </a:pPr>
            <a:r>
              <a:rPr lang="fr-BE" sz="1400" dirty="0"/>
              <a:t>	2</a:t>
            </a:r>
            <a:r>
              <a:rPr lang="fr-BE" sz="1400" baseline="30000" dirty="0"/>
              <a:t>7</a:t>
            </a:r>
            <a:r>
              <a:rPr lang="fr-BE" sz="1400" dirty="0"/>
              <a:t>-2 = 126 hosts</a:t>
            </a:r>
          </a:p>
          <a:p>
            <a:pPr marL="0" indent="0">
              <a:buNone/>
            </a:pPr>
            <a:endParaRPr lang="fr-BE" sz="1400" dirty="0"/>
          </a:p>
        </p:txBody>
      </p:sp>
    </p:spTree>
    <p:extLst>
      <p:ext uri="{BB962C8B-B14F-4D97-AF65-F5344CB8AC3E}">
        <p14:creationId xmlns:p14="http://schemas.microsoft.com/office/powerpoint/2010/main" val="38441393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BE" dirty="0"/>
              <a:t>Classes d’adresses</a:t>
            </a:r>
          </a:p>
        </p:txBody>
      </p:sp>
      <p:sp>
        <p:nvSpPr>
          <p:cNvPr id="3" name="Content Placeholder 2"/>
          <p:cNvSpPr>
            <a:spLocks noGrp="1"/>
          </p:cNvSpPr>
          <p:nvPr>
            <p:ph idx="1"/>
          </p:nvPr>
        </p:nvSpPr>
        <p:spPr>
          <a:xfrm>
            <a:off x="826764" y="2377018"/>
            <a:ext cx="3894666" cy="1709790"/>
          </a:xfrm>
        </p:spPr>
        <p:txBody>
          <a:bodyPr>
            <a:noAutofit/>
          </a:bodyPr>
          <a:lstStyle/>
          <a:p>
            <a:pPr marL="0" indent="0">
              <a:buNone/>
            </a:pPr>
            <a:r>
              <a:rPr lang="fr-BE" sz="1200" dirty="0">
                <a:solidFill>
                  <a:schemeClr val="tx1"/>
                </a:solidFill>
              </a:rPr>
              <a:t>Le premier octet a une valeur comprise entre 1 et 126 ; soit un bit de poids fort égal à 0. Ce premier octet désigne le numéro de réseau et les 3 autres correspondent à l'adresse de l'hôte.</a:t>
            </a:r>
          </a:p>
          <a:p>
            <a:pPr marL="0" indent="0">
              <a:buNone/>
            </a:pPr>
            <a:r>
              <a:rPr lang="fr-BE" sz="1200" dirty="0">
                <a:solidFill>
                  <a:schemeClr val="tx1"/>
                </a:solidFill>
              </a:rPr>
              <a:t>L'adresse réseau 127.0.0.0 est réservée pour les communications en boucle locale.</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124712" cy="706378"/>
          </a:xfrm>
          <a:prstGeom prst="rect">
            <a:avLst/>
          </a:prstGeom>
        </p:spPr>
      </p:pic>
      <p:pic>
        <p:nvPicPr>
          <p:cNvPr id="5" name="Picture 4"/>
          <p:cNvPicPr>
            <a:picLocks noChangeAspect="1"/>
          </p:cNvPicPr>
          <p:nvPr/>
        </p:nvPicPr>
        <p:blipFill>
          <a:blip r:embed="rId3"/>
          <a:stretch>
            <a:fillRect/>
          </a:stretch>
        </p:blipFill>
        <p:spPr>
          <a:xfrm>
            <a:off x="677334" y="1371168"/>
            <a:ext cx="4044096" cy="902268"/>
          </a:xfrm>
          <a:prstGeom prst="rect">
            <a:avLst/>
          </a:prstGeom>
        </p:spPr>
      </p:pic>
      <p:pic>
        <p:nvPicPr>
          <p:cNvPr id="6" name="Picture 5"/>
          <p:cNvPicPr>
            <a:picLocks noChangeAspect="1"/>
          </p:cNvPicPr>
          <p:nvPr/>
        </p:nvPicPr>
        <p:blipFill>
          <a:blip r:embed="rId4"/>
          <a:stretch>
            <a:fillRect/>
          </a:stretch>
        </p:blipFill>
        <p:spPr>
          <a:xfrm>
            <a:off x="5216142" y="1371168"/>
            <a:ext cx="4057860" cy="868956"/>
          </a:xfrm>
          <a:prstGeom prst="rect">
            <a:avLst/>
          </a:prstGeom>
        </p:spPr>
      </p:pic>
      <p:sp>
        <p:nvSpPr>
          <p:cNvPr id="7" name="TextBox 6"/>
          <p:cNvSpPr txBox="1"/>
          <p:nvPr/>
        </p:nvSpPr>
        <p:spPr>
          <a:xfrm>
            <a:off x="5216142" y="2377019"/>
            <a:ext cx="4057860" cy="1015663"/>
          </a:xfrm>
          <a:prstGeom prst="rect">
            <a:avLst/>
          </a:prstGeom>
          <a:noFill/>
        </p:spPr>
        <p:txBody>
          <a:bodyPr wrap="square" rtlCol="0">
            <a:spAutoFit/>
          </a:bodyPr>
          <a:lstStyle/>
          <a:p>
            <a:r>
              <a:rPr lang="fr-BE" sz="1200" dirty="0"/>
              <a:t>Le premier octet a une valeur comprise entre 192 et 223 ; soit 3 bits de poids fort égaux à 110. Les 3 premiers octets désignent le numéro de réseau et le dernier correspond à l'adresse de l'hôte.</a:t>
            </a:r>
          </a:p>
          <a:p>
            <a:endParaRPr lang="fr-BE" sz="1200" dirty="0"/>
          </a:p>
        </p:txBody>
      </p:sp>
      <p:pic>
        <p:nvPicPr>
          <p:cNvPr id="8" name="Picture 7"/>
          <p:cNvPicPr>
            <a:picLocks noChangeAspect="1"/>
          </p:cNvPicPr>
          <p:nvPr/>
        </p:nvPicPr>
        <p:blipFill>
          <a:blip r:embed="rId5"/>
          <a:stretch>
            <a:fillRect/>
          </a:stretch>
        </p:blipFill>
        <p:spPr>
          <a:xfrm>
            <a:off x="677334" y="3684307"/>
            <a:ext cx="4044096" cy="855637"/>
          </a:xfrm>
          <a:prstGeom prst="rect">
            <a:avLst/>
          </a:prstGeom>
        </p:spPr>
      </p:pic>
      <p:sp>
        <p:nvSpPr>
          <p:cNvPr id="9" name="TextBox 8"/>
          <p:cNvSpPr txBox="1"/>
          <p:nvPr/>
        </p:nvSpPr>
        <p:spPr>
          <a:xfrm>
            <a:off x="826765" y="4590663"/>
            <a:ext cx="3894666" cy="1015663"/>
          </a:xfrm>
          <a:prstGeom prst="rect">
            <a:avLst/>
          </a:prstGeom>
          <a:noFill/>
        </p:spPr>
        <p:txBody>
          <a:bodyPr wrap="square" rtlCol="0">
            <a:spAutoFit/>
          </a:bodyPr>
          <a:lstStyle/>
          <a:p>
            <a:r>
              <a:rPr lang="fr-BE" sz="1200" dirty="0"/>
              <a:t>Le premier octet a une valeur comprise entre 128 et 191 ; soit 2 bits de poids fort égaux à 10. Les 2 premiers octets désignent le numéro de réseau et les 2 autres correspondent à l'adresse de l'hôte.</a:t>
            </a:r>
          </a:p>
          <a:p>
            <a:endParaRPr lang="fr-BE" sz="1200" dirty="0"/>
          </a:p>
        </p:txBody>
      </p:sp>
      <p:pic>
        <p:nvPicPr>
          <p:cNvPr id="10" name="Picture 9"/>
          <p:cNvPicPr>
            <a:picLocks noChangeAspect="1"/>
          </p:cNvPicPr>
          <p:nvPr/>
        </p:nvPicPr>
        <p:blipFill>
          <a:blip r:embed="rId6"/>
          <a:stretch>
            <a:fillRect/>
          </a:stretch>
        </p:blipFill>
        <p:spPr>
          <a:xfrm>
            <a:off x="5216142" y="3666933"/>
            <a:ext cx="4044096" cy="870661"/>
          </a:xfrm>
          <a:prstGeom prst="rect">
            <a:avLst/>
          </a:prstGeom>
        </p:spPr>
      </p:pic>
      <p:sp>
        <p:nvSpPr>
          <p:cNvPr id="12" name="TextBox 11"/>
          <p:cNvSpPr txBox="1"/>
          <p:nvPr/>
        </p:nvSpPr>
        <p:spPr>
          <a:xfrm>
            <a:off x="5216143" y="4590663"/>
            <a:ext cx="4044096" cy="830997"/>
          </a:xfrm>
          <a:prstGeom prst="rect">
            <a:avLst/>
          </a:prstGeom>
          <a:noFill/>
        </p:spPr>
        <p:txBody>
          <a:bodyPr wrap="square" rtlCol="0">
            <a:spAutoFit/>
          </a:bodyPr>
          <a:lstStyle/>
          <a:p>
            <a:r>
              <a:rPr lang="fr-BE" sz="1200" dirty="0"/>
              <a:t>Le premier octet a une valeur comprise entre 224 et 239 ; soit 3 bits de poids fort égaux à 111. Il s'agit d'une zone d'adresses dédiées aux services de multidiffusion vers des groupes d'hôtes (host groups)</a:t>
            </a:r>
          </a:p>
        </p:txBody>
      </p:sp>
      <p:sp>
        <p:nvSpPr>
          <p:cNvPr id="14" name="TextBox 13"/>
          <p:cNvSpPr txBox="1"/>
          <p:nvPr/>
        </p:nvSpPr>
        <p:spPr>
          <a:xfrm>
            <a:off x="2313992" y="5637446"/>
            <a:ext cx="5318449" cy="830997"/>
          </a:xfrm>
          <a:prstGeom prst="rect">
            <a:avLst/>
          </a:prstGeom>
          <a:noFill/>
        </p:spPr>
        <p:txBody>
          <a:bodyPr wrap="square" rtlCol="0">
            <a:spAutoFit/>
          </a:bodyPr>
          <a:lstStyle/>
          <a:p>
            <a:r>
              <a:rPr lang="fr-BE" sz="1200" b="1" dirty="0"/>
              <a:t>Classe E</a:t>
            </a:r>
          </a:p>
          <a:p>
            <a:r>
              <a:rPr lang="fr-BE" sz="1200" dirty="0"/>
              <a:t>Le premier octet a une valeur comprise entre 240 et 255. Il s'agit d'une zone d'adresses réservées aux expérimentations. Ces adresses ne doivent pas être utilisées pour adresser des hôtes ou des groupes d'hôtes.</a:t>
            </a:r>
          </a:p>
        </p:txBody>
      </p:sp>
    </p:spTree>
    <p:extLst>
      <p:ext uri="{BB962C8B-B14F-4D97-AF65-F5344CB8AC3E}">
        <p14:creationId xmlns:p14="http://schemas.microsoft.com/office/powerpoint/2010/main" val="4224712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BE" dirty="0"/>
              <a:t>Espace d’adressage</a:t>
            </a:r>
          </a:p>
        </p:txBody>
      </p:sp>
      <p:sp>
        <p:nvSpPr>
          <p:cNvPr id="3" name="Content Placeholder 2"/>
          <p:cNvSpPr>
            <a:spLocks noGrp="1"/>
          </p:cNvSpPr>
          <p:nvPr>
            <p:ph idx="1"/>
          </p:nvPr>
        </p:nvSpPr>
        <p:spPr>
          <a:xfrm>
            <a:off x="677334" y="1679511"/>
            <a:ext cx="8596668" cy="1184988"/>
          </a:xfrm>
        </p:spPr>
        <p:txBody>
          <a:bodyPr>
            <a:normAutofit lnSpcReduction="10000"/>
          </a:bodyPr>
          <a:lstStyle/>
          <a:p>
            <a:r>
              <a:rPr lang="fr-BE" sz="1400" dirty="0"/>
              <a:t>Les adresses avec un masque de sous-réseaux 255.255.255.0 sont le plus utilisé car ils correspondent à une échelle de taille humaine</a:t>
            </a:r>
          </a:p>
          <a:p>
            <a:r>
              <a:rPr lang="fr-BE" sz="1400" dirty="0"/>
              <a:t>De manière générale, plus on utilise d’octet pour le </a:t>
            </a:r>
            <a:r>
              <a:rPr lang="fr-BE" sz="1400" dirty="0" err="1"/>
              <a:t>subnet</a:t>
            </a:r>
            <a:r>
              <a:rPr lang="fr-BE" sz="1400" dirty="0"/>
              <a:t>, moins il y a d’host possible</a:t>
            </a:r>
          </a:p>
          <a:p>
            <a:r>
              <a:rPr lang="fr-BE" sz="1400" dirty="0"/>
              <a:t>Et inversement, moins on utilise d’octet pour le </a:t>
            </a:r>
            <a:r>
              <a:rPr lang="fr-BE" sz="1400" dirty="0" err="1"/>
              <a:t>subnet</a:t>
            </a:r>
            <a:r>
              <a:rPr lang="fr-BE" sz="1400" dirty="0"/>
              <a:t>, plus on peut avoir d’host</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124712" cy="706378"/>
          </a:xfrm>
          <a:prstGeom prst="rect">
            <a:avLst/>
          </a:prstGeom>
        </p:spPr>
      </p:pic>
      <p:graphicFrame>
        <p:nvGraphicFramePr>
          <p:cNvPr id="6" name="Table 5"/>
          <p:cNvGraphicFramePr>
            <a:graphicFrameLocks noGrp="1"/>
          </p:cNvGraphicFramePr>
          <p:nvPr>
            <p:extLst>
              <p:ext uri="{D42A27DB-BD31-4B8C-83A1-F6EECF244321}">
                <p14:modId xmlns:p14="http://schemas.microsoft.com/office/powerpoint/2010/main" val="3588873574"/>
              </p:ext>
            </p:extLst>
          </p:nvPr>
        </p:nvGraphicFramePr>
        <p:xfrm>
          <a:off x="677333" y="3000310"/>
          <a:ext cx="8596670" cy="3428484"/>
        </p:xfrm>
        <a:graphic>
          <a:graphicData uri="http://schemas.openxmlformats.org/drawingml/2006/table">
            <a:tbl>
              <a:tblPr firstRow="1" bandRow="1">
                <a:tableStyleId>{5C22544A-7EE6-4342-B048-85BDC9FD1C3A}</a:tableStyleId>
              </a:tblPr>
              <a:tblGrid>
                <a:gridCol w="1719334">
                  <a:extLst>
                    <a:ext uri="{9D8B030D-6E8A-4147-A177-3AD203B41FA5}">
                      <a16:colId xmlns:a16="http://schemas.microsoft.com/office/drawing/2014/main" val="1323012245"/>
                    </a:ext>
                  </a:extLst>
                </a:gridCol>
                <a:gridCol w="1719334">
                  <a:extLst>
                    <a:ext uri="{9D8B030D-6E8A-4147-A177-3AD203B41FA5}">
                      <a16:colId xmlns:a16="http://schemas.microsoft.com/office/drawing/2014/main" val="581764691"/>
                    </a:ext>
                  </a:extLst>
                </a:gridCol>
                <a:gridCol w="1719334">
                  <a:extLst>
                    <a:ext uri="{9D8B030D-6E8A-4147-A177-3AD203B41FA5}">
                      <a16:colId xmlns:a16="http://schemas.microsoft.com/office/drawing/2014/main" val="1482484330"/>
                    </a:ext>
                  </a:extLst>
                </a:gridCol>
                <a:gridCol w="1719334">
                  <a:extLst>
                    <a:ext uri="{9D8B030D-6E8A-4147-A177-3AD203B41FA5}">
                      <a16:colId xmlns:a16="http://schemas.microsoft.com/office/drawing/2014/main" val="2484612922"/>
                    </a:ext>
                  </a:extLst>
                </a:gridCol>
                <a:gridCol w="1719334">
                  <a:extLst>
                    <a:ext uri="{9D8B030D-6E8A-4147-A177-3AD203B41FA5}">
                      <a16:colId xmlns:a16="http://schemas.microsoft.com/office/drawing/2014/main" val="2632041997"/>
                    </a:ext>
                  </a:extLst>
                </a:gridCol>
              </a:tblGrid>
              <a:tr h="571414">
                <a:tc>
                  <a:txBody>
                    <a:bodyPr/>
                    <a:lstStyle/>
                    <a:p>
                      <a:pPr algn="ctr"/>
                      <a:r>
                        <a:rPr lang="fr-BE" sz="1400" dirty="0"/>
                        <a:t>Classe</a:t>
                      </a:r>
                    </a:p>
                  </a:txBody>
                  <a:tcPr anchor="ctr"/>
                </a:tc>
                <a:tc>
                  <a:txBody>
                    <a:bodyPr/>
                    <a:lstStyle/>
                    <a:p>
                      <a:pPr algn="ctr"/>
                      <a:r>
                        <a:rPr lang="fr-BE" sz="1400" dirty="0"/>
                        <a:t>Masque réseau</a:t>
                      </a:r>
                    </a:p>
                  </a:txBody>
                  <a:tcPr anchor="ctr"/>
                </a:tc>
                <a:tc>
                  <a:txBody>
                    <a:bodyPr/>
                    <a:lstStyle/>
                    <a:p>
                      <a:pPr algn="ctr"/>
                      <a:r>
                        <a:rPr lang="fr-BE" sz="1400" dirty="0"/>
                        <a:t>Adresses réseau</a:t>
                      </a:r>
                    </a:p>
                  </a:txBody>
                  <a:tcPr anchor="ctr"/>
                </a:tc>
                <a:tc>
                  <a:txBody>
                    <a:bodyPr/>
                    <a:lstStyle/>
                    <a:p>
                      <a:pPr algn="ctr"/>
                      <a:r>
                        <a:rPr lang="fr-BE" sz="1400" dirty="0"/>
                        <a:t>Nombre de réseaux</a:t>
                      </a:r>
                    </a:p>
                  </a:txBody>
                  <a:tcPr anchor="ctr"/>
                </a:tc>
                <a:tc>
                  <a:txBody>
                    <a:bodyPr/>
                    <a:lstStyle/>
                    <a:p>
                      <a:pPr algn="ctr"/>
                      <a:r>
                        <a:rPr lang="fr-BE" sz="1400" dirty="0"/>
                        <a:t>Nombre d’hôtes par réseau</a:t>
                      </a:r>
                    </a:p>
                  </a:txBody>
                  <a:tcPr anchor="ctr"/>
                </a:tc>
                <a:extLst>
                  <a:ext uri="{0D108BD9-81ED-4DB2-BD59-A6C34878D82A}">
                    <a16:rowId xmlns:a16="http://schemas.microsoft.com/office/drawing/2014/main" val="3650878272"/>
                  </a:ext>
                </a:extLst>
              </a:tr>
              <a:tr h="571414">
                <a:tc>
                  <a:txBody>
                    <a:bodyPr/>
                    <a:lstStyle/>
                    <a:p>
                      <a:pPr algn="ctr"/>
                      <a:r>
                        <a:rPr lang="fr-BE" sz="1400" dirty="0"/>
                        <a:t>A</a:t>
                      </a:r>
                    </a:p>
                  </a:txBody>
                  <a:tcPr anchor="ctr"/>
                </a:tc>
                <a:tc>
                  <a:txBody>
                    <a:bodyPr/>
                    <a:lstStyle/>
                    <a:p>
                      <a:pPr algn="ctr"/>
                      <a:r>
                        <a:rPr lang="fr-BE" sz="1400" dirty="0"/>
                        <a:t>255.0.0.0</a:t>
                      </a:r>
                    </a:p>
                  </a:txBody>
                  <a:tcPr anchor="ctr"/>
                </a:tc>
                <a:tc>
                  <a:txBody>
                    <a:bodyPr/>
                    <a:lstStyle/>
                    <a:p>
                      <a:pPr algn="ctr"/>
                      <a:r>
                        <a:rPr lang="fr-BE" sz="1400" dirty="0"/>
                        <a:t>1.0.0.0</a:t>
                      </a:r>
                      <a:r>
                        <a:rPr lang="fr-BE" sz="1400" baseline="0" dirty="0"/>
                        <a:t> – 126.255.255.255</a:t>
                      </a:r>
                      <a:endParaRPr lang="fr-BE" sz="1400" dirty="0"/>
                    </a:p>
                  </a:txBody>
                  <a:tcPr anchor="ctr"/>
                </a:tc>
                <a:tc>
                  <a:txBody>
                    <a:bodyPr/>
                    <a:lstStyle/>
                    <a:p>
                      <a:pPr algn="ctr"/>
                      <a:r>
                        <a:rPr lang="fr-BE" sz="1400" dirty="0"/>
                        <a:t>126</a:t>
                      </a:r>
                    </a:p>
                  </a:txBody>
                  <a:tcPr anchor="ctr"/>
                </a:tc>
                <a:tc>
                  <a:txBody>
                    <a:bodyPr/>
                    <a:lstStyle/>
                    <a:p>
                      <a:pPr algn="ctr"/>
                      <a:r>
                        <a:rPr lang="fr-BE" sz="1400" dirty="0"/>
                        <a:t>16 777 214</a:t>
                      </a:r>
                    </a:p>
                  </a:txBody>
                  <a:tcPr anchor="ctr"/>
                </a:tc>
                <a:extLst>
                  <a:ext uri="{0D108BD9-81ED-4DB2-BD59-A6C34878D82A}">
                    <a16:rowId xmlns:a16="http://schemas.microsoft.com/office/drawing/2014/main" val="413970349"/>
                  </a:ext>
                </a:extLst>
              </a:tr>
              <a:tr h="571414">
                <a:tc>
                  <a:txBody>
                    <a:bodyPr/>
                    <a:lstStyle/>
                    <a:p>
                      <a:pPr algn="ctr"/>
                      <a:r>
                        <a:rPr lang="fr-BE" sz="1400" dirty="0"/>
                        <a:t>B</a:t>
                      </a:r>
                    </a:p>
                  </a:txBody>
                  <a:tcPr anchor="ctr"/>
                </a:tc>
                <a:tc>
                  <a:txBody>
                    <a:bodyPr/>
                    <a:lstStyle/>
                    <a:p>
                      <a:pPr algn="ctr"/>
                      <a:r>
                        <a:rPr lang="fr-BE" sz="1400" dirty="0"/>
                        <a:t>255.255.0.0</a:t>
                      </a:r>
                    </a:p>
                  </a:txBody>
                  <a:tcPr anchor="ctr"/>
                </a:tc>
                <a:tc>
                  <a:txBody>
                    <a:bodyPr/>
                    <a:lstStyle/>
                    <a:p>
                      <a:pPr algn="ctr"/>
                      <a:r>
                        <a:rPr lang="fr-BE" sz="1400" dirty="0"/>
                        <a:t>128.0.0.0</a:t>
                      </a:r>
                      <a:r>
                        <a:rPr lang="fr-BE" sz="1400" baseline="0" dirty="0"/>
                        <a:t> – 191.255.255.255</a:t>
                      </a:r>
                      <a:endParaRPr lang="fr-BE" sz="1400" dirty="0"/>
                    </a:p>
                  </a:txBody>
                  <a:tcPr anchor="ctr"/>
                </a:tc>
                <a:tc>
                  <a:txBody>
                    <a:bodyPr/>
                    <a:lstStyle/>
                    <a:p>
                      <a:pPr algn="ctr"/>
                      <a:r>
                        <a:rPr lang="fr-BE" sz="1400" dirty="0"/>
                        <a:t>16 384</a:t>
                      </a:r>
                    </a:p>
                  </a:txBody>
                  <a:tcPr anchor="ctr"/>
                </a:tc>
                <a:tc>
                  <a:txBody>
                    <a:bodyPr/>
                    <a:lstStyle/>
                    <a:p>
                      <a:pPr algn="ctr"/>
                      <a:r>
                        <a:rPr lang="fr-BE" sz="1400" dirty="0"/>
                        <a:t>65 534</a:t>
                      </a:r>
                    </a:p>
                  </a:txBody>
                  <a:tcPr anchor="ctr"/>
                </a:tc>
                <a:extLst>
                  <a:ext uri="{0D108BD9-81ED-4DB2-BD59-A6C34878D82A}">
                    <a16:rowId xmlns:a16="http://schemas.microsoft.com/office/drawing/2014/main" val="2439609317"/>
                  </a:ext>
                </a:extLst>
              </a:tr>
              <a:tr h="571414">
                <a:tc>
                  <a:txBody>
                    <a:bodyPr/>
                    <a:lstStyle/>
                    <a:p>
                      <a:pPr algn="ctr"/>
                      <a:r>
                        <a:rPr lang="fr-BE" sz="1400" dirty="0"/>
                        <a:t>C</a:t>
                      </a:r>
                    </a:p>
                  </a:txBody>
                  <a:tcPr anchor="ctr"/>
                </a:tc>
                <a:tc>
                  <a:txBody>
                    <a:bodyPr/>
                    <a:lstStyle/>
                    <a:p>
                      <a:pPr algn="ctr"/>
                      <a:r>
                        <a:rPr lang="fr-BE" sz="1400" dirty="0"/>
                        <a:t>255.255.255.0</a:t>
                      </a:r>
                    </a:p>
                  </a:txBody>
                  <a:tcPr anchor="ctr"/>
                </a:tc>
                <a:tc>
                  <a:txBody>
                    <a:bodyPr/>
                    <a:lstStyle/>
                    <a:p>
                      <a:pPr algn="ctr"/>
                      <a:r>
                        <a:rPr lang="fr-BE" sz="1400" dirty="0"/>
                        <a:t>192.0.0.0</a:t>
                      </a:r>
                      <a:r>
                        <a:rPr lang="fr-BE" sz="1400" baseline="0" dirty="0"/>
                        <a:t> – 223.255.255.255</a:t>
                      </a:r>
                      <a:endParaRPr lang="fr-BE" sz="1400" dirty="0"/>
                    </a:p>
                  </a:txBody>
                  <a:tcPr anchor="ctr"/>
                </a:tc>
                <a:tc>
                  <a:txBody>
                    <a:bodyPr/>
                    <a:lstStyle/>
                    <a:p>
                      <a:pPr algn="ctr"/>
                      <a:r>
                        <a:rPr lang="fr-BE" sz="1400" dirty="0"/>
                        <a:t>2 097 152</a:t>
                      </a:r>
                    </a:p>
                  </a:txBody>
                  <a:tcPr anchor="ctr"/>
                </a:tc>
                <a:tc>
                  <a:txBody>
                    <a:bodyPr/>
                    <a:lstStyle/>
                    <a:p>
                      <a:pPr algn="ctr"/>
                      <a:r>
                        <a:rPr lang="fr-BE" sz="1400" dirty="0"/>
                        <a:t>254</a:t>
                      </a:r>
                    </a:p>
                  </a:txBody>
                  <a:tcPr anchor="ctr"/>
                </a:tc>
                <a:extLst>
                  <a:ext uri="{0D108BD9-81ED-4DB2-BD59-A6C34878D82A}">
                    <a16:rowId xmlns:a16="http://schemas.microsoft.com/office/drawing/2014/main" val="3426823297"/>
                  </a:ext>
                </a:extLst>
              </a:tr>
              <a:tr h="571414">
                <a:tc>
                  <a:txBody>
                    <a:bodyPr/>
                    <a:lstStyle/>
                    <a:p>
                      <a:pPr algn="ctr"/>
                      <a:r>
                        <a:rPr lang="fr-BE" sz="1400" dirty="0"/>
                        <a:t>D</a:t>
                      </a:r>
                    </a:p>
                  </a:txBody>
                  <a:tcPr anchor="ctr"/>
                </a:tc>
                <a:tc>
                  <a:txBody>
                    <a:bodyPr/>
                    <a:lstStyle/>
                    <a:p>
                      <a:pPr algn="ctr"/>
                      <a:r>
                        <a:rPr lang="fr-BE" sz="1400" dirty="0"/>
                        <a:t>240.0.0.0</a:t>
                      </a:r>
                    </a:p>
                  </a:txBody>
                  <a:tcPr anchor="ctr"/>
                </a:tc>
                <a:tc>
                  <a:txBody>
                    <a:bodyPr/>
                    <a:lstStyle/>
                    <a:p>
                      <a:pPr algn="ctr"/>
                      <a:r>
                        <a:rPr lang="fr-BE" sz="1400" dirty="0"/>
                        <a:t>224.0.0.0 – 239.255.255.255</a:t>
                      </a:r>
                    </a:p>
                  </a:txBody>
                  <a:tcPr anchor="ctr"/>
                </a:tc>
                <a:tc>
                  <a:txBody>
                    <a:bodyPr/>
                    <a:lstStyle/>
                    <a:p>
                      <a:pPr algn="ctr"/>
                      <a:r>
                        <a:rPr lang="fr-BE" sz="1400" dirty="0"/>
                        <a:t>Adresses uniques</a:t>
                      </a:r>
                    </a:p>
                  </a:txBody>
                  <a:tcPr anchor="ctr"/>
                </a:tc>
                <a:tc>
                  <a:txBody>
                    <a:bodyPr/>
                    <a:lstStyle/>
                    <a:p>
                      <a:pPr algn="ctr"/>
                      <a:r>
                        <a:rPr lang="fr-BE" sz="1400" dirty="0"/>
                        <a:t>Adresses uniques</a:t>
                      </a:r>
                    </a:p>
                  </a:txBody>
                  <a:tcPr anchor="ctr"/>
                </a:tc>
                <a:extLst>
                  <a:ext uri="{0D108BD9-81ED-4DB2-BD59-A6C34878D82A}">
                    <a16:rowId xmlns:a16="http://schemas.microsoft.com/office/drawing/2014/main" val="4231301046"/>
                  </a:ext>
                </a:extLst>
              </a:tr>
              <a:tr h="571414">
                <a:tc>
                  <a:txBody>
                    <a:bodyPr/>
                    <a:lstStyle/>
                    <a:p>
                      <a:pPr algn="ctr"/>
                      <a:r>
                        <a:rPr lang="fr-BE" sz="1400" dirty="0"/>
                        <a:t>E</a:t>
                      </a:r>
                    </a:p>
                  </a:txBody>
                  <a:tcPr anchor="ctr"/>
                </a:tc>
                <a:tc>
                  <a:txBody>
                    <a:bodyPr/>
                    <a:lstStyle/>
                    <a:p>
                      <a:pPr algn="ctr"/>
                      <a:r>
                        <a:rPr lang="fr-BE" sz="1400" dirty="0"/>
                        <a:t>Non défini</a:t>
                      </a:r>
                    </a:p>
                  </a:txBody>
                  <a:tcPr anchor="ctr"/>
                </a:tc>
                <a:tc>
                  <a:txBody>
                    <a:bodyPr/>
                    <a:lstStyle/>
                    <a:p>
                      <a:pPr algn="ctr"/>
                      <a:r>
                        <a:rPr lang="fr-BE" sz="1400" dirty="0"/>
                        <a:t>240.0.0.0 – 255.255.255.255</a:t>
                      </a:r>
                    </a:p>
                  </a:txBody>
                  <a:tcPr anchor="ctr"/>
                </a:tc>
                <a:tc>
                  <a:txBody>
                    <a:bodyPr/>
                    <a:lstStyle/>
                    <a:p>
                      <a:pPr algn="ctr"/>
                      <a:r>
                        <a:rPr lang="fr-BE" sz="1400" dirty="0"/>
                        <a:t>Adresses uniques</a:t>
                      </a:r>
                    </a:p>
                  </a:txBody>
                  <a:tcPr anchor="ctr"/>
                </a:tc>
                <a:tc>
                  <a:txBody>
                    <a:bodyPr/>
                    <a:lstStyle/>
                    <a:p>
                      <a:pPr algn="ctr"/>
                      <a:r>
                        <a:rPr lang="fr-BE" sz="1400" dirty="0"/>
                        <a:t>Adresses uniques</a:t>
                      </a:r>
                    </a:p>
                  </a:txBody>
                  <a:tcPr anchor="ctr"/>
                </a:tc>
                <a:extLst>
                  <a:ext uri="{0D108BD9-81ED-4DB2-BD59-A6C34878D82A}">
                    <a16:rowId xmlns:a16="http://schemas.microsoft.com/office/drawing/2014/main" val="2888984522"/>
                  </a:ext>
                </a:extLst>
              </a:tr>
            </a:tbl>
          </a:graphicData>
        </a:graphic>
      </p:graphicFrame>
    </p:spTree>
    <p:extLst>
      <p:ext uri="{BB962C8B-B14F-4D97-AF65-F5344CB8AC3E}">
        <p14:creationId xmlns:p14="http://schemas.microsoft.com/office/powerpoint/2010/main" val="30393931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BE" dirty="0"/>
              <a:t>Outils en CLI</a:t>
            </a:r>
          </a:p>
        </p:txBody>
      </p:sp>
      <p:sp>
        <p:nvSpPr>
          <p:cNvPr id="3" name="Content Placeholder 2"/>
          <p:cNvSpPr>
            <a:spLocks noGrp="1"/>
          </p:cNvSpPr>
          <p:nvPr>
            <p:ph idx="1"/>
          </p:nvPr>
        </p:nvSpPr>
        <p:spPr/>
        <p:txBody>
          <a:bodyPr>
            <a:normAutofit/>
          </a:bodyPr>
          <a:lstStyle/>
          <a:p>
            <a:r>
              <a:rPr lang="fr-BE" sz="1600" dirty="0" err="1"/>
              <a:t>ipconfig</a:t>
            </a:r>
            <a:r>
              <a:rPr lang="fr-BE" sz="1600" dirty="0"/>
              <a:t> : vérifie que la configuration est bonne</a:t>
            </a:r>
          </a:p>
          <a:p>
            <a:endParaRPr lang="fr-BE" sz="1600" dirty="0"/>
          </a:p>
          <a:p>
            <a:r>
              <a:rPr lang="fr-BE" sz="1600" dirty="0" err="1"/>
              <a:t>ping</a:t>
            </a:r>
            <a:r>
              <a:rPr lang="fr-BE" sz="1600" dirty="0"/>
              <a:t> : permet de savoir si un autre host répond</a:t>
            </a:r>
          </a:p>
          <a:p>
            <a:endParaRPr lang="fr-BE" sz="1600" dirty="0"/>
          </a:p>
          <a:p>
            <a:r>
              <a:rPr lang="fr-BE" sz="1600" dirty="0" err="1"/>
              <a:t>tracert</a:t>
            </a:r>
            <a:r>
              <a:rPr lang="fr-BE" sz="1600" dirty="0"/>
              <a:t>: identifie le chemin réseau entre 2 host</a:t>
            </a:r>
          </a:p>
          <a:p>
            <a:endParaRPr lang="fr-BE" sz="1600" dirty="0"/>
          </a:p>
          <a:p>
            <a:r>
              <a:rPr lang="fr-BE" sz="1600" dirty="0" err="1"/>
              <a:t>telnet</a:t>
            </a:r>
            <a:r>
              <a:rPr lang="fr-BE" sz="1600" dirty="0"/>
              <a:t> : teste le service sur un host donné</a:t>
            </a:r>
          </a:p>
          <a:p>
            <a:endParaRPr lang="fr-BE" sz="1600" dirty="0"/>
          </a:p>
          <a:p>
            <a:r>
              <a:rPr lang="fr-BE" sz="1600" dirty="0" err="1"/>
              <a:t>netstat</a:t>
            </a:r>
            <a:r>
              <a:rPr lang="fr-BE" sz="1600" dirty="0"/>
              <a:t> : informations sur les connexions réseau, les tables de routage et un certain nombre de statistiques dont ceux des interfaces,</a:t>
            </a:r>
          </a:p>
          <a:p>
            <a:endParaRPr lang="fr-BE" sz="1600"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124712" cy="706378"/>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37694" y="2160589"/>
            <a:ext cx="5928368" cy="2346154"/>
          </a:xfrm>
          <a:prstGeom prst="rect">
            <a:avLst/>
          </a:prstGeom>
        </p:spPr>
      </p:pic>
    </p:spTree>
    <p:extLst>
      <p:ext uri="{BB962C8B-B14F-4D97-AF65-F5344CB8AC3E}">
        <p14:creationId xmlns:p14="http://schemas.microsoft.com/office/powerpoint/2010/main" val="21212462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BE" dirty="0"/>
              <a:t>Introduction IPv6</a:t>
            </a:r>
          </a:p>
        </p:txBody>
      </p:sp>
      <p:sp>
        <p:nvSpPr>
          <p:cNvPr id="3" name="Content Placeholder 2"/>
          <p:cNvSpPr>
            <a:spLocks noGrp="1"/>
          </p:cNvSpPr>
          <p:nvPr>
            <p:ph idx="1"/>
          </p:nvPr>
        </p:nvSpPr>
        <p:spPr>
          <a:xfrm>
            <a:off x="677334" y="1735494"/>
            <a:ext cx="8830560" cy="4581329"/>
          </a:xfrm>
        </p:spPr>
        <p:txBody>
          <a:bodyPr>
            <a:normAutofit fontScale="85000" lnSpcReduction="20000"/>
          </a:bodyPr>
          <a:lstStyle/>
          <a:p>
            <a:r>
              <a:rPr lang="fr-BE" dirty="0"/>
              <a:t>L’adressage IPv6 devrait permettre de s’affranchir des limitations du nombre d’adresses du modèle IPv4. L’IPv6 a surtout  été conçu pour répondre aux besoins des réseaux modernes dont les principales fonctionnalités sont :</a:t>
            </a:r>
          </a:p>
          <a:p>
            <a:pPr lvl="1"/>
            <a:r>
              <a:rPr lang="fr-BE" dirty="0"/>
              <a:t>Nouveau format de l’en-tête (devient plus efficace).</a:t>
            </a:r>
          </a:p>
          <a:p>
            <a:pPr lvl="1"/>
            <a:r>
              <a:rPr lang="fr-BE" dirty="0"/>
              <a:t>Espace d’adressage plus important</a:t>
            </a:r>
          </a:p>
          <a:p>
            <a:pPr lvl="1"/>
            <a:r>
              <a:rPr lang="fr-BE" dirty="0"/>
              <a:t>Configuration des adresses en mode </a:t>
            </a:r>
            <a:r>
              <a:rPr lang="fr-BE" dirty="0" err="1"/>
              <a:t>stateful</a:t>
            </a:r>
            <a:r>
              <a:rPr lang="fr-BE" dirty="0"/>
              <a:t> et </a:t>
            </a:r>
            <a:r>
              <a:rPr lang="fr-BE" dirty="0" err="1"/>
              <a:t>stateless</a:t>
            </a:r>
            <a:r>
              <a:rPr lang="fr-BE" dirty="0"/>
              <a:t>.</a:t>
            </a:r>
          </a:p>
          <a:p>
            <a:pPr lvl="1"/>
            <a:r>
              <a:rPr lang="fr-BE" dirty="0"/>
              <a:t>Sécurité intégrée (</a:t>
            </a:r>
            <a:r>
              <a:rPr lang="fr-BE" dirty="0" err="1"/>
              <a:t>IPsec</a:t>
            </a:r>
            <a:r>
              <a:rPr lang="fr-BE" dirty="0"/>
              <a:t> obligatoire)</a:t>
            </a:r>
          </a:p>
          <a:p>
            <a:pPr lvl="1"/>
            <a:r>
              <a:rPr lang="fr-BE" dirty="0"/>
              <a:t>Infrastructure de routage hiérarchique efficient</a:t>
            </a:r>
          </a:p>
          <a:p>
            <a:pPr lvl="1"/>
            <a:r>
              <a:rPr lang="fr-BE" dirty="0"/>
              <a:t>Amélioration du support de la priorité des paquets</a:t>
            </a:r>
          </a:p>
          <a:p>
            <a:endParaRPr lang="fr-BE" dirty="0"/>
          </a:p>
          <a:p>
            <a:r>
              <a:rPr lang="fr-BE" dirty="0"/>
              <a:t>Windows supporte le protocole IPv6 depuis Windows NT4, mais c’est à partir de Windows XP SP1 qu’il est possible  d’utiliser l’IPv6 dans un environnement de production. Windows Server apporte également l’infrastructure réseau nécessaire pour une implémentation dans de bonnes conditions comme le support d’IPv6 dans les serveurs DNS et DHCP</a:t>
            </a:r>
          </a:p>
          <a:p>
            <a:endParaRPr lang="fr-BE" dirty="0"/>
          </a:p>
          <a:p>
            <a:r>
              <a:rPr lang="fr-BE" dirty="0"/>
              <a:t>Un jour tous les ordinateurs, téléphones et périphériques auront une adresse IPv6. En attendant, des mécanismes de transition sont nécessaires: </a:t>
            </a:r>
          </a:p>
          <a:p>
            <a:endParaRPr lang="fr-BE"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124712" cy="706378"/>
          </a:xfrm>
          <a:prstGeom prst="rect">
            <a:avLst/>
          </a:prstGeom>
        </p:spPr>
      </p:pic>
    </p:spTree>
    <p:extLst>
      <p:ext uri="{BB962C8B-B14F-4D97-AF65-F5344CB8AC3E}">
        <p14:creationId xmlns:p14="http://schemas.microsoft.com/office/powerpoint/2010/main" val="29791353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BE" dirty="0"/>
              <a:t>L’adressage IPv6</a:t>
            </a:r>
          </a:p>
        </p:txBody>
      </p:sp>
      <p:sp>
        <p:nvSpPr>
          <p:cNvPr id="3" name="Content Placeholder 2"/>
          <p:cNvSpPr>
            <a:spLocks noGrp="1"/>
          </p:cNvSpPr>
          <p:nvPr>
            <p:ph idx="1"/>
          </p:nvPr>
        </p:nvSpPr>
        <p:spPr/>
        <p:txBody>
          <a:bodyPr>
            <a:normAutofit lnSpcReduction="10000"/>
          </a:bodyPr>
          <a:lstStyle/>
          <a:p>
            <a:r>
              <a:rPr lang="fr-BE" dirty="0"/>
              <a:t>Codé sur 128 bits, soit 16 octets</a:t>
            </a:r>
          </a:p>
          <a:p>
            <a:endParaRPr lang="fr-BE" dirty="0"/>
          </a:p>
          <a:p>
            <a:r>
              <a:rPr lang="fr-BE" dirty="0"/>
              <a:t>Notation hexadécimale. Exemple:</a:t>
            </a:r>
          </a:p>
          <a:p>
            <a:pPr lvl="1"/>
            <a:r>
              <a:rPr lang="fr-BE" dirty="0"/>
              <a:t>fe80::dsec:ad14:fec:fb14::5f21</a:t>
            </a:r>
          </a:p>
          <a:p>
            <a:endParaRPr lang="fr-BE" dirty="0"/>
          </a:p>
          <a:p>
            <a:r>
              <a:rPr lang="fr-BE" dirty="0"/>
              <a:t>Compatibilité avec les adresses IPv4</a:t>
            </a:r>
          </a:p>
          <a:p>
            <a:pPr lvl="1"/>
            <a:r>
              <a:rPr lang="fr-BE" dirty="0"/>
              <a:t>0:0:0:0:0:0:172.30.1.101 ou ::172.30.1.101</a:t>
            </a:r>
          </a:p>
          <a:p>
            <a:endParaRPr lang="fr-BE" dirty="0"/>
          </a:p>
          <a:p>
            <a:r>
              <a:rPr lang="fr-BE" dirty="0"/>
              <a:t>Adresse de bouclage</a:t>
            </a:r>
          </a:p>
          <a:p>
            <a:pPr lvl="1"/>
            <a:r>
              <a:rPr lang="fr-BE" dirty="0"/>
              <a:t>0:0:0:0:0:0:0:1 ou ::1</a:t>
            </a:r>
          </a:p>
          <a:p>
            <a:endParaRPr lang="fr-BE" dirty="0"/>
          </a:p>
          <a:p>
            <a:endParaRPr lang="fr-BE"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124712" cy="706378"/>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32329" y="1721820"/>
            <a:ext cx="4317511" cy="3205781"/>
          </a:xfrm>
          <a:prstGeom prst="rect">
            <a:avLst/>
          </a:prstGeom>
        </p:spPr>
      </p:pic>
    </p:spTree>
    <p:extLst>
      <p:ext uri="{BB962C8B-B14F-4D97-AF65-F5344CB8AC3E}">
        <p14:creationId xmlns:p14="http://schemas.microsoft.com/office/powerpoint/2010/main" val="30663462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BE" dirty="0"/>
              <a:t>Catégorie d’adresses IP</a:t>
            </a:r>
          </a:p>
        </p:txBody>
      </p:sp>
      <p:sp>
        <p:nvSpPr>
          <p:cNvPr id="3" name="Content Placeholder 2"/>
          <p:cNvSpPr>
            <a:spLocks noGrp="1"/>
          </p:cNvSpPr>
          <p:nvPr>
            <p:ph idx="1"/>
          </p:nvPr>
        </p:nvSpPr>
        <p:spPr/>
        <p:txBody>
          <a:bodyPr>
            <a:normAutofit/>
          </a:bodyPr>
          <a:lstStyle/>
          <a:p>
            <a:r>
              <a:rPr lang="fr-BE" dirty="0"/>
              <a:t>Unicast:</a:t>
            </a:r>
          </a:p>
          <a:p>
            <a:pPr lvl="1"/>
            <a:r>
              <a:rPr lang="fr-BE" dirty="0"/>
              <a:t>identifie une interface unique. Le paquet est envoyé à un ordinateur spécifique</a:t>
            </a:r>
          </a:p>
          <a:p>
            <a:endParaRPr lang="fr-BE" dirty="0"/>
          </a:p>
          <a:p>
            <a:r>
              <a:rPr lang="fr-BE" dirty="0"/>
              <a:t>Multicast:</a:t>
            </a:r>
          </a:p>
          <a:p>
            <a:pPr lvl="1"/>
            <a:r>
              <a:rPr lang="fr-BE" dirty="0"/>
              <a:t>Identifie entre 0 et n interfaces. Le paquet est envoyé à un groupe d’ordinateurs</a:t>
            </a:r>
          </a:p>
          <a:p>
            <a:endParaRPr lang="fr-BE" dirty="0"/>
          </a:p>
          <a:p>
            <a:r>
              <a:rPr lang="fr-BE" dirty="0" err="1"/>
              <a:t>Anycast</a:t>
            </a:r>
            <a:r>
              <a:rPr lang="fr-BE" dirty="0"/>
              <a:t>:</a:t>
            </a:r>
          </a:p>
          <a:p>
            <a:pPr lvl="1"/>
            <a:r>
              <a:rPr lang="fr-BE" dirty="0"/>
              <a:t>identifie n interfaces dont la communication va généralement au plus proche en terme de distance de routage</a:t>
            </a:r>
          </a:p>
          <a:p>
            <a:endParaRPr lang="fr-BE"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124712" cy="706378"/>
          </a:xfrm>
          <a:prstGeom prst="rect">
            <a:avLst/>
          </a:prstGeom>
        </p:spPr>
      </p:pic>
    </p:spTree>
    <p:extLst>
      <p:ext uri="{BB962C8B-B14F-4D97-AF65-F5344CB8AC3E}">
        <p14:creationId xmlns:p14="http://schemas.microsoft.com/office/powerpoint/2010/main" val="2553674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BE" dirty="0"/>
              <a:t>Présentation DHCP</a:t>
            </a:r>
          </a:p>
        </p:txBody>
      </p:sp>
      <p:sp>
        <p:nvSpPr>
          <p:cNvPr id="3" name="Content Placeholder 2"/>
          <p:cNvSpPr>
            <a:spLocks noGrp="1"/>
          </p:cNvSpPr>
          <p:nvPr>
            <p:ph idx="1"/>
          </p:nvPr>
        </p:nvSpPr>
        <p:spPr>
          <a:xfrm>
            <a:off x="677334" y="1996752"/>
            <a:ext cx="8596668" cy="4114800"/>
          </a:xfrm>
        </p:spPr>
        <p:txBody>
          <a:bodyPr>
            <a:normAutofit fontScale="85000" lnSpcReduction="10000"/>
          </a:bodyPr>
          <a:lstStyle/>
          <a:p>
            <a:r>
              <a:rPr lang="fr-BE" dirty="0"/>
              <a:t>DHCP est un protocole client/serveur qui fournit automatiquement à un hôte du réseau une adresse IP et d’autres paramètres de configuration comme le masque de sous-réseau</a:t>
            </a:r>
          </a:p>
          <a:p>
            <a:r>
              <a:rPr lang="fr-BE" dirty="0"/>
              <a:t>On utilise les termes de client ou client DHCP pour l’hôte IP qui reçoit une adresse IP provenant d’un serveur DHCP</a:t>
            </a:r>
          </a:p>
          <a:p>
            <a:r>
              <a:rPr lang="fr-BE" dirty="0"/>
              <a:t>Le serveur DHCP peut être un routeur ADSL donc basé sur du matériel ou un logiciel comme le rôle DHCP de Windows Server 2016</a:t>
            </a:r>
          </a:p>
          <a:p>
            <a:r>
              <a:rPr lang="fr-BE" dirty="0"/>
              <a:t>Le serveur DHCP gère et distribue de manière centralisée et automatique les adresses IP sur un réseau donné. Le réseau peut être local ou distant</a:t>
            </a:r>
          </a:p>
          <a:p>
            <a:r>
              <a:rPr lang="fr-BE" dirty="0"/>
              <a:t>Ses avantages principaux sont:</a:t>
            </a:r>
          </a:p>
          <a:p>
            <a:pPr lvl="1"/>
            <a:r>
              <a:rPr lang="fr-BE" dirty="0"/>
              <a:t>Le gain de productivité car il n’est plus nécessaire à un technicien de passer sur chaque ordinateur pour configurer son adresse IP</a:t>
            </a:r>
          </a:p>
          <a:p>
            <a:pPr lvl="1"/>
            <a:r>
              <a:rPr lang="fr-BE" dirty="0"/>
              <a:t>La modification du système d’adressage IP est également simplifiée</a:t>
            </a:r>
          </a:p>
          <a:p>
            <a:pPr lvl="1"/>
            <a:r>
              <a:rPr lang="fr-BE" dirty="0"/>
              <a:t>Les erreurs de configuration sont impossibles en production</a:t>
            </a:r>
          </a:p>
          <a:p>
            <a:pPr lvl="1"/>
            <a:r>
              <a:rPr lang="fr-BE" dirty="0"/>
              <a:t>Il est possible de réserver une adresse pour un client afin qu’il utilise toujours la même adresse</a:t>
            </a:r>
          </a:p>
          <a:p>
            <a:endParaRPr lang="fr-BE"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124712" cy="706378"/>
          </a:xfrm>
          <a:prstGeom prst="rect">
            <a:avLst/>
          </a:prstGeom>
        </p:spPr>
      </p:pic>
    </p:spTree>
    <p:extLst>
      <p:ext uri="{BB962C8B-B14F-4D97-AF65-F5344CB8AC3E}">
        <p14:creationId xmlns:p14="http://schemas.microsoft.com/office/powerpoint/2010/main" val="713046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A04B6-B085-FB03-2EAA-A7AB0C812DF9}"/>
              </a:ext>
            </a:extLst>
          </p:cNvPr>
          <p:cNvSpPr>
            <a:spLocks noGrp="1"/>
          </p:cNvSpPr>
          <p:nvPr>
            <p:ph type="title"/>
          </p:nvPr>
        </p:nvSpPr>
        <p:spPr/>
        <p:txBody>
          <a:bodyPr/>
          <a:lstStyle/>
          <a:p>
            <a:r>
              <a:rPr lang="fr-BE" dirty="0"/>
              <a:t>Génération Bail DHCP</a:t>
            </a:r>
          </a:p>
        </p:txBody>
      </p:sp>
      <p:grpSp>
        <p:nvGrpSpPr>
          <p:cNvPr id="4" name="computers">
            <a:extLst>
              <a:ext uri="{FF2B5EF4-FFF2-40B4-BE49-F238E27FC236}">
                <a16:creationId xmlns:a16="http://schemas.microsoft.com/office/drawing/2014/main" id="{D57F2911-27E8-D3F7-A4BA-21319071C441}"/>
              </a:ext>
            </a:extLst>
          </p:cNvPr>
          <p:cNvGrpSpPr/>
          <p:nvPr/>
        </p:nvGrpSpPr>
        <p:grpSpPr>
          <a:xfrm>
            <a:off x="1143000" y="1295400"/>
            <a:ext cx="6805465" cy="3452027"/>
            <a:chOff x="766317" y="1729573"/>
            <a:chExt cx="6805465" cy="3452027"/>
          </a:xfrm>
        </p:grpSpPr>
        <p:sp>
          <p:nvSpPr>
            <p:cNvPr id="5" name="Oval 4">
              <a:extLst>
                <a:ext uri="{FF2B5EF4-FFF2-40B4-BE49-F238E27FC236}">
                  <a16:creationId xmlns:a16="http://schemas.microsoft.com/office/drawing/2014/main" id="{71FE92D4-56F0-F1E2-0AFF-FC6C6822CFB7}"/>
                </a:ext>
              </a:extLst>
            </p:cNvPr>
            <p:cNvSpPr/>
            <p:nvPr/>
          </p:nvSpPr>
          <p:spPr>
            <a:xfrm>
              <a:off x="914401" y="2013956"/>
              <a:ext cx="6562724" cy="3015244"/>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nvGrpSpPr>
            <p:cNvPr id="6" name="Group 5">
              <a:extLst>
                <a:ext uri="{FF2B5EF4-FFF2-40B4-BE49-F238E27FC236}">
                  <a16:creationId xmlns:a16="http://schemas.microsoft.com/office/drawing/2014/main" id="{D830EAC5-6CF9-2540-36A1-EF59CD71B788}"/>
                </a:ext>
              </a:extLst>
            </p:cNvPr>
            <p:cNvGrpSpPr/>
            <p:nvPr/>
          </p:nvGrpSpPr>
          <p:grpSpPr>
            <a:xfrm>
              <a:off x="1142796" y="1881972"/>
              <a:ext cx="2181600" cy="1208839"/>
              <a:chOff x="1142796" y="1523999"/>
              <a:chExt cx="2181600" cy="1208839"/>
            </a:xfrm>
          </p:grpSpPr>
          <p:sp>
            <p:nvSpPr>
              <p:cNvPr id="15" name="AutoShape 39">
                <a:extLst>
                  <a:ext uri="{FF2B5EF4-FFF2-40B4-BE49-F238E27FC236}">
                    <a16:creationId xmlns:a16="http://schemas.microsoft.com/office/drawing/2014/main" id="{F0B4C5A0-8CE6-A3CC-7F42-8F9925D3365D}"/>
                  </a:ext>
                </a:extLst>
              </p:cNvPr>
              <p:cNvSpPr>
                <a:spLocks noChangeArrowheads="1"/>
              </p:cNvSpPr>
              <p:nvPr/>
            </p:nvSpPr>
            <p:spPr bwMode="auto">
              <a:xfrm>
                <a:off x="1142796" y="2337111"/>
                <a:ext cx="2181600" cy="395727"/>
              </a:xfrm>
              <a:prstGeom prst="roundRect">
                <a:avLst>
                  <a:gd name="adj" fmla="val 4167"/>
                </a:avLst>
              </a:prstGeom>
              <a:noFill/>
              <a:ln w="9525">
                <a:noFill/>
                <a:round/>
                <a:headEnd/>
                <a:tailEnd/>
              </a:ln>
            </p:spPr>
            <p:txBody>
              <a:bodyPr wrap="none" lIns="0" tIns="0" rIns="0" bIns="0" anchor="ctr"/>
              <a:lstStyle/>
              <a:p>
                <a:pPr algn="ctr"/>
                <a:r>
                  <a:rPr lang="en-US" sz="1900" b="1" dirty="0">
                    <a:solidFill>
                      <a:prstClr val="black"/>
                    </a:solidFill>
                    <a:latin typeface="Segoe UI" panose="020B0502040204020203" pitchFamily="34" charset="0"/>
                    <a:ea typeface="Segoe UI" panose="020B0502040204020203" pitchFamily="34" charset="0"/>
                    <a:cs typeface="Segoe UI" panose="020B0502040204020203" pitchFamily="34" charset="0"/>
                  </a:rPr>
                  <a:t>DHCP Server2</a:t>
                </a:r>
              </a:p>
            </p:txBody>
          </p:sp>
          <p:pic>
            <p:nvPicPr>
              <p:cNvPr id="16" name="Picture 15">
                <a:extLst>
                  <a:ext uri="{FF2B5EF4-FFF2-40B4-BE49-F238E27FC236}">
                    <a16:creationId xmlns:a16="http://schemas.microsoft.com/office/drawing/2014/main" id="{B32F5DA2-177C-7941-21A7-922021F6F0F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83197" y="1523999"/>
                <a:ext cx="500799" cy="889311"/>
              </a:xfrm>
              <a:prstGeom prst="rect">
                <a:avLst/>
              </a:prstGeom>
            </p:spPr>
          </p:pic>
        </p:grpSp>
        <p:pic>
          <p:nvPicPr>
            <p:cNvPr id="7" name="Picture 6">
              <a:extLst>
                <a:ext uri="{FF2B5EF4-FFF2-40B4-BE49-F238E27FC236}">
                  <a16:creationId xmlns:a16="http://schemas.microsoft.com/office/drawing/2014/main" id="{AC69F0F5-F2DF-DE85-37AA-2D196FA9FC4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02238" y="1729573"/>
              <a:ext cx="1023586" cy="1155558"/>
            </a:xfrm>
            <a:prstGeom prst="rect">
              <a:avLst/>
            </a:prstGeom>
          </p:spPr>
        </p:pic>
        <p:grpSp>
          <p:nvGrpSpPr>
            <p:cNvPr id="8" name="Group 7">
              <a:extLst>
                <a:ext uri="{FF2B5EF4-FFF2-40B4-BE49-F238E27FC236}">
                  <a16:creationId xmlns:a16="http://schemas.microsoft.com/office/drawing/2014/main" id="{0A2E91A8-D556-3636-ECF4-380B3AF5B12D}"/>
                </a:ext>
              </a:extLst>
            </p:cNvPr>
            <p:cNvGrpSpPr/>
            <p:nvPr/>
          </p:nvGrpSpPr>
          <p:grpSpPr>
            <a:xfrm>
              <a:off x="766317" y="3518029"/>
              <a:ext cx="2181600" cy="1183344"/>
              <a:chOff x="766317" y="3160056"/>
              <a:chExt cx="2181600" cy="1183344"/>
            </a:xfrm>
          </p:grpSpPr>
          <p:sp>
            <p:nvSpPr>
              <p:cNvPr id="13" name="AutoShape 39">
                <a:extLst>
                  <a:ext uri="{FF2B5EF4-FFF2-40B4-BE49-F238E27FC236}">
                    <a16:creationId xmlns:a16="http://schemas.microsoft.com/office/drawing/2014/main" id="{6A872E53-CE88-C9CD-0F49-3E0727C94346}"/>
                  </a:ext>
                </a:extLst>
              </p:cNvPr>
              <p:cNvSpPr>
                <a:spLocks noChangeArrowheads="1"/>
              </p:cNvSpPr>
              <p:nvPr/>
            </p:nvSpPr>
            <p:spPr bwMode="auto">
              <a:xfrm>
                <a:off x="766317" y="4145537"/>
                <a:ext cx="2181600" cy="197863"/>
              </a:xfrm>
              <a:prstGeom prst="roundRect">
                <a:avLst>
                  <a:gd name="adj" fmla="val 4167"/>
                </a:avLst>
              </a:prstGeom>
              <a:solidFill>
                <a:schemeClr val="bg1"/>
              </a:solidFill>
              <a:ln w="9525">
                <a:noFill/>
                <a:round/>
                <a:headEnd/>
                <a:tailEnd/>
              </a:ln>
            </p:spPr>
            <p:txBody>
              <a:bodyPr wrap="none" lIns="0" tIns="0" rIns="0" bIns="0" anchor="ctr"/>
              <a:lstStyle/>
              <a:p>
                <a:pPr algn="ctr"/>
                <a:r>
                  <a:rPr lang="en-US" sz="1900" b="1" dirty="0">
                    <a:solidFill>
                      <a:prstClr val="black"/>
                    </a:solidFill>
                    <a:latin typeface="Segoe UI" panose="020B0502040204020203" pitchFamily="34" charset="0"/>
                    <a:ea typeface="Segoe UI" panose="020B0502040204020203" pitchFamily="34" charset="0"/>
                    <a:cs typeface="Segoe UI" panose="020B0502040204020203" pitchFamily="34" charset="0"/>
                  </a:rPr>
                  <a:t>DHCP Server1</a:t>
                </a:r>
              </a:p>
            </p:txBody>
          </p:sp>
          <p:pic>
            <p:nvPicPr>
              <p:cNvPr id="14" name="Picture 13">
                <a:extLst>
                  <a:ext uri="{FF2B5EF4-FFF2-40B4-BE49-F238E27FC236}">
                    <a16:creationId xmlns:a16="http://schemas.microsoft.com/office/drawing/2014/main" id="{ED73CBD5-F0C1-361D-E8B3-F39EB3A83C2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600573" y="3160056"/>
                <a:ext cx="513088" cy="911134"/>
              </a:xfrm>
              <a:prstGeom prst="rect">
                <a:avLst/>
              </a:prstGeom>
            </p:spPr>
          </p:pic>
        </p:grpSp>
        <p:grpSp>
          <p:nvGrpSpPr>
            <p:cNvPr id="9" name="Group 8">
              <a:extLst>
                <a:ext uri="{FF2B5EF4-FFF2-40B4-BE49-F238E27FC236}">
                  <a16:creationId xmlns:a16="http://schemas.microsoft.com/office/drawing/2014/main" id="{D5E7AC63-F272-311E-091A-B93C2CD88068}"/>
                </a:ext>
              </a:extLst>
            </p:cNvPr>
            <p:cNvGrpSpPr/>
            <p:nvPr/>
          </p:nvGrpSpPr>
          <p:grpSpPr>
            <a:xfrm>
              <a:off x="5809741" y="3273605"/>
              <a:ext cx="1762041" cy="1432426"/>
              <a:chOff x="5809741" y="2915632"/>
              <a:chExt cx="1762041" cy="1432426"/>
            </a:xfrm>
          </p:grpSpPr>
          <p:sp>
            <p:nvSpPr>
              <p:cNvPr id="11" name="AutoShape 37">
                <a:extLst>
                  <a:ext uri="{FF2B5EF4-FFF2-40B4-BE49-F238E27FC236}">
                    <a16:creationId xmlns:a16="http://schemas.microsoft.com/office/drawing/2014/main" id="{4B957E75-69F8-3035-91F4-596F3E867645}"/>
                  </a:ext>
                </a:extLst>
              </p:cNvPr>
              <p:cNvSpPr>
                <a:spLocks noChangeArrowheads="1"/>
              </p:cNvSpPr>
              <p:nvPr/>
            </p:nvSpPr>
            <p:spPr bwMode="auto">
              <a:xfrm>
                <a:off x="5809741" y="4009503"/>
                <a:ext cx="1762041" cy="338555"/>
              </a:xfrm>
              <a:prstGeom prst="roundRect">
                <a:avLst>
                  <a:gd name="adj" fmla="val 4167"/>
                </a:avLst>
              </a:prstGeom>
              <a:solidFill>
                <a:schemeClr val="bg1"/>
              </a:solidFill>
              <a:ln w="9525" algn="ctr">
                <a:noFill/>
                <a:round/>
                <a:headEnd/>
                <a:tailEnd/>
              </a:ln>
            </p:spPr>
            <p:txBody>
              <a:bodyPr wrap="none" lIns="0" tIns="0" rIns="0" bIns="0" anchor="ctr"/>
              <a:lstStyle/>
              <a:p>
                <a:pPr algn="ctr"/>
                <a:r>
                  <a:rPr lang="en-US" sz="1900" b="1" dirty="0">
                    <a:solidFill>
                      <a:prstClr val="black"/>
                    </a:solidFill>
                    <a:latin typeface="Segoe UI" panose="020B0502040204020203" pitchFamily="34" charset="0"/>
                    <a:ea typeface="Segoe UI" panose="020B0502040204020203" pitchFamily="34" charset="0"/>
                    <a:cs typeface="Segoe UI" panose="020B0502040204020203" pitchFamily="34" charset="0"/>
                  </a:rPr>
                  <a:t>DHCP client</a:t>
                </a:r>
              </a:p>
            </p:txBody>
          </p:sp>
          <p:pic>
            <p:nvPicPr>
              <p:cNvPr id="12" name="Picture 11">
                <a:extLst>
                  <a:ext uri="{FF2B5EF4-FFF2-40B4-BE49-F238E27FC236}">
                    <a16:creationId xmlns:a16="http://schemas.microsoft.com/office/drawing/2014/main" id="{63921115-3F6B-5AE9-A7FD-23F8677023A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98655" y="2915632"/>
                <a:ext cx="1023586" cy="1155558"/>
              </a:xfrm>
              <a:prstGeom prst="rect">
                <a:avLst/>
              </a:prstGeom>
            </p:spPr>
          </p:pic>
        </p:grpSp>
        <p:pic>
          <p:nvPicPr>
            <p:cNvPr id="10" name="Picture 9">
              <a:extLst>
                <a:ext uri="{FF2B5EF4-FFF2-40B4-BE49-F238E27FC236}">
                  <a16:creationId xmlns:a16="http://schemas.microsoft.com/office/drawing/2014/main" id="{174984F7-06EB-6152-CC26-F4D453403F4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970765" y="3973596"/>
              <a:ext cx="1070043" cy="1208004"/>
            </a:xfrm>
            <a:prstGeom prst="rect">
              <a:avLst/>
            </a:prstGeom>
          </p:spPr>
        </p:pic>
      </p:grpSp>
      <p:pic>
        <p:nvPicPr>
          <p:cNvPr id="17" name="stop">
            <a:extLst>
              <a:ext uri="{FF2B5EF4-FFF2-40B4-BE49-F238E27FC236}">
                <a16:creationId xmlns:a16="http://schemas.microsoft.com/office/drawing/2014/main" id="{B4A15F46-8ACF-60B4-98F8-38244D488B9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58125" y="6096725"/>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8" name="step 4 packet 2">
            <a:extLst>
              <a:ext uri="{FF2B5EF4-FFF2-40B4-BE49-F238E27FC236}">
                <a16:creationId xmlns:a16="http://schemas.microsoft.com/office/drawing/2014/main" id="{095DEE64-6162-2C17-E6EA-298D9F418676}"/>
              </a:ext>
            </a:extLst>
          </p:cNvPr>
          <p:cNvGrpSpPr/>
          <p:nvPr/>
        </p:nvGrpSpPr>
        <p:grpSpPr>
          <a:xfrm>
            <a:off x="4355003" y="2688020"/>
            <a:ext cx="1005840" cy="158416"/>
            <a:chOff x="3525222" y="2331463"/>
            <a:chExt cx="1119079" cy="197864"/>
          </a:xfrm>
        </p:grpSpPr>
        <p:sp>
          <p:nvSpPr>
            <p:cNvPr id="19" name="Rectangle 18">
              <a:extLst>
                <a:ext uri="{FF2B5EF4-FFF2-40B4-BE49-F238E27FC236}">
                  <a16:creationId xmlns:a16="http://schemas.microsoft.com/office/drawing/2014/main" id="{C4288113-C04D-00FD-24AA-FD2033963132}"/>
                </a:ext>
              </a:extLst>
            </p:cNvPr>
            <p:cNvSpPr/>
            <p:nvPr/>
          </p:nvSpPr>
          <p:spPr>
            <a:xfrm>
              <a:off x="3733800" y="2331463"/>
              <a:ext cx="687390" cy="19786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20" name="Rectangle 19">
              <a:extLst>
                <a:ext uri="{FF2B5EF4-FFF2-40B4-BE49-F238E27FC236}">
                  <a16:creationId xmlns:a16="http://schemas.microsoft.com/office/drawing/2014/main" id="{E81625AB-D85C-17DD-2F83-AD830AB70079}"/>
                </a:ext>
              </a:extLst>
            </p:cNvPr>
            <p:cNvSpPr/>
            <p:nvPr/>
          </p:nvSpPr>
          <p:spPr>
            <a:xfrm>
              <a:off x="4421190"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21" name="Rectangle 20">
              <a:extLst>
                <a:ext uri="{FF2B5EF4-FFF2-40B4-BE49-F238E27FC236}">
                  <a16:creationId xmlns:a16="http://schemas.microsoft.com/office/drawing/2014/main" id="{052A0B60-22A7-AB1E-9119-1BB4CC50E482}"/>
                </a:ext>
              </a:extLst>
            </p:cNvPr>
            <p:cNvSpPr/>
            <p:nvPr/>
          </p:nvSpPr>
          <p:spPr>
            <a:xfrm>
              <a:off x="3525222"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nvGrpSpPr>
          <p:cNvPr id="22" name="step 4 packet">
            <a:extLst>
              <a:ext uri="{FF2B5EF4-FFF2-40B4-BE49-F238E27FC236}">
                <a16:creationId xmlns:a16="http://schemas.microsoft.com/office/drawing/2014/main" id="{8D68CFCD-47AA-2BB1-7DD7-F4F2E144724A}"/>
              </a:ext>
            </a:extLst>
          </p:cNvPr>
          <p:cNvGrpSpPr/>
          <p:nvPr/>
        </p:nvGrpSpPr>
        <p:grpSpPr>
          <a:xfrm>
            <a:off x="4355003" y="2688020"/>
            <a:ext cx="1005840" cy="158416"/>
            <a:chOff x="3525222" y="2331463"/>
            <a:chExt cx="1119079" cy="197864"/>
          </a:xfrm>
        </p:grpSpPr>
        <p:sp>
          <p:nvSpPr>
            <p:cNvPr id="23" name="Rectangle 22">
              <a:extLst>
                <a:ext uri="{FF2B5EF4-FFF2-40B4-BE49-F238E27FC236}">
                  <a16:creationId xmlns:a16="http://schemas.microsoft.com/office/drawing/2014/main" id="{F7478214-9143-4E10-F4D4-8871EAD1F9DE}"/>
                </a:ext>
              </a:extLst>
            </p:cNvPr>
            <p:cNvSpPr/>
            <p:nvPr/>
          </p:nvSpPr>
          <p:spPr>
            <a:xfrm>
              <a:off x="3733800" y="2331463"/>
              <a:ext cx="687390" cy="19786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24" name="Rectangle 23">
              <a:extLst>
                <a:ext uri="{FF2B5EF4-FFF2-40B4-BE49-F238E27FC236}">
                  <a16:creationId xmlns:a16="http://schemas.microsoft.com/office/drawing/2014/main" id="{809D3736-96C2-0871-15ED-ABED46DAC773}"/>
                </a:ext>
              </a:extLst>
            </p:cNvPr>
            <p:cNvSpPr/>
            <p:nvPr/>
          </p:nvSpPr>
          <p:spPr>
            <a:xfrm>
              <a:off x="4421190"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25" name="Rectangle 24">
              <a:extLst>
                <a:ext uri="{FF2B5EF4-FFF2-40B4-BE49-F238E27FC236}">
                  <a16:creationId xmlns:a16="http://schemas.microsoft.com/office/drawing/2014/main" id="{E58C13F9-C242-B1C5-3EF6-47A925BC3BB8}"/>
                </a:ext>
              </a:extLst>
            </p:cNvPr>
            <p:cNvSpPr/>
            <p:nvPr/>
          </p:nvSpPr>
          <p:spPr>
            <a:xfrm>
              <a:off x="3525222"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nvGrpSpPr>
          <p:cNvPr id="26" name="step 4 packet 4">
            <a:extLst>
              <a:ext uri="{FF2B5EF4-FFF2-40B4-BE49-F238E27FC236}">
                <a16:creationId xmlns:a16="http://schemas.microsoft.com/office/drawing/2014/main" id="{E2120B65-E0B7-DC4A-BBBF-769AFA6C616C}"/>
              </a:ext>
            </a:extLst>
          </p:cNvPr>
          <p:cNvGrpSpPr/>
          <p:nvPr/>
        </p:nvGrpSpPr>
        <p:grpSpPr>
          <a:xfrm>
            <a:off x="4355003" y="2688020"/>
            <a:ext cx="1005840" cy="158416"/>
            <a:chOff x="3525222" y="2331463"/>
            <a:chExt cx="1119079" cy="197864"/>
          </a:xfrm>
        </p:grpSpPr>
        <p:sp>
          <p:nvSpPr>
            <p:cNvPr id="27" name="Rectangle 26">
              <a:extLst>
                <a:ext uri="{FF2B5EF4-FFF2-40B4-BE49-F238E27FC236}">
                  <a16:creationId xmlns:a16="http://schemas.microsoft.com/office/drawing/2014/main" id="{F080BE8E-0CA0-492E-4DDE-9A4C6478CBD5}"/>
                </a:ext>
              </a:extLst>
            </p:cNvPr>
            <p:cNvSpPr/>
            <p:nvPr/>
          </p:nvSpPr>
          <p:spPr>
            <a:xfrm>
              <a:off x="3733800" y="2331463"/>
              <a:ext cx="687390" cy="19786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28" name="Rectangle 27">
              <a:extLst>
                <a:ext uri="{FF2B5EF4-FFF2-40B4-BE49-F238E27FC236}">
                  <a16:creationId xmlns:a16="http://schemas.microsoft.com/office/drawing/2014/main" id="{AE9FDEE0-8144-5121-4616-4E1C5BAB85E7}"/>
                </a:ext>
              </a:extLst>
            </p:cNvPr>
            <p:cNvSpPr/>
            <p:nvPr/>
          </p:nvSpPr>
          <p:spPr>
            <a:xfrm>
              <a:off x="4421190"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29" name="Rectangle 28">
              <a:extLst>
                <a:ext uri="{FF2B5EF4-FFF2-40B4-BE49-F238E27FC236}">
                  <a16:creationId xmlns:a16="http://schemas.microsoft.com/office/drawing/2014/main" id="{668EB672-EEE1-8D2D-19C4-715E19C3C1E0}"/>
                </a:ext>
              </a:extLst>
            </p:cNvPr>
            <p:cNvSpPr/>
            <p:nvPr/>
          </p:nvSpPr>
          <p:spPr>
            <a:xfrm>
              <a:off x="3525222"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nvGrpSpPr>
          <p:cNvPr id="30" name="step 4 packet 3">
            <a:extLst>
              <a:ext uri="{FF2B5EF4-FFF2-40B4-BE49-F238E27FC236}">
                <a16:creationId xmlns:a16="http://schemas.microsoft.com/office/drawing/2014/main" id="{89A9AA4E-93E6-BFE9-F1A5-EE14E6C865C7}"/>
              </a:ext>
            </a:extLst>
          </p:cNvPr>
          <p:cNvGrpSpPr/>
          <p:nvPr/>
        </p:nvGrpSpPr>
        <p:grpSpPr>
          <a:xfrm>
            <a:off x="4355003" y="2688020"/>
            <a:ext cx="1005840" cy="158416"/>
            <a:chOff x="3525222" y="2331463"/>
            <a:chExt cx="1119079" cy="197864"/>
          </a:xfrm>
        </p:grpSpPr>
        <p:sp>
          <p:nvSpPr>
            <p:cNvPr id="31" name="Rectangle 30">
              <a:extLst>
                <a:ext uri="{FF2B5EF4-FFF2-40B4-BE49-F238E27FC236}">
                  <a16:creationId xmlns:a16="http://schemas.microsoft.com/office/drawing/2014/main" id="{3711CD48-046E-37EE-0F9C-C842FB08FFFC}"/>
                </a:ext>
              </a:extLst>
            </p:cNvPr>
            <p:cNvSpPr/>
            <p:nvPr/>
          </p:nvSpPr>
          <p:spPr>
            <a:xfrm>
              <a:off x="3733800" y="2331463"/>
              <a:ext cx="687390" cy="19786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32" name="Rectangle 31">
              <a:extLst>
                <a:ext uri="{FF2B5EF4-FFF2-40B4-BE49-F238E27FC236}">
                  <a16:creationId xmlns:a16="http://schemas.microsoft.com/office/drawing/2014/main" id="{0989979A-0237-5A6C-1E89-9A6930B5A5A0}"/>
                </a:ext>
              </a:extLst>
            </p:cNvPr>
            <p:cNvSpPr/>
            <p:nvPr/>
          </p:nvSpPr>
          <p:spPr>
            <a:xfrm>
              <a:off x="4421190"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33" name="Rectangle 32">
              <a:extLst>
                <a:ext uri="{FF2B5EF4-FFF2-40B4-BE49-F238E27FC236}">
                  <a16:creationId xmlns:a16="http://schemas.microsoft.com/office/drawing/2014/main" id="{D47758B4-77AC-E92E-FEDC-5F698BCF1048}"/>
                </a:ext>
              </a:extLst>
            </p:cNvPr>
            <p:cNvSpPr/>
            <p:nvPr/>
          </p:nvSpPr>
          <p:spPr>
            <a:xfrm>
              <a:off x="3525222"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sp>
        <p:nvSpPr>
          <p:cNvPr id="34" name="text">
            <a:extLst>
              <a:ext uri="{FF2B5EF4-FFF2-40B4-BE49-F238E27FC236}">
                <a16:creationId xmlns:a16="http://schemas.microsoft.com/office/drawing/2014/main" id="{1C008D45-F20E-37A3-DF03-44238A5CB462}"/>
              </a:ext>
            </a:extLst>
          </p:cNvPr>
          <p:cNvSpPr/>
          <p:nvPr/>
        </p:nvSpPr>
        <p:spPr>
          <a:xfrm>
            <a:off x="1143000" y="5222770"/>
            <a:ext cx="6324600" cy="1200329"/>
          </a:xfrm>
          <a:prstGeom prst="rect">
            <a:avLst/>
          </a:prstGeom>
        </p:spPr>
        <p:txBody>
          <a:bodyPr wrap="square">
            <a:spAutoFit/>
          </a:bodyPr>
          <a:lstStyle/>
          <a:p>
            <a:pPr marL="342900" indent="-342900">
              <a:buFont typeface="+mj-lt"/>
              <a:buAutoNum type="arabicPeriod"/>
            </a:pPr>
            <a:r>
              <a:rPr lang="en-US" dirty="0">
                <a:solidFill>
                  <a:prstClr val="black"/>
                </a:solidFill>
                <a:latin typeface="Segoe UI" panose="020B0502040204020203" pitchFamily="34" charset="0"/>
                <a:ea typeface="Segoe UI" pitchFamily="34" charset="0"/>
                <a:cs typeface="Segoe UI" panose="020B0502040204020203" pitchFamily="34" charset="0"/>
              </a:rPr>
              <a:t>Le client DHCP broadcasts un </a:t>
            </a:r>
            <a:r>
              <a:rPr lang="en-US" dirty="0" err="1">
                <a:solidFill>
                  <a:prstClr val="black"/>
                </a:solidFill>
                <a:latin typeface="Segoe UI" panose="020B0502040204020203" pitchFamily="34" charset="0"/>
                <a:ea typeface="Segoe UI" pitchFamily="34" charset="0"/>
                <a:cs typeface="Segoe UI" panose="020B0502040204020203" pitchFamily="34" charset="0"/>
              </a:rPr>
              <a:t>paquet</a:t>
            </a:r>
            <a:r>
              <a:rPr lang="en-US" dirty="0">
                <a:solidFill>
                  <a:prstClr val="black"/>
                </a:solidFill>
                <a:latin typeface="Segoe UI" panose="020B0502040204020203" pitchFamily="34" charset="0"/>
                <a:ea typeface="Segoe UI" pitchFamily="34" charset="0"/>
                <a:cs typeface="Segoe UI" panose="020B0502040204020203" pitchFamily="34" charset="0"/>
              </a:rPr>
              <a:t> DHCPDISCOVER </a:t>
            </a:r>
          </a:p>
          <a:p>
            <a:pPr marL="342900" indent="-342900">
              <a:buFont typeface="+mj-lt"/>
              <a:buAutoNum type="arabicPeriod"/>
            </a:pPr>
            <a:r>
              <a:rPr lang="en-US" dirty="0">
                <a:solidFill>
                  <a:prstClr val="black"/>
                </a:solidFill>
                <a:latin typeface="Segoe UI" panose="020B0502040204020203" pitchFamily="34" charset="0"/>
                <a:ea typeface="Segoe UI" pitchFamily="34" charset="0"/>
                <a:cs typeface="Segoe UI" panose="020B0502040204020203" pitchFamily="34" charset="0"/>
              </a:rPr>
              <a:t>Le </a:t>
            </a:r>
            <a:r>
              <a:rPr lang="en-US" dirty="0" err="1">
                <a:solidFill>
                  <a:prstClr val="black"/>
                </a:solidFill>
                <a:latin typeface="Segoe UI" panose="020B0502040204020203" pitchFamily="34" charset="0"/>
                <a:ea typeface="Segoe UI" pitchFamily="34" charset="0"/>
                <a:cs typeface="Segoe UI" panose="020B0502040204020203" pitchFamily="34" charset="0"/>
              </a:rPr>
              <a:t>serveur</a:t>
            </a:r>
            <a:r>
              <a:rPr lang="en-US" dirty="0">
                <a:solidFill>
                  <a:prstClr val="black"/>
                </a:solidFill>
                <a:latin typeface="Segoe UI" panose="020B0502040204020203" pitchFamily="34" charset="0"/>
                <a:ea typeface="Segoe UI" pitchFamily="34" charset="0"/>
                <a:cs typeface="Segoe UI" panose="020B0502040204020203" pitchFamily="34" charset="0"/>
              </a:rPr>
              <a:t> DHCP broadcast un </a:t>
            </a:r>
            <a:r>
              <a:rPr lang="en-US" dirty="0" err="1">
                <a:solidFill>
                  <a:prstClr val="black"/>
                </a:solidFill>
                <a:latin typeface="Segoe UI" panose="020B0502040204020203" pitchFamily="34" charset="0"/>
                <a:ea typeface="Segoe UI" pitchFamily="34" charset="0"/>
                <a:cs typeface="Segoe UI" panose="020B0502040204020203" pitchFamily="34" charset="0"/>
              </a:rPr>
              <a:t>paquet</a:t>
            </a:r>
            <a:r>
              <a:rPr lang="en-US" dirty="0">
                <a:solidFill>
                  <a:prstClr val="black"/>
                </a:solidFill>
                <a:latin typeface="Segoe UI" panose="020B0502040204020203" pitchFamily="34" charset="0"/>
                <a:ea typeface="Segoe UI" pitchFamily="34" charset="0"/>
                <a:cs typeface="Segoe UI" panose="020B0502040204020203" pitchFamily="34" charset="0"/>
              </a:rPr>
              <a:t> DHCPOFFER</a:t>
            </a:r>
          </a:p>
          <a:p>
            <a:pPr marL="342900" indent="-342900">
              <a:buFont typeface="+mj-lt"/>
              <a:buAutoNum type="arabicPeriod"/>
            </a:pPr>
            <a:r>
              <a:rPr lang="en-US" dirty="0">
                <a:solidFill>
                  <a:prstClr val="black"/>
                </a:solidFill>
                <a:latin typeface="Segoe UI" panose="020B0502040204020203" pitchFamily="34" charset="0"/>
                <a:ea typeface="Segoe UI" pitchFamily="34" charset="0"/>
                <a:cs typeface="Segoe UI" panose="020B0502040204020203" pitchFamily="34" charset="0"/>
              </a:rPr>
              <a:t>Le client DHCP broadcasts un </a:t>
            </a:r>
            <a:r>
              <a:rPr lang="en-US" dirty="0" err="1">
                <a:solidFill>
                  <a:prstClr val="black"/>
                </a:solidFill>
                <a:latin typeface="Segoe UI" panose="020B0502040204020203" pitchFamily="34" charset="0"/>
                <a:ea typeface="Segoe UI" pitchFamily="34" charset="0"/>
                <a:cs typeface="Segoe UI" panose="020B0502040204020203" pitchFamily="34" charset="0"/>
              </a:rPr>
              <a:t>paquet</a:t>
            </a:r>
            <a:r>
              <a:rPr lang="en-US" dirty="0">
                <a:solidFill>
                  <a:prstClr val="black"/>
                </a:solidFill>
                <a:latin typeface="Segoe UI" panose="020B0502040204020203" pitchFamily="34" charset="0"/>
                <a:ea typeface="Segoe UI" pitchFamily="34" charset="0"/>
                <a:cs typeface="Segoe UI" panose="020B0502040204020203" pitchFamily="34" charset="0"/>
              </a:rPr>
              <a:t> DHCPREQUEST</a:t>
            </a:r>
          </a:p>
          <a:p>
            <a:pPr marL="342900" indent="-342900">
              <a:buFont typeface="+mj-lt"/>
              <a:buAutoNum type="arabicPeriod"/>
            </a:pPr>
            <a:r>
              <a:rPr lang="en-US" dirty="0">
                <a:solidFill>
                  <a:prstClr val="black"/>
                </a:solidFill>
                <a:latin typeface="Segoe UI" panose="020B0502040204020203" pitchFamily="34" charset="0"/>
                <a:ea typeface="Segoe UI" pitchFamily="34" charset="0"/>
                <a:cs typeface="Segoe UI" panose="020B0502040204020203" pitchFamily="34" charset="0"/>
              </a:rPr>
              <a:t>Le </a:t>
            </a:r>
            <a:r>
              <a:rPr lang="en-US" dirty="0" err="1">
                <a:solidFill>
                  <a:prstClr val="black"/>
                </a:solidFill>
                <a:latin typeface="Segoe UI" panose="020B0502040204020203" pitchFamily="34" charset="0"/>
                <a:ea typeface="Segoe UI" panose="020B0502040204020203" pitchFamily="34" charset="0"/>
                <a:cs typeface="Segoe UI" panose="020B0502040204020203" pitchFamily="34" charset="0"/>
              </a:rPr>
              <a:t>serveur</a:t>
            </a:r>
            <a:r>
              <a:rPr lang="en-US" dirty="0">
                <a:solidFill>
                  <a:prstClr val="black"/>
                </a:solidFill>
                <a:latin typeface="Segoe UI" panose="020B0502040204020203" pitchFamily="34" charset="0"/>
                <a:ea typeface="Segoe UI" panose="020B0502040204020203" pitchFamily="34" charset="0"/>
                <a:cs typeface="Segoe UI" panose="020B0502040204020203" pitchFamily="34" charset="0"/>
              </a:rPr>
              <a:t> DHCP1 broadcasts un </a:t>
            </a:r>
            <a:r>
              <a:rPr lang="en-US" dirty="0" err="1">
                <a:solidFill>
                  <a:prstClr val="black"/>
                </a:solidFill>
                <a:latin typeface="Segoe UI" panose="020B0502040204020203" pitchFamily="34" charset="0"/>
                <a:ea typeface="Segoe UI" pitchFamily="34" charset="0"/>
                <a:cs typeface="Segoe UI" panose="020B0502040204020203" pitchFamily="34" charset="0"/>
              </a:rPr>
              <a:t>paquet</a:t>
            </a:r>
            <a:r>
              <a:rPr lang="en-US" dirty="0">
                <a:solidFill>
                  <a:prstClr val="black"/>
                </a:solidFill>
                <a:latin typeface="Segoe UI" panose="020B0502040204020203" pitchFamily="34" charset="0"/>
                <a:ea typeface="Segoe UI" pitchFamily="34" charset="0"/>
                <a:cs typeface="Segoe UI" panose="020B0502040204020203" pitchFamily="34" charset="0"/>
              </a:rPr>
              <a:t> DHCPACK</a:t>
            </a:r>
          </a:p>
        </p:txBody>
      </p:sp>
      <p:grpSp>
        <p:nvGrpSpPr>
          <p:cNvPr id="35" name="step 4">
            <a:extLst>
              <a:ext uri="{FF2B5EF4-FFF2-40B4-BE49-F238E27FC236}">
                <a16:creationId xmlns:a16="http://schemas.microsoft.com/office/drawing/2014/main" id="{5288BBA2-00ED-211F-7BA0-6FDD8167F707}"/>
              </a:ext>
            </a:extLst>
          </p:cNvPr>
          <p:cNvGrpSpPr/>
          <p:nvPr/>
        </p:nvGrpSpPr>
        <p:grpSpPr>
          <a:xfrm>
            <a:off x="1957781" y="3513673"/>
            <a:ext cx="1005840" cy="158416"/>
            <a:chOff x="3525222" y="2331463"/>
            <a:chExt cx="1119079" cy="197864"/>
          </a:xfrm>
        </p:grpSpPr>
        <p:sp>
          <p:nvSpPr>
            <p:cNvPr id="36" name="Rectangle 35">
              <a:extLst>
                <a:ext uri="{FF2B5EF4-FFF2-40B4-BE49-F238E27FC236}">
                  <a16:creationId xmlns:a16="http://schemas.microsoft.com/office/drawing/2014/main" id="{56017435-5B23-9629-0313-058A9A2B3CD2}"/>
                </a:ext>
              </a:extLst>
            </p:cNvPr>
            <p:cNvSpPr/>
            <p:nvPr/>
          </p:nvSpPr>
          <p:spPr>
            <a:xfrm>
              <a:off x="3733800" y="2331463"/>
              <a:ext cx="687390" cy="19786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37" name="Rectangle 36">
              <a:extLst>
                <a:ext uri="{FF2B5EF4-FFF2-40B4-BE49-F238E27FC236}">
                  <a16:creationId xmlns:a16="http://schemas.microsoft.com/office/drawing/2014/main" id="{039D35E8-BDC0-C109-3751-A34CA116AE28}"/>
                </a:ext>
              </a:extLst>
            </p:cNvPr>
            <p:cNvSpPr/>
            <p:nvPr/>
          </p:nvSpPr>
          <p:spPr>
            <a:xfrm>
              <a:off x="4421190"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38" name="Rectangle 37">
              <a:extLst>
                <a:ext uri="{FF2B5EF4-FFF2-40B4-BE49-F238E27FC236}">
                  <a16:creationId xmlns:a16="http://schemas.microsoft.com/office/drawing/2014/main" id="{CA64BB72-5D37-0141-5F81-72B62A6C3491}"/>
                </a:ext>
              </a:extLst>
            </p:cNvPr>
            <p:cNvSpPr/>
            <p:nvPr/>
          </p:nvSpPr>
          <p:spPr>
            <a:xfrm>
              <a:off x="3525222"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nvGrpSpPr>
          <p:cNvPr id="39" name="3-packet 6:00">
            <a:extLst>
              <a:ext uri="{FF2B5EF4-FFF2-40B4-BE49-F238E27FC236}">
                <a16:creationId xmlns:a16="http://schemas.microsoft.com/office/drawing/2014/main" id="{04438D83-08C6-EB76-E4EA-FA69916E3F24}"/>
              </a:ext>
            </a:extLst>
          </p:cNvPr>
          <p:cNvGrpSpPr/>
          <p:nvPr/>
        </p:nvGrpSpPr>
        <p:grpSpPr>
          <a:xfrm>
            <a:off x="4355003" y="2688020"/>
            <a:ext cx="1005840" cy="158416"/>
            <a:chOff x="9891406" y="3953789"/>
            <a:chExt cx="895968" cy="158416"/>
          </a:xfrm>
        </p:grpSpPr>
        <p:sp>
          <p:nvSpPr>
            <p:cNvPr id="40" name="Rectangle 39">
              <a:extLst>
                <a:ext uri="{FF2B5EF4-FFF2-40B4-BE49-F238E27FC236}">
                  <a16:creationId xmlns:a16="http://schemas.microsoft.com/office/drawing/2014/main" id="{8928F505-0688-636F-36D4-213233330B18}"/>
                </a:ext>
              </a:extLst>
            </p:cNvPr>
            <p:cNvSpPr/>
            <p:nvPr/>
          </p:nvSpPr>
          <p:spPr>
            <a:xfrm>
              <a:off x="10058400" y="3953789"/>
              <a:ext cx="550345" cy="1584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41" name="Rectangle 40">
              <a:extLst>
                <a:ext uri="{FF2B5EF4-FFF2-40B4-BE49-F238E27FC236}">
                  <a16:creationId xmlns:a16="http://schemas.microsoft.com/office/drawing/2014/main" id="{2E9BF801-68FA-B9E8-8146-A99F4FF275CF}"/>
                </a:ext>
              </a:extLst>
            </p:cNvPr>
            <p:cNvSpPr/>
            <p:nvPr/>
          </p:nvSpPr>
          <p:spPr>
            <a:xfrm>
              <a:off x="10608745" y="3953789"/>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42" name="Rectangle 41">
              <a:extLst>
                <a:ext uri="{FF2B5EF4-FFF2-40B4-BE49-F238E27FC236}">
                  <a16:creationId xmlns:a16="http://schemas.microsoft.com/office/drawing/2014/main" id="{E0669EAF-733D-EDF9-4FE1-62C4DF524638}"/>
                </a:ext>
              </a:extLst>
            </p:cNvPr>
            <p:cNvSpPr/>
            <p:nvPr/>
          </p:nvSpPr>
          <p:spPr>
            <a:xfrm>
              <a:off x="9891406" y="3953789"/>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nvGrpSpPr>
          <p:cNvPr id="43" name="3-packet 8:00">
            <a:extLst>
              <a:ext uri="{FF2B5EF4-FFF2-40B4-BE49-F238E27FC236}">
                <a16:creationId xmlns:a16="http://schemas.microsoft.com/office/drawing/2014/main" id="{6D8D972B-73DA-C7EE-7FCB-F0678122D236}"/>
              </a:ext>
            </a:extLst>
          </p:cNvPr>
          <p:cNvGrpSpPr/>
          <p:nvPr/>
        </p:nvGrpSpPr>
        <p:grpSpPr>
          <a:xfrm>
            <a:off x="4355003" y="2688020"/>
            <a:ext cx="1005840" cy="158416"/>
            <a:chOff x="9891406" y="3953789"/>
            <a:chExt cx="895968" cy="158416"/>
          </a:xfrm>
        </p:grpSpPr>
        <p:sp>
          <p:nvSpPr>
            <p:cNvPr id="44" name="Rectangle 43">
              <a:extLst>
                <a:ext uri="{FF2B5EF4-FFF2-40B4-BE49-F238E27FC236}">
                  <a16:creationId xmlns:a16="http://schemas.microsoft.com/office/drawing/2014/main" id="{173C9AD3-8BAD-9CA7-A3C7-39018DEC9536}"/>
                </a:ext>
              </a:extLst>
            </p:cNvPr>
            <p:cNvSpPr/>
            <p:nvPr/>
          </p:nvSpPr>
          <p:spPr>
            <a:xfrm>
              <a:off x="10058400" y="3953789"/>
              <a:ext cx="550345" cy="1584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45" name="Rectangle 44">
              <a:extLst>
                <a:ext uri="{FF2B5EF4-FFF2-40B4-BE49-F238E27FC236}">
                  <a16:creationId xmlns:a16="http://schemas.microsoft.com/office/drawing/2014/main" id="{9BEA481C-A376-7AC9-9689-85F67D914580}"/>
                </a:ext>
              </a:extLst>
            </p:cNvPr>
            <p:cNvSpPr/>
            <p:nvPr/>
          </p:nvSpPr>
          <p:spPr>
            <a:xfrm>
              <a:off x="10608745" y="3953789"/>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46" name="Rectangle 45">
              <a:extLst>
                <a:ext uri="{FF2B5EF4-FFF2-40B4-BE49-F238E27FC236}">
                  <a16:creationId xmlns:a16="http://schemas.microsoft.com/office/drawing/2014/main" id="{5809A5CD-2519-715D-A1A6-BDE40DBC4DAB}"/>
                </a:ext>
              </a:extLst>
            </p:cNvPr>
            <p:cNvSpPr/>
            <p:nvPr/>
          </p:nvSpPr>
          <p:spPr>
            <a:xfrm>
              <a:off x="9891406" y="3953789"/>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nvGrpSpPr>
          <p:cNvPr id="47" name="3-packet 11:00">
            <a:extLst>
              <a:ext uri="{FF2B5EF4-FFF2-40B4-BE49-F238E27FC236}">
                <a16:creationId xmlns:a16="http://schemas.microsoft.com/office/drawing/2014/main" id="{0D14DD03-9EFD-9E43-2D4F-F6D0AD60F115}"/>
              </a:ext>
            </a:extLst>
          </p:cNvPr>
          <p:cNvGrpSpPr/>
          <p:nvPr/>
        </p:nvGrpSpPr>
        <p:grpSpPr>
          <a:xfrm>
            <a:off x="4355003" y="2688020"/>
            <a:ext cx="1005840" cy="158416"/>
            <a:chOff x="9891406" y="3953789"/>
            <a:chExt cx="788229" cy="158416"/>
          </a:xfrm>
        </p:grpSpPr>
        <p:sp>
          <p:nvSpPr>
            <p:cNvPr id="48" name="Rectangle 47">
              <a:extLst>
                <a:ext uri="{FF2B5EF4-FFF2-40B4-BE49-F238E27FC236}">
                  <a16:creationId xmlns:a16="http://schemas.microsoft.com/office/drawing/2014/main" id="{A43BA30E-E490-2DDD-21AF-17880A9BDD4E}"/>
                </a:ext>
              </a:extLst>
            </p:cNvPr>
            <p:cNvSpPr/>
            <p:nvPr/>
          </p:nvSpPr>
          <p:spPr>
            <a:xfrm>
              <a:off x="10058400" y="3953789"/>
              <a:ext cx="550345" cy="1584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49" name="Rectangle 48">
              <a:extLst>
                <a:ext uri="{FF2B5EF4-FFF2-40B4-BE49-F238E27FC236}">
                  <a16:creationId xmlns:a16="http://schemas.microsoft.com/office/drawing/2014/main" id="{D65A0DD1-64FF-5B11-0339-83543CC1D314}"/>
                </a:ext>
              </a:extLst>
            </p:cNvPr>
            <p:cNvSpPr/>
            <p:nvPr/>
          </p:nvSpPr>
          <p:spPr>
            <a:xfrm>
              <a:off x="10501006" y="3953789"/>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50" name="Rectangle 49">
              <a:extLst>
                <a:ext uri="{FF2B5EF4-FFF2-40B4-BE49-F238E27FC236}">
                  <a16:creationId xmlns:a16="http://schemas.microsoft.com/office/drawing/2014/main" id="{F5EBB263-48AF-5B6B-31A6-00B90F9C2A24}"/>
                </a:ext>
              </a:extLst>
            </p:cNvPr>
            <p:cNvSpPr/>
            <p:nvPr/>
          </p:nvSpPr>
          <p:spPr>
            <a:xfrm>
              <a:off x="9891406" y="3953789"/>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nvGrpSpPr>
          <p:cNvPr id="51" name="3-packet 1:00">
            <a:extLst>
              <a:ext uri="{FF2B5EF4-FFF2-40B4-BE49-F238E27FC236}">
                <a16:creationId xmlns:a16="http://schemas.microsoft.com/office/drawing/2014/main" id="{1E89E379-28C4-14BB-6E6B-344F924DD39C}"/>
              </a:ext>
            </a:extLst>
          </p:cNvPr>
          <p:cNvGrpSpPr/>
          <p:nvPr/>
        </p:nvGrpSpPr>
        <p:grpSpPr>
          <a:xfrm>
            <a:off x="4355003" y="2688020"/>
            <a:ext cx="1005840" cy="158416"/>
            <a:chOff x="9891406" y="3953789"/>
            <a:chExt cx="895968" cy="158416"/>
          </a:xfrm>
        </p:grpSpPr>
        <p:sp>
          <p:nvSpPr>
            <p:cNvPr id="52" name="Rectangle 51">
              <a:extLst>
                <a:ext uri="{FF2B5EF4-FFF2-40B4-BE49-F238E27FC236}">
                  <a16:creationId xmlns:a16="http://schemas.microsoft.com/office/drawing/2014/main" id="{9588E60C-689B-8E06-A3E0-651FAB17A1CC}"/>
                </a:ext>
              </a:extLst>
            </p:cNvPr>
            <p:cNvSpPr/>
            <p:nvPr/>
          </p:nvSpPr>
          <p:spPr>
            <a:xfrm>
              <a:off x="10058400" y="3953789"/>
              <a:ext cx="550345" cy="1584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53" name="Rectangle 52">
              <a:extLst>
                <a:ext uri="{FF2B5EF4-FFF2-40B4-BE49-F238E27FC236}">
                  <a16:creationId xmlns:a16="http://schemas.microsoft.com/office/drawing/2014/main" id="{70E418D7-13E8-5BED-82F5-4B022048DB2B}"/>
                </a:ext>
              </a:extLst>
            </p:cNvPr>
            <p:cNvSpPr/>
            <p:nvPr/>
          </p:nvSpPr>
          <p:spPr>
            <a:xfrm>
              <a:off x="10608745" y="3953789"/>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54" name="Rectangle 53">
              <a:extLst>
                <a:ext uri="{FF2B5EF4-FFF2-40B4-BE49-F238E27FC236}">
                  <a16:creationId xmlns:a16="http://schemas.microsoft.com/office/drawing/2014/main" id="{75F066DA-BC3B-C161-9A51-1C015F463451}"/>
                </a:ext>
              </a:extLst>
            </p:cNvPr>
            <p:cNvSpPr/>
            <p:nvPr/>
          </p:nvSpPr>
          <p:spPr>
            <a:xfrm>
              <a:off x="9891406" y="3953789"/>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nvGrpSpPr>
          <p:cNvPr id="55" name="3-packet 1">
            <a:extLst>
              <a:ext uri="{FF2B5EF4-FFF2-40B4-BE49-F238E27FC236}">
                <a16:creationId xmlns:a16="http://schemas.microsoft.com/office/drawing/2014/main" id="{9B8ED305-F83E-2E81-D750-9FCA676225A8}"/>
              </a:ext>
            </a:extLst>
          </p:cNvPr>
          <p:cNvGrpSpPr/>
          <p:nvPr/>
        </p:nvGrpSpPr>
        <p:grpSpPr>
          <a:xfrm>
            <a:off x="6019799" y="3462349"/>
            <a:ext cx="1005840" cy="158416"/>
            <a:chOff x="3468936" y="2331463"/>
            <a:chExt cx="1119080" cy="197864"/>
          </a:xfrm>
        </p:grpSpPr>
        <p:sp>
          <p:nvSpPr>
            <p:cNvPr id="56" name="Rectangle 55">
              <a:extLst>
                <a:ext uri="{FF2B5EF4-FFF2-40B4-BE49-F238E27FC236}">
                  <a16:creationId xmlns:a16="http://schemas.microsoft.com/office/drawing/2014/main" id="{F1669192-D568-F081-82DA-C8A1833F1322}"/>
                </a:ext>
              </a:extLst>
            </p:cNvPr>
            <p:cNvSpPr/>
            <p:nvPr/>
          </p:nvSpPr>
          <p:spPr>
            <a:xfrm>
              <a:off x="3677515" y="2331463"/>
              <a:ext cx="687390" cy="19786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57" name="Rectangle 56">
              <a:extLst>
                <a:ext uri="{FF2B5EF4-FFF2-40B4-BE49-F238E27FC236}">
                  <a16:creationId xmlns:a16="http://schemas.microsoft.com/office/drawing/2014/main" id="{390D371C-A467-0990-BDDF-C1E6823313B8}"/>
                </a:ext>
              </a:extLst>
            </p:cNvPr>
            <p:cNvSpPr/>
            <p:nvPr/>
          </p:nvSpPr>
          <p:spPr>
            <a:xfrm>
              <a:off x="4364905"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58" name="Rectangle 57">
              <a:extLst>
                <a:ext uri="{FF2B5EF4-FFF2-40B4-BE49-F238E27FC236}">
                  <a16:creationId xmlns:a16="http://schemas.microsoft.com/office/drawing/2014/main" id="{EBE5B846-51A2-18C9-EA07-538134C61729}"/>
                </a:ext>
              </a:extLst>
            </p:cNvPr>
            <p:cNvSpPr/>
            <p:nvPr/>
          </p:nvSpPr>
          <p:spPr>
            <a:xfrm>
              <a:off x="3468936" y="2331463"/>
              <a:ext cx="223110"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nvGrpSpPr>
          <p:cNvPr id="59" name="2-5">
            <a:extLst>
              <a:ext uri="{FF2B5EF4-FFF2-40B4-BE49-F238E27FC236}">
                <a16:creationId xmlns:a16="http://schemas.microsoft.com/office/drawing/2014/main" id="{42E6041E-DA73-14BA-2491-21B8DEBEA6D7}"/>
              </a:ext>
            </a:extLst>
          </p:cNvPr>
          <p:cNvGrpSpPr/>
          <p:nvPr/>
        </p:nvGrpSpPr>
        <p:grpSpPr>
          <a:xfrm>
            <a:off x="4355003" y="2688020"/>
            <a:ext cx="1005840" cy="368663"/>
            <a:chOff x="4134331" y="2667000"/>
            <a:chExt cx="902835" cy="368663"/>
          </a:xfrm>
        </p:grpSpPr>
        <p:grpSp>
          <p:nvGrpSpPr>
            <p:cNvPr id="60" name="Group 59">
              <a:extLst>
                <a:ext uri="{FF2B5EF4-FFF2-40B4-BE49-F238E27FC236}">
                  <a16:creationId xmlns:a16="http://schemas.microsoft.com/office/drawing/2014/main" id="{D39DB850-88F6-E7EC-728C-385C613DCEE2}"/>
                </a:ext>
              </a:extLst>
            </p:cNvPr>
            <p:cNvGrpSpPr/>
            <p:nvPr/>
          </p:nvGrpSpPr>
          <p:grpSpPr>
            <a:xfrm>
              <a:off x="4134331" y="2667000"/>
              <a:ext cx="895968" cy="158416"/>
              <a:chOff x="3512095" y="2331463"/>
              <a:chExt cx="1119079" cy="197864"/>
            </a:xfrm>
          </p:grpSpPr>
          <p:sp>
            <p:nvSpPr>
              <p:cNvPr id="65" name="Rectangle 64">
                <a:extLst>
                  <a:ext uri="{FF2B5EF4-FFF2-40B4-BE49-F238E27FC236}">
                    <a16:creationId xmlns:a16="http://schemas.microsoft.com/office/drawing/2014/main" id="{E08C6651-2801-2A3C-C688-F3739FDA92D9}"/>
                  </a:ext>
                </a:extLst>
              </p:cNvPr>
              <p:cNvSpPr/>
              <p:nvPr/>
            </p:nvSpPr>
            <p:spPr>
              <a:xfrm>
                <a:off x="3720673" y="2331463"/>
                <a:ext cx="687390" cy="19786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66" name="Rectangle 65">
                <a:extLst>
                  <a:ext uri="{FF2B5EF4-FFF2-40B4-BE49-F238E27FC236}">
                    <a16:creationId xmlns:a16="http://schemas.microsoft.com/office/drawing/2014/main" id="{163350A3-B945-E1F0-D4AC-33DE2F99F19E}"/>
                  </a:ext>
                </a:extLst>
              </p:cNvPr>
              <p:cNvSpPr/>
              <p:nvPr/>
            </p:nvSpPr>
            <p:spPr>
              <a:xfrm>
                <a:off x="4408063"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67" name="Rectangle 66">
                <a:extLst>
                  <a:ext uri="{FF2B5EF4-FFF2-40B4-BE49-F238E27FC236}">
                    <a16:creationId xmlns:a16="http://schemas.microsoft.com/office/drawing/2014/main" id="{37D26BD4-CD4C-9830-1E15-67342D409125}"/>
                  </a:ext>
                </a:extLst>
              </p:cNvPr>
              <p:cNvSpPr/>
              <p:nvPr/>
            </p:nvSpPr>
            <p:spPr>
              <a:xfrm>
                <a:off x="3512095"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nvGrpSpPr>
            <p:cNvPr id="61" name="Group 60">
              <a:extLst>
                <a:ext uri="{FF2B5EF4-FFF2-40B4-BE49-F238E27FC236}">
                  <a16:creationId xmlns:a16="http://schemas.microsoft.com/office/drawing/2014/main" id="{A4E84DFD-3F7D-4A2F-714B-27EAFE889EA7}"/>
                </a:ext>
              </a:extLst>
            </p:cNvPr>
            <p:cNvGrpSpPr/>
            <p:nvPr/>
          </p:nvGrpSpPr>
          <p:grpSpPr>
            <a:xfrm>
              <a:off x="4141197" y="2877246"/>
              <a:ext cx="895969" cy="158417"/>
              <a:chOff x="3517527" y="2331462"/>
              <a:chExt cx="1119078" cy="197865"/>
            </a:xfrm>
          </p:grpSpPr>
          <p:sp>
            <p:nvSpPr>
              <p:cNvPr id="62" name="Rectangle 61">
                <a:extLst>
                  <a:ext uri="{FF2B5EF4-FFF2-40B4-BE49-F238E27FC236}">
                    <a16:creationId xmlns:a16="http://schemas.microsoft.com/office/drawing/2014/main" id="{BFF69ED6-3100-5EF5-A3A1-C9219C26700E}"/>
                  </a:ext>
                </a:extLst>
              </p:cNvPr>
              <p:cNvSpPr/>
              <p:nvPr/>
            </p:nvSpPr>
            <p:spPr>
              <a:xfrm>
                <a:off x="3726105" y="2331463"/>
                <a:ext cx="687390" cy="19786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63" name="Rectangle 62">
                <a:extLst>
                  <a:ext uri="{FF2B5EF4-FFF2-40B4-BE49-F238E27FC236}">
                    <a16:creationId xmlns:a16="http://schemas.microsoft.com/office/drawing/2014/main" id="{4B0FF88E-C9DD-E377-B301-AB3A77E2900F}"/>
                  </a:ext>
                </a:extLst>
              </p:cNvPr>
              <p:cNvSpPr/>
              <p:nvPr/>
            </p:nvSpPr>
            <p:spPr>
              <a:xfrm>
                <a:off x="4413495" y="2331462"/>
                <a:ext cx="223110"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64" name="Rectangle 63">
                <a:extLst>
                  <a:ext uri="{FF2B5EF4-FFF2-40B4-BE49-F238E27FC236}">
                    <a16:creationId xmlns:a16="http://schemas.microsoft.com/office/drawing/2014/main" id="{B7B2F6D0-6D46-7450-44B6-8EEE470FAC51}"/>
                  </a:ext>
                </a:extLst>
              </p:cNvPr>
              <p:cNvSpPr/>
              <p:nvPr/>
            </p:nvSpPr>
            <p:spPr>
              <a:xfrm>
                <a:off x="3517527"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grpSp>
        <p:nvGrpSpPr>
          <p:cNvPr id="68" name="2-4">
            <a:extLst>
              <a:ext uri="{FF2B5EF4-FFF2-40B4-BE49-F238E27FC236}">
                <a16:creationId xmlns:a16="http://schemas.microsoft.com/office/drawing/2014/main" id="{35098D27-809C-1F41-0FF1-8D1DC5EC3B5F}"/>
              </a:ext>
            </a:extLst>
          </p:cNvPr>
          <p:cNvGrpSpPr/>
          <p:nvPr/>
        </p:nvGrpSpPr>
        <p:grpSpPr>
          <a:xfrm>
            <a:off x="4355003" y="2688020"/>
            <a:ext cx="1005840" cy="368663"/>
            <a:chOff x="4134331" y="2667000"/>
            <a:chExt cx="902835" cy="368663"/>
          </a:xfrm>
        </p:grpSpPr>
        <p:grpSp>
          <p:nvGrpSpPr>
            <p:cNvPr id="69" name="Group 68">
              <a:extLst>
                <a:ext uri="{FF2B5EF4-FFF2-40B4-BE49-F238E27FC236}">
                  <a16:creationId xmlns:a16="http://schemas.microsoft.com/office/drawing/2014/main" id="{FF16B48D-3502-8605-C852-3200C40F9953}"/>
                </a:ext>
              </a:extLst>
            </p:cNvPr>
            <p:cNvGrpSpPr/>
            <p:nvPr/>
          </p:nvGrpSpPr>
          <p:grpSpPr>
            <a:xfrm>
              <a:off x="4134331" y="2667000"/>
              <a:ext cx="895968" cy="158416"/>
              <a:chOff x="3512095" y="2331463"/>
              <a:chExt cx="1119079" cy="197864"/>
            </a:xfrm>
          </p:grpSpPr>
          <p:sp>
            <p:nvSpPr>
              <p:cNvPr id="74" name="Rectangle 73">
                <a:extLst>
                  <a:ext uri="{FF2B5EF4-FFF2-40B4-BE49-F238E27FC236}">
                    <a16:creationId xmlns:a16="http://schemas.microsoft.com/office/drawing/2014/main" id="{41E72C2D-2E8B-E925-4D23-4DC63304194B}"/>
                  </a:ext>
                </a:extLst>
              </p:cNvPr>
              <p:cNvSpPr/>
              <p:nvPr/>
            </p:nvSpPr>
            <p:spPr>
              <a:xfrm>
                <a:off x="3720673" y="2331463"/>
                <a:ext cx="687390" cy="19786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75" name="Rectangle 74">
                <a:extLst>
                  <a:ext uri="{FF2B5EF4-FFF2-40B4-BE49-F238E27FC236}">
                    <a16:creationId xmlns:a16="http://schemas.microsoft.com/office/drawing/2014/main" id="{AB70BFAE-3649-49E8-9883-9E67D44DA34E}"/>
                  </a:ext>
                </a:extLst>
              </p:cNvPr>
              <p:cNvSpPr/>
              <p:nvPr/>
            </p:nvSpPr>
            <p:spPr>
              <a:xfrm>
                <a:off x="4408063"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76" name="Rectangle 75">
                <a:extLst>
                  <a:ext uri="{FF2B5EF4-FFF2-40B4-BE49-F238E27FC236}">
                    <a16:creationId xmlns:a16="http://schemas.microsoft.com/office/drawing/2014/main" id="{2A271054-AA89-5DB7-30E4-EBDC58B95AD4}"/>
                  </a:ext>
                </a:extLst>
              </p:cNvPr>
              <p:cNvSpPr/>
              <p:nvPr/>
            </p:nvSpPr>
            <p:spPr>
              <a:xfrm>
                <a:off x="3512095"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nvGrpSpPr>
            <p:cNvPr id="70" name="Group 69">
              <a:extLst>
                <a:ext uri="{FF2B5EF4-FFF2-40B4-BE49-F238E27FC236}">
                  <a16:creationId xmlns:a16="http://schemas.microsoft.com/office/drawing/2014/main" id="{B069111D-0659-9FB1-EEDF-C087727B1D69}"/>
                </a:ext>
              </a:extLst>
            </p:cNvPr>
            <p:cNvGrpSpPr/>
            <p:nvPr/>
          </p:nvGrpSpPr>
          <p:grpSpPr>
            <a:xfrm>
              <a:off x="4141197" y="2877246"/>
              <a:ext cx="895969" cy="158417"/>
              <a:chOff x="3517527" y="2331462"/>
              <a:chExt cx="1119078" cy="197865"/>
            </a:xfrm>
          </p:grpSpPr>
          <p:sp>
            <p:nvSpPr>
              <p:cNvPr id="71" name="Rectangle 70">
                <a:extLst>
                  <a:ext uri="{FF2B5EF4-FFF2-40B4-BE49-F238E27FC236}">
                    <a16:creationId xmlns:a16="http://schemas.microsoft.com/office/drawing/2014/main" id="{E1A1888C-8346-0D2E-9B18-4F13A2306746}"/>
                  </a:ext>
                </a:extLst>
              </p:cNvPr>
              <p:cNvSpPr/>
              <p:nvPr/>
            </p:nvSpPr>
            <p:spPr>
              <a:xfrm>
                <a:off x="3726105" y="2331463"/>
                <a:ext cx="687390" cy="19786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72" name="Rectangle 71">
                <a:extLst>
                  <a:ext uri="{FF2B5EF4-FFF2-40B4-BE49-F238E27FC236}">
                    <a16:creationId xmlns:a16="http://schemas.microsoft.com/office/drawing/2014/main" id="{AF2EB172-4A24-CC73-2766-C342D64251DC}"/>
                  </a:ext>
                </a:extLst>
              </p:cNvPr>
              <p:cNvSpPr/>
              <p:nvPr/>
            </p:nvSpPr>
            <p:spPr>
              <a:xfrm>
                <a:off x="4413495" y="2331462"/>
                <a:ext cx="223110"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73" name="Rectangle 72">
                <a:extLst>
                  <a:ext uri="{FF2B5EF4-FFF2-40B4-BE49-F238E27FC236}">
                    <a16:creationId xmlns:a16="http://schemas.microsoft.com/office/drawing/2014/main" id="{AD95DA59-D793-C009-F3B6-0CFDCF2F9FDC}"/>
                  </a:ext>
                </a:extLst>
              </p:cNvPr>
              <p:cNvSpPr/>
              <p:nvPr/>
            </p:nvSpPr>
            <p:spPr>
              <a:xfrm>
                <a:off x="3517527"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grpSp>
        <p:nvGrpSpPr>
          <p:cNvPr id="77" name="2-3">
            <a:extLst>
              <a:ext uri="{FF2B5EF4-FFF2-40B4-BE49-F238E27FC236}">
                <a16:creationId xmlns:a16="http://schemas.microsoft.com/office/drawing/2014/main" id="{D606B205-CA9A-6BCE-5F89-69C778EDEFDB}"/>
              </a:ext>
            </a:extLst>
          </p:cNvPr>
          <p:cNvGrpSpPr/>
          <p:nvPr/>
        </p:nvGrpSpPr>
        <p:grpSpPr>
          <a:xfrm>
            <a:off x="4355003" y="2688020"/>
            <a:ext cx="1005840" cy="368661"/>
            <a:chOff x="4144840" y="2667000"/>
            <a:chExt cx="898480" cy="368661"/>
          </a:xfrm>
        </p:grpSpPr>
        <p:grpSp>
          <p:nvGrpSpPr>
            <p:cNvPr id="78" name="Group 77">
              <a:extLst>
                <a:ext uri="{FF2B5EF4-FFF2-40B4-BE49-F238E27FC236}">
                  <a16:creationId xmlns:a16="http://schemas.microsoft.com/office/drawing/2014/main" id="{0A4D98F1-AAD6-5799-0015-8BBE4EF35FEE}"/>
                </a:ext>
              </a:extLst>
            </p:cNvPr>
            <p:cNvGrpSpPr/>
            <p:nvPr/>
          </p:nvGrpSpPr>
          <p:grpSpPr>
            <a:xfrm>
              <a:off x="4144840" y="2667000"/>
              <a:ext cx="895968" cy="158416"/>
              <a:chOff x="3525222" y="2331463"/>
              <a:chExt cx="1119079" cy="197864"/>
            </a:xfrm>
          </p:grpSpPr>
          <p:sp>
            <p:nvSpPr>
              <p:cNvPr id="83" name="Rectangle 82">
                <a:extLst>
                  <a:ext uri="{FF2B5EF4-FFF2-40B4-BE49-F238E27FC236}">
                    <a16:creationId xmlns:a16="http://schemas.microsoft.com/office/drawing/2014/main" id="{3FCC7494-03E8-5B34-390E-9A66EB3174CF}"/>
                  </a:ext>
                </a:extLst>
              </p:cNvPr>
              <p:cNvSpPr/>
              <p:nvPr/>
            </p:nvSpPr>
            <p:spPr>
              <a:xfrm>
                <a:off x="3733800" y="2331463"/>
                <a:ext cx="687390" cy="19786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84" name="Rectangle 83">
                <a:extLst>
                  <a:ext uri="{FF2B5EF4-FFF2-40B4-BE49-F238E27FC236}">
                    <a16:creationId xmlns:a16="http://schemas.microsoft.com/office/drawing/2014/main" id="{330D165E-4687-A590-692D-BAADE7B76ADC}"/>
                  </a:ext>
                </a:extLst>
              </p:cNvPr>
              <p:cNvSpPr/>
              <p:nvPr/>
            </p:nvSpPr>
            <p:spPr>
              <a:xfrm>
                <a:off x="4421190"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85" name="Rectangle 84">
                <a:extLst>
                  <a:ext uri="{FF2B5EF4-FFF2-40B4-BE49-F238E27FC236}">
                    <a16:creationId xmlns:a16="http://schemas.microsoft.com/office/drawing/2014/main" id="{F35D687D-7742-980B-E9A0-3D6EA37F4C7A}"/>
                  </a:ext>
                </a:extLst>
              </p:cNvPr>
              <p:cNvSpPr/>
              <p:nvPr/>
            </p:nvSpPr>
            <p:spPr>
              <a:xfrm>
                <a:off x="3525222"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nvGrpSpPr>
            <p:cNvPr id="79" name="Group 78">
              <a:extLst>
                <a:ext uri="{FF2B5EF4-FFF2-40B4-BE49-F238E27FC236}">
                  <a16:creationId xmlns:a16="http://schemas.microsoft.com/office/drawing/2014/main" id="{4E8F5926-94FD-93FA-4FA6-644FFBF7F73F}"/>
                </a:ext>
              </a:extLst>
            </p:cNvPr>
            <p:cNvGrpSpPr/>
            <p:nvPr/>
          </p:nvGrpSpPr>
          <p:grpSpPr>
            <a:xfrm>
              <a:off x="4147352" y="2877245"/>
              <a:ext cx="895968" cy="158416"/>
              <a:chOff x="3525222" y="2331463"/>
              <a:chExt cx="1119079" cy="197864"/>
            </a:xfrm>
          </p:grpSpPr>
          <p:sp>
            <p:nvSpPr>
              <p:cNvPr id="80" name="Rectangle 79">
                <a:extLst>
                  <a:ext uri="{FF2B5EF4-FFF2-40B4-BE49-F238E27FC236}">
                    <a16:creationId xmlns:a16="http://schemas.microsoft.com/office/drawing/2014/main" id="{15C69358-E70E-C033-D432-372BB7189133}"/>
                  </a:ext>
                </a:extLst>
              </p:cNvPr>
              <p:cNvSpPr/>
              <p:nvPr/>
            </p:nvSpPr>
            <p:spPr>
              <a:xfrm>
                <a:off x="3733800" y="2331463"/>
                <a:ext cx="687390" cy="19786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81" name="Rectangle 80">
                <a:extLst>
                  <a:ext uri="{FF2B5EF4-FFF2-40B4-BE49-F238E27FC236}">
                    <a16:creationId xmlns:a16="http://schemas.microsoft.com/office/drawing/2014/main" id="{EA651F25-7D71-E3DB-9546-5AB627BB1F04}"/>
                  </a:ext>
                </a:extLst>
              </p:cNvPr>
              <p:cNvSpPr/>
              <p:nvPr/>
            </p:nvSpPr>
            <p:spPr>
              <a:xfrm>
                <a:off x="4421190"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82" name="Rectangle 81">
                <a:extLst>
                  <a:ext uri="{FF2B5EF4-FFF2-40B4-BE49-F238E27FC236}">
                    <a16:creationId xmlns:a16="http://schemas.microsoft.com/office/drawing/2014/main" id="{495E544D-4B4A-D453-825F-04282BF0CE18}"/>
                  </a:ext>
                </a:extLst>
              </p:cNvPr>
              <p:cNvSpPr/>
              <p:nvPr/>
            </p:nvSpPr>
            <p:spPr>
              <a:xfrm>
                <a:off x="3525222"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grpSp>
        <p:nvGrpSpPr>
          <p:cNvPr id="86" name="2-2">
            <a:extLst>
              <a:ext uri="{FF2B5EF4-FFF2-40B4-BE49-F238E27FC236}">
                <a16:creationId xmlns:a16="http://schemas.microsoft.com/office/drawing/2014/main" id="{0DE8031E-9594-A8C7-237F-4940CCF72092}"/>
              </a:ext>
            </a:extLst>
          </p:cNvPr>
          <p:cNvGrpSpPr/>
          <p:nvPr/>
        </p:nvGrpSpPr>
        <p:grpSpPr>
          <a:xfrm>
            <a:off x="4355003" y="2688020"/>
            <a:ext cx="1005840" cy="368661"/>
            <a:chOff x="4144840" y="2667000"/>
            <a:chExt cx="898480" cy="368661"/>
          </a:xfrm>
        </p:grpSpPr>
        <p:grpSp>
          <p:nvGrpSpPr>
            <p:cNvPr id="87" name="Group 86">
              <a:extLst>
                <a:ext uri="{FF2B5EF4-FFF2-40B4-BE49-F238E27FC236}">
                  <a16:creationId xmlns:a16="http://schemas.microsoft.com/office/drawing/2014/main" id="{10FDED7D-BABD-7C5C-FA8E-A267FBEA94A4}"/>
                </a:ext>
              </a:extLst>
            </p:cNvPr>
            <p:cNvGrpSpPr/>
            <p:nvPr/>
          </p:nvGrpSpPr>
          <p:grpSpPr>
            <a:xfrm>
              <a:off x="4144840" y="2667000"/>
              <a:ext cx="895968" cy="158416"/>
              <a:chOff x="3525222" y="2331463"/>
              <a:chExt cx="1119079" cy="197864"/>
            </a:xfrm>
          </p:grpSpPr>
          <p:sp>
            <p:nvSpPr>
              <p:cNvPr id="92" name="Rectangle 91">
                <a:extLst>
                  <a:ext uri="{FF2B5EF4-FFF2-40B4-BE49-F238E27FC236}">
                    <a16:creationId xmlns:a16="http://schemas.microsoft.com/office/drawing/2014/main" id="{2FBEEF30-69B3-AAFD-74F1-A8990929B37E}"/>
                  </a:ext>
                </a:extLst>
              </p:cNvPr>
              <p:cNvSpPr/>
              <p:nvPr/>
            </p:nvSpPr>
            <p:spPr>
              <a:xfrm>
                <a:off x="3733800" y="2331463"/>
                <a:ext cx="687390" cy="19786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93" name="Rectangle 92">
                <a:extLst>
                  <a:ext uri="{FF2B5EF4-FFF2-40B4-BE49-F238E27FC236}">
                    <a16:creationId xmlns:a16="http://schemas.microsoft.com/office/drawing/2014/main" id="{CB7BA8E5-9863-66D5-1577-B81A74EE8506}"/>
                  </a:ext>
                </a:extLst>
              </p:cNvPr>
              <p:cNvSpPr/>
              <p:nvPr/>
            </p:nvSpPr>
            <p:spPr>
              <a:xfrm>
                <a:off x="4421190"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94" name="Rectangle 93">
                <a:extLst>
                  <a:ext uri="{FF2B5EF4-FFF2-40B4-BE49-F238E27FC236}">
                    <a16:creationId xmlns:a16="http://schemas.microsoft.com/office/drawing/2014/main" id="{C049D98C-506B-3A8B-47FF-27E3EC62A5F3}"/>
                  </a:ext>
                </a:extLst>
              </p:cNvPr>
              <p:cNvSpPr/>
              <p:nvPr/>
            </p:nvSpPr>
            <p:spPr>
              <a:xfrm>
                <a:off x="3525222"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nvGrpSpPr>
            <p:cNvPr id="88" name="Group 87">
              <a:extLst>
                <a:ext uri="{FF2B5EF4-FFF2-40B4-BE49-F238E27FC236}">
                  <a16:creationId xmlns:a16="http://schemas.microsoft.com/office/drawing/2014/main" id="{40B846ED-5C4F-B927-9A76-77BC4BB6D034}"/>
                </a:ext>
              </a:extLst>
            </p:cNvPr>
            <p:cNvGrpSpPr/>
            <p:nvPr/>
          </p:nvGrpSpPr>
          <p:grpSpPr>
            <a:xfrm>
              <a:off x="4147352" y="2877245"/>
              <a:ext cx="895968" cy="158416"/>
              <a:chOff x="3525222" y="2331463"/>
              <a:chExt cx="1119079" cy="197864"/>
            </a:xfrm>
          </p:grpSpPr>
          <p:sp>
            <p:nvSpPr>
              <p:cNvPr id="89" name="Rectangle 88">
                <a:extLst>
                  <a:ext uri="{FF2B5EF4-FFF2-40B4-BE49-F238E27FC236}">
                    <a16:creationId xmlns:a16="http://schemas.microsoft.com/office/drawing/2014/main" id="{E56457E3-BFF5-61AE-F02D-E5F242DA5D5C}"/>
                  </a:ext>
                </a:extLst>
              </p:cNvPr>
              <p:cNvSpPr/>
              <p:nvPr/>
            </p:nvSpPr>
            <p:spPr>
              <a:xfrm>
                <a:off x="3733800" y="2331463"/>
                <a:ext cx="687390" cy="19786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90" name="Rectangle 89">
                <a:extLst>
                  <a:ext uri="{FF2B5EF4-FFF2-40B4-BE49-F238E27FC236}">
                    <a16:creationId xmlns:a16="http://schemas.microsoft.com/office/drawing/2014/main" id="{D5F2BBC3-835B-D7C8-789E-44E1E2E702CA}"/>
                  </a:ext>
                </a:extLst>
              </p:cNvPr>
              <p:cNvSpPr/>
              <p:nvPr/>
            </p:nvSpPr>
            <p:spPr>
              <a:xfrm>
                <a:off x="4421190"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91" name="Rectangle 90">
                <a:extLst>
                  <a:ext uri="{FF2B5EF4-FFF2-40B4-BE49-F238E27FC236}">
                    <a16:creationId xmlns:a16="http://schemas.microsoft.com/office/drawing/2014/main" id="{123A9934-D551-9C0D-5D86-900FD134B6D9}"/>
                  </a:ext>
                </a:extLst>
              </p:cNvPr>
              <p:cNvSpPr/>
              <p:nvPr/>
            </p:nvSpPr>
            <p:spPr>
              <a:xfrm>
                <a:off x="3525222"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grpSp>
        <p:nvGrpSpPr>
          <p:cNvPr id="95" name="2-1">
            <a:extLst>
              <a:ext uri="{FF2B5EF4-FFF2-40B4-BE49-F238E27FC236}">
                <a16:creationId xmlns:a16="http://schemas.microsoft.com/office/drawing/2014/main" id="{640B206B-A359-21FE-43CA-DCE5942D4C0D}"/>
              </a:ext>
            </a:extLst>
          </p:cNvPr>
          <p:cNvGrpSpPr/>
          <p:nvPr/>
        </p:nvGrpSpPr>
        <p:grpSpPr>
          <a:xfrm>
            <a:off x="4355003" y="2688020"/>
            <a:ext cx="1005840" cy="368661"/>
            <a:chOff x="4144840" y="2667000"/>
            <a:chExt cx="898480" cy="368661"/>
          </a:xfrm>
        </p:grpSpPr>
        <p:grpSp>
          <p:nvGrpSpPr>
            <p:cNvPr id="96" name="Group 95">
              <a:extLst>
                <a:ext uri="{FF2B5EF4-FFF2-40B4-BE49-F238E27FC236}">
                  <a16:creationId xmlns:a16="http://schemas.microsoft.com/office/drawing/2014/main" id="{5EFC20BC-5C4A-5152-150C-70C25EDE15A7}"/>
                </a:ext>
              </a:extLst>
            </p:cNvPr>
            <p:cNvGrpSpPr/>
            <p:nvPr/>
          </p:nvGrpSpPr>
          <p:grpSpPr>
            <a:xfrm>
              <a:off x="4144840" y="2667000"/>
              <a:ext cx="895968" cy="158416"/>
              <a:chOff x="3525222" y="2331463"/>
              <a:chExt cx="1119079" cy="197864"/>
            </a:xfrm>
          </p:grpSpPr>
          <p:sp>
            <p:nvSpPr>
              <p:cNvPr id="101" name="Rectangle 100">
                <a:extLst>
                  <a:ext uri="{FF2B5EF4-FFF2-40B4-BE49-F238E27FC236}">
                    <a16:creationId xmlns:a16="http://schemas.microsoft.com/office/drawing/2014/main" id="{F3D93D06-39E8-53F1-8952-CB44D1F00074}"/>
                  </a:ext>
                </a:extLst>
              </p:cNvPr>
              <p:cNvSpPr/>
              <p:nvPr/>
            </p:nvSpPr>
            <p:spPr>
              <a:xfrm>
                <a:off x="3733800" y="2331463"/>
                <a:ext cx="687390" cy="19786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02" name="Rectangle 101">
                <a:extLst>
                  <a:ext uri="{FF2B5EF4-FFF2-40B4-BE49-F238E27FC236}">
                    <a16:creationId xmlns:a16="http://schemas.microsoft.com/office/drawing/2014/main" id="{88A22A29-75C7-EBD9-E8AE-2D7F67614F90}"/>
                  </a:ext>
                </a:extLst>
              </p:cNvPr>
              <p:cNvSpPr/>
              <p:nvPr/>
            </p:nvSpPr>
            <p:spPr>
              <a:xfrm>
                <a:off x="4421190"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03" name="Rectangle 102">
                <a:extLst>
                  <a:ext uri="{FF2B5EF4-FFF2-40B4-BE49-F238E27FC236}">
                    <a16:creationId xmlns:a16="http://schemas.microsoft.com/office/drawing/2014/main" id="{E2BCA055-632B-C338-0ECE-3E07FC8F2124}"/>
                  </a:ext>
                </a:extLst>
              </p:cNvPr>
              <p:cNvSpPr/>
              <p:nvPr/>
            </p:nvSpPr>
            <p:spPr>
              <a:xfrm>
                <a:off x="3525222"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nvGrpSpPr>
            <p:cNvPr id="97" name="Group 96">
              <a:extLst>
                <a:ext uri="{FF2B5EF4-FFF2-40B4-BE49-F238E27FC236}">
                  <a16:creationId xmlns:a16="http://schemas.microsoft.com/office/drawing/2014/main" id="{E54861BE-E448-62CF-5F4B-44BBE64D37AE}"/>
                </a:ext>
              </a:extLst>
            </p:cNvPr>
            <p:cNvGrpSpPr/>
            <p:nvPr/>
          </p:nvGrpSpPr>
          <p:grpSpPr>
            <a:xfrm>
              <a:off x="4147352" y="2877245"/>
              <a:ext cx="895968" cy="158416"/>
              <a:chOff x="3525222" y="2331463"/>
              <a:chExt cx="1119079" cy="197864"/>
            </a:xfrm>
          </p:grpSpPr>
          <p:sp>
            <p:nvSpPr>
              <p:cNvPr id="98" name="Rectangle 97">
                <a:extLst>
                  <a:ext uri="{FF2B5EF4-FFF2-40B4-BE49-F238E27FC236}">
                    <a16:creationId xmlns:a16="http://schemas.microsoft.com/office/drawing/2014/main" id="{A43CD1B5-3967-E9E4-EF55-8F3EEEE030F1}"/>
                  </a:ext>
                </a:extLst>
              </p:cNvPr>
              <p:cNvSpPr/>
              <p:nvPr/>
            </p:nvSpPr>
            <p:spPr>
              <a:xfrm>
                <a:off x="3733800" y="2331463"/>
                <a:ext cx="687390" cy="19786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99" name="Rectangle 98">
                <a:extLst>
                  <a:ext uri="{FF2B5EF4-FFF2-40B4-BE49-F238E27FC236}">
                    <a16:creationId xmlns:a16="http://schemas.microsoft.com/office/drawing/2014/main" id="{41277264-17D1-58E8-721A-237433A975CF}"/>
                  </a:ext>
                </a:extLst>
              </p:cNvPr>
              <p:cNvSpPr/>
              <p:nvPr/>
            </p:nvSpPr>
            <p:spPr>
              <a:xfrm>
                <a:off x="4421190"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00" name="Rectangle 99">
                <a:extLst>
                  <a:ext uri="{FF2B5EF4-FFF2-40B4-BE49-F238E27FC236}">
                    <a16:creationId xmlns:a16="http://schemas.microsoft.com/office/drawing/2014/main" id="{2559FDB7-16A0-C5A8-5F74-3AACF2D5887B}"/>
                  </a:ext>
                </a:extLst>
              </p:cNvPr>
              <p:cNvSpPr/>
              <p:nvPr/>
            </p:nvSpPr>
            <p:spPr>
              <a:xfrm>
                <a:off x="3525222"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grpSp>
        <p:nvGrpSpPr>
          <p:cNvPr id="104" name="2-single bottom left">
            <a:extLst>
              <a:ext uri="{FF2B5EF4-FFF2-40B4-BE49-F238E27FC236}">
                <a16:creationId xmlns:a16="http://schemas.microsoft.com/office/drawing/2014/main" id="{5D61319E-9D85-E436-49A6-C0144F9C7697}"/>
              </a:ext>
            </a:extLst>
          </p:cNvPr>
          <p:cNvGrpSpPr/>
          <p:nvPr/>
        </p:nvGrpSpPr>
        <p:grpSpPr>
          <a:xfrm>
            <a:off x="1957781" y="3513673"/>
            <a:ext cx="1005840" cy="158416"/>
            <a:chOff x="3525222" y="2331463"/>
            <a:chExt cx="1119079" cy="197864"/>
          </a:xfrm>
        </p:grpSpPr>
        <p:sp>
          <p:nvSpPr>
            <p:cNvPr id="105" name="Rectangle 104">
              <a:extLst>
                <a:ext uri="{FF2B5EF4-FFF2-40B4-BE49-F238E27FC236}">
                  <a16:creationId xmlns:a16="http://schemas.microsoft.com/office/drawing/2014/main" id="{E23F40D6-A7CF-804A-41C4-C3093F2BBBEB}"/>
                </a:ext>
              </a:extLst>
            </p:cNvPr>
            <p:cNvSpPr/>
            <p:nvPr/>
          </p:nvSpPr>
          <p:spPr>
            <a:xfrm>
              <a:off x="3733800" y="2331463"/>
              <a:ext cx="687390" cy="19786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06" name="Rectangle 105">
              <a:extLst>
                <a:ext uri="{FF2B5EF4-FFF2-40B4-BE49-F238E27FC236}">
                  <a16:creationId xmlns:a16="http://schemas.microsoft.com/office/drawing/2014/main" id="{D3025734-B38F-3D2D-3F96-15983E5230D8}"/>
                </a:ext>
              </a:extLst>
            </p:cNvPr>
            <p:cNvSpPr/>
            <p:nvPr/>
          </p:nvSpPr>
          <p:spPr>
            <a:xfrm>
              <a:off x="4421190"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07" name="Rectangle 106">
              <a:extLst>
                <a:ext uri="{FF2B5EF4-FFF2-40B4-BE49-F238E27FC236}">
                  <a16:creationId xmlns:a16="http://schemas.microsoft.com/office/drawing/2014/main" id="{932989EB-28C0-7350-6FC1-46155AB0D86B}"/>
                </a:ext>
              </a:extLst>
            </p:cNvPr>
            <p:cNvSpPr/>
            <p:nvPr/>
          </p:nvSpPr>
          <p:spPr>
            <a:xfrm>
              <a:off x="3525222"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nvGrpSpPr>
          <p:cNvPr id="108" name="2-single top left">
            <a:extLst>
              <a:ext uri="{FF2B5EF4-FFF2-40B4-BE49-F238E27FC236}">
                <a16:creationId xmlns:a16="http://schemas.microsoft.com/office/drawing/2014/main" id="{41D36740-6418-2051-435B-F36B05994E51}"/>
              </a:ext>
            </a:extLst>
          </p:cNvPr>
          <p:cNvGrpSpPr/>
          <p:nvPr/>
        </p:nvGrpSpPr>
        <p:grpSpPr>
          <a:xfrm>
            <a:off x="2310449" y="1872532"/>
            <a:ext cx="1005840" cy="158416"/>
            <a:chOff x="9891406" y="3953789"/>
            <a:chExt cx="895968" cy="158416"/>
          </a:xfrm>
        </p:grpSpPr>
        <p:sp>
          <p:nvSpPr>
            <p:cNvPr id="109" name="Rectangle 108">
              <a:extLst>
                <a:ext uri="{FF2B5EF4-FFF2-40B4-BE49-F238E27FC236}">
                  <a16:creationId xmlns:a16="http://schemas.microsoft.com/office/drawing/2014/main" id="{D65D9A83-3B50-4E83-C6B7-6E04124E759A}"/>
                </a:ext>
              </a:extLst>
            </p:cNvPr>
            <p:cNvSpPr/>
            <p:nvPr/>
          </p:nvSpPr>
          <p:spPr>
            <a:xfrm>
              <a:off x="10058400" y="3953789"/>
              <a:ext cx="550345" cy="1584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10" name="Rectangle 109">
              <a:extLst>
                <a:ext uri="{FF2B5EF4-FFF2-40B4-BE49-F238E27FC236}">
                  <a16:creationId xmlns:a16="http://schemas.microsoft.com/office/drawing/2014/main" id="{63AA7DD3-1663-830F-2326-44122BABAADC}"/>
                </a:ext>
              </a:extLst>
            </p:cNvPr>
            <p:cNvSpPr/>
            <p:nvPr/>
          </p:nvSpPr>
          <p:spPr>
            <a:xfrm>
              <a:off x="10608745" y="3953789"/>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11" name="Rectangle 110">
              <a:extLst>
                <a:ext uri="{FF2B5EF4-FFF2-40B4-BE49-F238E27FC236}">
                  <a16:creationId xmlns:a16="http://schemas.microsoft.com/office/drawing/2014/main" id="{025B8420-C180-977C-3F32-56257A5CA08B}"/>
                </a:ext>
              </a:extLst>
            </p:cNvPr>
            <p:cNvSpPr/>
            <p:nvPr/>
          </p:nvSpPr>
          <p:spPr>
            <a:xfrm>
              <a:off x="9891406" y="3953789"/>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nvGrpSpPr>
          <p:cNvPr id="112" name="1-packet 1:00">
            <a:extLst>
              <a:ext uri="{FF2B5EF4-FFF2-40B4-BE49-F238E27FC236}">
                <a16:creationId xmlns:a16="http://schemas.microsoft.com/office/drawing/2014/main" id="{9821F689-EA06-61E1-3D0B-2C07F15C2724}"/>
              </a:ext>
            </a:extLst>
          </p:cNvPr>
          <p:cNvGrpSpPr/>
          <p:nvPr/>
        </p:nvGrpSpPr>
        <p:grpSpPr>
          <a:xfrm>
            <a:off x="4355003" y="2688020"/>
            <a:ext cx="1005840" cy="158416"/>
            <a:chOff x="9891406" y="3953789"/>
            <a:chExt cx="895968" cy="158416"/>
          </a:xfrm>
        </p:grpSpPr>
        <p:sp>
          <p:nvSpPr>
            <p:cNvPr id="113" name="Rectangle 112">
              <a:extLst>
                <a:ext uri="{FF2B5EF4-FFF2-40B4-BE49-F238E27FC236}">
                  <a16:creationId xmlns:a16="http://schemas.microsoft.com/office/drawing/2014/main" id="{8A6006A5-8EA3-2A8C-1ABB-0353B29B7B70}"/>
                </a:ext>
              </a:extLst>
            </p:cNvPr>
            <p:cNvSpPr/>
            <p:nvPr/>
          </p:nvSpPr>
          <p:spPr>
            <a:xfrm>
              <a:off x="10058400" y="3953789"/>
              <a:ext cx="550345" cy="1584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14" name="Rectangle 113">
              <a:extLst>
                <a:ext uri="{FF2B5EF4-FFF2-40B4-BE49-F238E27FC236}">
                  <a16:creationId xmlns:a16="http://schemas.microsoft.com/office/drawing/2014/main" id="{D9DCAAA7-D2F8-59CC-9DFB-BCF00D963963}"/>
                </a:ext>
              </a:extLst>
            </p:cNvPr>
            <p:cNvSpPr/>
            <p:nvPr/>
          </p:nvSpPr>
          <p:spPr>
            <a:xfrm>
              <a:off x="10608745" y="3953789"/>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15" name="Rectangle 114">
              <a:extLst>
                <a:ext uri="{FF2B5EF4-FFF2-40B4-BE49-F238E27FC236}">
                  <a16:creationId xmlns:a16="http://schemas.microsoft.com/office/drawing/2014/main" id="{5DB140C3-781C-7B11-4491-0EF43546D278}"/>
                </a:ext>
              </a:extLst>
            </p:cNvPr>
            <p:cNvSpPr/>
            <p:nvPr/>
          </p:nvSpPr>
          <p:spPr>
            <a:xfrm>
              <a:off x="9891406" y="3953789"/>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nvGrpSpPr>
          <p:cNvPr id="116" name="1-packet 11:00">
            <a:extLst>
              <a:ext uri="{FF2B5EF4-FFF2-40B4-BE49-F238E27FC236}">
                <a16:creationId xmlns:a16="http://schemas.microsoft.com/office/drawing/2014/main" id="{F03E164E-7772-F35D-904F-83247870FD78}"/>
              </a:ext>
            </a:extLst>
          </p:cNvPr>
          <p:cNvGrpSpPr/>
          <p:nvPr/>
        </p:nvGrpSpPr>
        <p:grpSpPr>
          <a:xfrm>
            <a:off x="4355003" y="2688020"/>
            <a:ext cx="1005840" cy="158416"/>
            <a:chOff x="9891406" y="3953789"/>
            <a:chExt cx="895968" cy="158416"/>
          </a:xfrm>
        </p:grpSpPr>
        <p:sp>
          <p:nvSpPr>
            <p:cNvPr id="117" name="Rectangle 116">
              <a:extLst>
                <a:ext uri="{FF2B5EF4-FFF2-40B4-BE49-F238E27FC236}">
                  <a16:creationId xmlns:a16="http://schemas.microsoft.com/office/drawing/2014/main" id="{68EB859C-9767-8B33-BD15-C1890061468A}"/>
                </a:ext>
              </a:extLst>
            </p:cNvPr>
            <p:cNvSpPr/>
            <p:nvPr/>
          </p:nvSpPr>
          <p:spPr>
            <a:xfrm>
              <a:off x="10058400" y="3953789"/>
              <a:ext cx="550345" cy="1584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18" name="Rectangle 117">
              <a:extLst>
                <a:ext uri="{FF2B5EF4-FFF2-40B4-BE49-F238E27FC236}">
                  <a16:creationId xmlns:a16="http://schemas.microsoft.com/office/drawing/2014/main" id="{BBB44387-C322-0DCD-84A6-572FC02FD2CA}"/>
                </a:ext>
              </a:extLst>
            </p:cNvPr>
            <p:cNvSpPr/>
            <p:nvPr/>
          </p:nvSpPr>
          <p:spPr>
            <a:xfrm>
              <a:off x="10608745" y="3953789"/>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19" name="Rectangle 118">
              <a:extLst>
                <a:ext uri="{FF2B5EF4-FFF2-40B4-BE49-F238E27FC236}">
                  <a16:creationId xmlns:a16="http://schemas.microsoft.com/office/drawing/2014/main" id="{70FAD7AB-A236-8AEA-6B8E-901CB00D5CB7}"/>
                </a:ext>
              </a:extLst>
            </p:cNvPr>
            <p:cNvSpPr/>
            <p:nvPr/>
          </p:nvSpPr>
          <p:spPr>
            <a:xfrm>
              <a:off x="9891406" y="3953789"/>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nvGrpSpPr>
          <p:cNvPr id="120" name="1-packet 1">
            <a:extLst>
              <a:ext uri="{FF2B5EF4-FFF2-40B4-BE49-F238E27FC236}">
                <a16:creationId xmlns:a16="http://schemas.microsoft.com/office/drawing/2014/main" id="{21187D09-492E-CC80-0804-0DBA614BF5C1}"/>
              </a:ext>
            </a:extLst>
          </p:cNvPr>
          <p:cNvGrpSpPr/>
          <p:nvPr/>
        </p:nvGrpSpPr>
        <p:grpSpPr>
          <a:xfrm>
            <a:off x="6019800" y="3460215"/>
            <a:ext cx="1005840" cy="158416"/>
            <a:chOff x="3525222" y="2331463"/>
            <a:chExt cx="1119079" cy="197864"/>
          </a:xfrm>
        </p:grpSpPr>
        <p:sp>
          <p:nvSpPr>
            <p:cNvPr id="121" name="Rectangle 120">
              <a:extLst>
                <a:ext uri="{FF2B5EF4-FFF2-40B4-BE49-F238E27FC236}">
                  <a16:creationId xmlns:a16="http://schemas.microsoft.com/office/drawing/2014/main" id="{35756A3A-99B0-6D4E-6B46-6E2F374BAE25}"/>
                </a:ext>
              </a:extLst>
            </p:cNvPr>
            <p:cNvSpPr/>
            <p:nvPr/>
          </p:nvSpPr>
          <p:spPr>
            <a:xfrm>
              <a:off x="3733800" y="2331463"/>
              <a:ext cx="687390" cy="19786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22" name="Rectangle 121">
              <a:extLst>
                <a:ext uri="{FF2B5EF4-FFF2-40B4-BE49-F238E27FC236}">
                  <a16:creationId xmlns:a16="http://schemas.microsoft.com/office/drawing/2014/main" id="{E495510B-161B-26BF-F019-BCD2A0C90CCE}"/>
                </a:ext>
              </a:extLst>
            </p:cNvPr>
            <p:cNvSpPr/>
            <p:nvPr/>
          </p:nvSpPr>
          <p:spPr>
            <a:xfrm>
              <a:off x="4421190"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23" name="Rectangle 122">
              <a:extLst>
                <a:ext uri="{FF2B5EF4-FFF2-40B4-BE49-F238E27FC236}">
                  <a16:creationId xmlns:a16="http://schemas.microsoft.com/office/drawing/2014/main" id="{0AD655DA-9E9D-BC48-BD4A-217FC7C037AE}"/>
                </a:ext>
              </a:extLst>
            </p:cNvPr>
            <p:cNvSpPr/>
            <p:nvPr/>
          </p:nvSpPr>
          <p:spPr>
            <a:xfrm>
              <a:off x="3525222" y="2331463"/>
              <a:ext cx="223111" cy="1978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nvGrpSpPr>
          <p:cNvPr id="124" name="1-packet 8:00">
            <a:extLst>
              <a:ext uri="{FF2B5EF4-FFF2-40B4-BE49-F238E27FC236}">
                <a16:creationId xmlns:a16="http://schemas.microsoft.com/office/drawing/2014/main" id="{8A4B6884-9217-D592-F77D-00591197E058}"/>
              </a:ext>
            </a:extLst>
          </p:cNvPr>
          <p:cNvGrpSpPr/>
          <p:nvPr/>
        </p:nvGrpSpPr>
        <p:grpSpPr>
          <a:xfrm>
            <a:off x="4355003" y="2688020"/>
            <a:ext cx="1005840" cy="158416"/>
            <a:chOff x="9891406" y="3953789"/>
            <a:chExt cx="895968" cy="158416"/>
          </a:xfrm>
        </p:grpSpPr>
        <p:sp>
          <p:nvSpPr>
            <p:cNvPr id="125" name="Rectangle 124">
              <a:extLst>
                <a:ext uri="{FF2B5EF4-FFF2-40B4-BE49-F238E27FC236}">
                  <a16:creationId xmlns:a16="http://schemas.microsoft.com/office/drawing/2014/main" id="{F7B63190-1CDE-3D56-900A-2E12213D8FAB}"/>
                </a:ext>
              </a:extLst>
            </p:cNvPr>
            <p:cNvSpPr/>
            <p:nvPr/>
          </p:nvSpPr>
          <p:spPr>
            <a:xfrm>
              <a:off x="10058400" y="3953789"/>
              <a:ext cx="550345" cy="1584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26" name="Rectangle 125">
              <a:extLst>
                <a:ext uri="{FF2B5EF4-FFF2-40B4-BE49-F238E27FC236}">
                  <a16:creationId xmlns:a16="http://schemas.microsoft.com/office/drawing/2014/main" id="{91687034-6E1B-0758-292D-2BDEFC6F22D2}"/>
                </a:ext>
              </a:extLst>
            </p:cNvPr>
            <p:cNvSpPr/>
            <p:nvPr/>
          </p:nvSpPr>
          <p:spPr>
            <a:xfrm>
              <a:off x="10608745" y="3953789"/>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27" name="Rectangle 126">
              <a:extLst>
                <a:ext uri="{FF2B5EF4-FFF2-40B4-BE49-F238E27FC236}">
                  <a16:creationId xmlns:a16="http://schemas.microsoft.com/office/drawing/2014/main" id="{A975EF23-9BA6-DF2A-E3BF-D7FDA47B168C}"/>
                </a:ext>
              </a:extLst>
            </p:cNvPr>
            <p:cNvSpPr/>
            <p:nvPr/>
          </p:nvSpPr>
          <p:spPr>
            <a:xfrm>
              <a:off x="9891406" y="3953789"/>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grpSp>
        <p:nvGrpSpPr>
          <p:cNvPr id="128" name="1-packet 6:00">
            <a:extLst>
              <a:ext uri="{FF2B5EF4-FFF2-40B4-BE49-F238E27FC236}">
                <a16:creationId xmlns:a16="http://schemas.microsoft.com/office/drawing/2014/main" id="{A547F56B-A901-1987-BCE8-3F70FF1DA406}"/>
              </a:ext>
            </a:extLst>
          </p:cNvPr>
          <p:cNvGrpSpPr/>
          <p:nvPr/>
        </p:nvGrpSpPr>
        <p:grpSpPr>
          <a:xfrm>
            <a:off x="4355003" y="2688020"/>
            <a:ext cx="1005840" cy="158416"/>
            <a:chOff x="9891406" y="3953789"/>
            <a:chExt cx="895968" cy="158416"/>
          </a:xfrm>
        </p:grpSpPr>
        <p:sp>
          <p:nvSpPr>
            <p:cNvPr id="129" name="Rectangle 128">
              <a:extLst>
                <a:ext uri="{FF2B5EF4-FFF2-40B4-BE49-F238E27FC236}">
                  <a16:creationId xmlns:a16="http://schemas.microsoft.com/office/drawing/2014/main" id="{63DEBB02-0E39-ED01-AAB0-FE615C6CB63A}"/>
                </a:ext>
              </a:extLst>
            </p:cNvPr>
            <p:cNvSpPr/>
            <p:nvPr/>
          </p:nvSpPr>
          <p:spPr>
            <a:xfrm>
              <a:off x="10058400" y="3953789"/>
              <a:ext cx="550345" cy="1584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30" name="Rectangle 129">
              <a:extLst>
                <a:ext uri="{FF2B5EF4-FFF2-40B4-BE49-F238E27FC236}">
                  <a16:creationId xmlns:a16="http://schemas.microsoft.com/office/drawing/2014/main" id="{2D2A0444-FD12-9B06-C958-BFB7F9160B44}"/>
                </a:ext>
              </a:extLst>
            </p:cNvPr>
            <p:cNvSpPr/>
            <p:nvPr/>
          </p:nvSpPr>
          <p:spPr>
            <a:xfrm>
              <a:off x="10608745" y="3953789"/>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sp>
          <p:nvSpPr>
            <p:cNvPr id="131" name="Rectangle 130">
              <a:extLst>
                <a:ext uri="{FF2B5EF4-FFF2-40B4-BE49-F238E27FC236}">
                  <a16:creationId xmlns:a16="http://schemas.microsoft.com/office/drawing/2014/main" id="{78EE0779-D01D-478B-6695-13FF384612FA}"/>
                </a:ext>
              </a:extLst>
            </p:cNvPr>
            <p:cNvSpPr/>
            <p:nvPr/>
          </p:nvSpPr>
          <p:spPr>
            <a:xfrm>
              <a:off x="9891406" y="3953789"/>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prstClr val="white"/>
                </a:solidFill>
                <a:latin typeface="Segoe UI" panose="020B0502040204020203" pitchFamily="34" charset="0"/>
                <a:cs typeface="Segoe UI" panose="020B0502040204020203" pitchFamily="34" charset="0"/>
              </a:endParaRPr>
            </a:p>
          </p:txBody>
        </p:sp>
      </p:grpSp>
      <p:pic>
        <p:nvPicPr>
          <p:cNvPr id="132" name="play - ALT TEXT IS HERE" descr="Graphic that represents a network made up of two DHCP servers (DHCP Server 1 and DHCP Server 2) and three DHCP clients. The frames of the build slide demonstrate the following four-step DHCP lease-generation process:&#10;1-DHCP client broadcasts a DHCPDISCOVER packet.&#10;2-DHCP servers broadcast a DHCPOFFER packet.&#10;3-DHCP client broadcasts a DHCPREQUEST packet.&#10;4-DHCP Server1 broadcasts a DHCPACK packet.">
            <a:extLst>
              <a:ext uri="{FF2B5EF4-FFF2-40B4-BE49-F238E27FC236}">
                <a16:creationId xmlns:a16="http://schemas.microsoft.com/office/drawing/2014/main" id="{3B763860-2C13-40CB-3AA0-511FFE2D677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77125" y="6103499"/>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 name="Audio 2">
            <a:hlinkClick r:id="" action="ppaction://media"/>
            <a:extLst>
              <a:ext uri="{FF2B5EF4-FFF2-40B4-BE49-F238E27FC236}">
                <a16:creationId xmlns:a16="http://schemas.microsoft.com/office/drawing/2014/main" id="{C92D746F-8EF6-3751-8994-B9F52AD45BDF}"/>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8382000" y="6096000"/>
            <a:ext cx="609600" cy="609600"/>
          </a:xfrm>
          <a:prstGeom prst="rect">
            <a:avLst/>
          </a:prstGeom>
        </p:spPr>
      </p:pic>
    </p:spTree>
    <p:extLst>
      <p:ext uri="{BB962C8B-B14F-4D97-AF65-F5344CB8AC3E}">
        <p14:creationId xmlns:p14="http://schemas.microsoft.com/office/powerpoint/2010/main" val="93184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3"/>
                                        </p:tgtEl>
                                      </p:cBhvr>
                                    </p:cmd>
                                  </p:childTnLst>
                                </p:cTn>
                              </p:par>
                              <p:par>
                                <p:cTn id="7" presetID="1" presetClass="entr" presetSubtype="0" fill="hold" nodeType="withEffect">
                                  <p:stCondLst>
                                    <p:cond delay="0"/>
                                  </p:stCondLst>
                                  <p:childTnLst>
                                    <p:set>
                                      <p:cBhvr>
                                        <p:cTn id="8" dur="1" fill="hold">
                                          <p:stCondLst>
                                            <p:cond delay="0"/>
                                          </p:stCondLst>
                                        </p:cTn>
                                        <p:tgtEl>
                                          <p:spTgt spid="13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4">
                                            <p:txEl>
                                              <p:pRg st="0" end="0"/>
                                            </p:txEl>
                                          </p:spTgt>
                                        </p:tgtEl>
                                        <p:attrNameLst>
                                          <p:attrName>style.visibility</p:attrName>
                                        </p:attrNameLst>
                                      </p:cBhvr>
                                      <p:to>
                                        <p:strVal val="visible"/>
                                      </p:to>
                                    </p:set>
                                    <p:animEffect transition="in" filter="fade">
                                      <p:cBhvr>
                                        <p:cTn id="13" dur="500"/>
                                        <p:tgtEl>
                                          <p:spTgt spid="34">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4">
                                            <p:txEl>
                                              <p:pRg st="1" end="1"/>
                                            </p:txEl>
                                          </p:spTgt>
                                        </p:tgtEl>
                                        <p:attrNameLst>
                                          <p:attrName>style.visibility</p:attrName>
                                        </p:attrNameLst>
                                      </p:cBhvr>
                                      <p:to>
                                        <p:strVal val="visible"/>
                                      </p:to>
                                    </p:set>
                                    <p:animEffect transition="in" filter="fade">
                                      <p:cBhvr>
                                        <p:cTn id="18" dur="500"/>
                                        <p:tgtEl>
                                          <p:spTgt spid="34">
                                            <p:txEl>
                                              <p:pRg st="1" end="1"/>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120"/>
                                        </p:tgtEl>
                                        <p:attrNameLst>
                                          <p:attrName>style.visibility</p:attrName>
                                        </p:attrNameLst>
                                      </p:cBhvr>
                                      <p:to>
                                        <p:strVal val="visible"/>
                                      </p:to>
                                    </p:set>
                                    <p:animEffect transition="in" filter="fade">
                                      <p:cBhvr>
                                        <p:cTn id="21" dur="500"/>
                                        <p:tgtEl>
                                          <p:spTgt spid="120"/>
                                        </p:tgtEl>
                                      </p:cBhvr>
                                    </p:animEffect>
                                  </p:childTnLst>
                                </p:cTn>
                              </p:par>
                              <p:par>
                                <p:cTn id="22" presetID="42" presetClass="path" presetSubtype="0" accel="50000" decel="50000" fill="hold" nodeType="withEffect">
                                  <p:stCondLst>
                                    <p:cond delay="0"/>
                                  </p:stCondLst>
                                  <p:childTnLst>
                                    <p:animMotion origin="layout" path="M 0.00104 -0.02569 L -0.18212 -0.1125 " pathEditMode="relative" rAng="0" ptsTypes="AA">
                                      <p:cBhvr>
                                        <p:cTn id="23" dur="2000" fill="hold"/>
                                        <p:tgtEl>
                                          <p:spTgt spid="120"/>
                                        </p:tgtEl>
                                        <p:attrNameLst>
                                          <p:attrName>ppt_x</p:attrName>
                                          <p:attrName>ppt_y</p:attrName>
                                        </p:attrNameLst>
                                      </p:cBhvr>
                                      <p:rCtr x="-9149" y="-4375"/>
                                    </p:animMotion>
                                  </p:childTnLst>
                                </p:cTn>
                              </p:par>
                            </p:childTnLst>
                          </p:cTn>
                        </p:par>
                        <p:par>
                          <p:cTn id="24" fill="hold">
                            <p:stCondLst>
                              <p:cond delay="2000"/>
                            </p:stCondLst>
                            <p:childTnLst>
                              <p:par>
                                <p:cTn id="25" presetID="10" presetClass="entr" presetSubtype="0" fill="hold" nodeType="afterEffect">
                                  <p:stCondLst>
                                    <p:cond delay="0"/>
                                  </p:stCondLst>
                                  <p:childTnLst>
                                    <p:set>
                                      <p:cBhvr>
                                        <p:cTn id="26" dur="1" fill="hold">
                                          <p:stCondLst>
                                            <p:cond delay="0"/>
                                          </p:stCondLst>
                                        </p:cTn>
                                        <p:tgtEl>
                                          <p:spTgt spid="128"/>
                                        </p:tgtEl>
                                        <p:attrNameLst>
                                          <p:attrName>style.visibility</p:attrName>
                                        </p:attrNameLst>
                                      </p:cBhvr>
                                      <p:to>
                                        <p:strVal val="visible"/>
                                      </p:to>
                                    </p:set>
                                    <p:animEffect transition="in" filter="fade">
                                      <p:cBhvr>
                                        <p:cTn id="27" dur="500"/>
                                        <p:tgtEl>
                                          <p:spTgt spid="128"/>
                                        </p:tgtEl>
                                      </p:cBhvr>
                                    </p:animEffect>
                                  </p:childTnLst>
                                </p:cTn>
                              </p:par>
                              <p:par>
                                <p:cTn id="28" presetID="10" presetClass="entr" presetSubtype="0" fill="hold" nodeType="withEffect">
                                  <p:stCondLst>
                                    <p:cond delay="0"/>
                                  </p:stCondLst>
                                  <p:childTnLst>
                                    <p:set>
                                      <p:cBhvr>
                                        <p:cTn id="29" dur="1" fill="hold">
                                          <p:stCondLst>
                                            <p:cond delay="0"/>
                                          </p:stCondLst>
                                        </p:cTn>
                                        <p:tgtEl>
                                          <p:spTgt spid="124"/>
                                        </p:tgtEl>
                                        <p:attrNameLst>
                                          <p:attrName>style.visibility</p:attrName>
                                        </p:attrNameLst>
                                      </p:cBhvr>
                                      <p:to>
                                        <p:strVal val="visible"/>
                                      </p:to>
                                    </p:set>
                                    <p:animEffect transition="in" filter="fade">
                                      <p:cBhvr>
                                        <p:cTn id="30" dur="500"/>
                                        <p:tgtEl>
                                          <p:spTgt spid="124"/>
                                        </p:tgtEl>
                                      </p:cBhvr>
                                    </p:animEffect>
                                  </p:childTnLst>
                                </p:cTn>
                              </p:par>
                              <p:par>
                                <p:cTn id="31" presetID="10" presetClass="entr" presetSubtype="0" fill="hold" nodeType="withEffect">
                                  <p:stCondLst>
                                    <p:cond delay="0"/>
                                  </p:stCondLst>
                                  <p:childTnLst>
                                    <p:set>
                                      <p:cBhvr>
                                        <p:cTn id="32" dur="1" fill="hold">
                                          <p:stCondLst>
                                            <p:cond delay="0"/>
                                          </p:stCondLst>
                                        </p:cTn>
                                        <p:tgtEl>
                                          <p:spTgt spid="116"/>
                                        </p:tgtEl>
                                        <p:attrNameLst>
                                          <p:attrName>style.visibility</p:attrName>
                                        </p:attrNameLst>
                                      </p:cBhvr>
                                      <p:to>
                                        <p:strVal val="visible"/>
                                      </p:to>
                                    </p:set>
                                    <p:animEffect transition="in" filter="fade">
                                      <p:cBhvr>
                                        <p:cTn id="33" dur="500"/>
                                        <p:tgtEl>
                                          <p:spTgt spid="116"/>
                                        </p:tgtEl>
                                      </p:cBhvr>
                                    </p:animEffect>
                                  </p:childTnLst>
                                </p:cTn>
                              </p:par>
                              <p:par>
                                <p:cTn id="34" presetID="10" presetClass="entr" presetSubtype="0" fill="hold" nodeType="withEffect">
                                  <p:stCondLst>
                                    <p:cond delay="0"/>
                                  </p:stCondLst>
                                  <p:childTnLst>
                                    <p:set>
                                      <p:cBhvr>
                                        <p:cTn id="35" dur="1" fill="hold">
                                          <p:stCondLst>
                                            <p:cond delay="0"/>
                                          </p:stCondLst>
                                        </p:cTn>
                                        <p:tgtEl>
                                          <p:spTgt spid="112"/>
                                        </p:tgtEl>
                                        <p:attrNameLst>
                                          <p:attrName>style.visibility</p:attrName>
                                        </p:attrNameLst>
                                      </p:cBhvr>
                                      <p:to>
                                        <p:strVal val="visible"/>
                                      </p:to>
                                    </p:set>
                                    <p:animEffect transition="in" filter="fade">
                                      <p:cBhvr>
                                        <p:cTn id="36" dur="500"/>
                                        <p:tgtEl>
                                          <p:spTgt spid="112"/>
                                        </p:tgtEl>
                                      </p:cBhvr>
                                    </p:animEffect>
                                  </p:childTnLst>
                                </p:cTn>
                              </p:par>
                              <p:par>
                                <p:cTn id="37" presetID="42" presetClass="path" presetSubtype="0" accel="50000" decel="50000" fill="hold" nodeType="withEffect">
                                  <p:stCondLst>
                                    <p:cond delay="0"/>
                                  </p:stCondLst>
                                  <p:childTnLst>
                                    <p:animMotion origin="layout" path="M 0 -2.22222E-6 L 0.19167 -0.16065 " pathEditMode="relative" rAng="0" ptsTypes="AA">
                                      <p:cBhvr>
                                        <p:cTn id="38" dur="2000" fill="hold"/>
                                        <p:tgtEl>
                                          <p:spTgt spid="112"/>
                                        </p:tgtEl>
                                        <p:attrNameLst>
                                          <p:attrName>ppt_x</p:attrName>
                                          <p:attrName>ppt_y</p:attrName>
                                        </p:attrNameLst>
                                      </p:cBhvr>
                                      <p:rCtr x="9583" y="-8032"/>
                                    </p:animMotion>
                                  </p:childTnLst>
                                </p:cTn>
                              </p:par>
                              <p:par>
                                <p:cTn id="39" presetID="42" presetClass="path" presetSubtype="0" accel="50000" decel="50000" fill="hold" nodeType="withEffect">
                                  <p:stCondLst>
                                    <p:cond delay="0"/>
                                  </p:stCondLst>
                                  <p:childTnLst>
                                    <p:animMotion origin="layout" path="M 0 0.00047 L 0.00104 0.19884 " pathEditMode="relative" rAng="0" ptsTypes="AA">
                                      <p:cBhvr>
                                        <p:cTn id="40" dur="2000" fill="hold"/>
                                        <p:tgtEl>
                                          <p:spTgt spid="128"/>
                                        </p:tgtEl>
                                        <p:attrNameLst>
                                          <p:attrName>ppt_x</p:attrName>
                                          <p:attrName>ppt_y</p:attrName>
                                        </p:attrNameLst>
                                      </p:cBhvr>
                                      <p:rCtr x="52" y="9907"/>
                                    </p:animMotion>
                                  </p:childTnLst>
                                </p:cTn>
                              </p:par>
                              <p:par>
                                <p:cTn id="41" presetID="42" presetClass="path" presetSubtype="0" accel="50000" decel="50000" fill="hold" nodeType="withEffect">
                                  <p:stCondLst>
                                    <p:cond delay="0"/>
                                  </p:stCondLst>
                                  <p:childTnLst>
                                    <p:animMotion origin="layout" path="M 0 -2.22222E-6 L -0.3 0.08357 " pathEditMode="relative" rAng="0" ptsTypes="AA">
                                      <p:cBhvr>
                                        <p:cTn id="42" dur="2000" fill="hold"/>
                                        <p:tgtEl>
                                          <p:spTgt spid="124"/>
                                        </p:tgtEl>
                                        <p:attrNameLst>
                                          <p:attrName>ppt_x</p:attrName>
                                          <p:attrName>ppt_y</p:attrName>
                                        </p:attrNameLst>
                                      </p:cBhvr>
                                      <p:rCtr x="-15000" y="4167"/>
                                    </p:animMotion>
                                  </p:childTnLst>
                                </p:cTn>
                              </p:par>
                              <p:par>
                                <p:cTn id="43" presetID="42" presetClass="path" presetSubtype="0" accel="50000" decel="50000" fill="hold" nodeType="withEffect">
                                  <p:stCondLst>
                                    <p:cond delay="0"/>
                                  </p:stCondLst>
                                  <p:childTnLst>
                                    <p:animMotion origin="layout" path="M -3.33333E-6 7.40741E-7 L -0.28125 -0.12291 " pathEditMode="relative" rAng="0" ptsTypes="AA">
                                      <p:cBhvr>
                                        <p:cTn id="44" dur="2000" fill="hold"/>
                                        <p:tgtEl>
                                          <p:spTgt spid="116"/>
                                        </p:tgtEl>
                                        <p:attrNameLst>
                                          <p:attrName>ppt_x</p:attrName>
                                          <p:attrName>ppt_y</p:attrName>
                                        </p:attrNameLst>
                                      </p:cBhvr>
                                      <p:rCtr x="-14167" y="-6134"/>
                                    </p:animMotion>
                                  </p:childTnLst>
                                </p:cTn>
                              </p:par>
                              <p:par>
                                <p:cTn id="45" presetID="10" presetClass="exit" presetSubtype="0" fill="hold" nodeType="withEffect">
                                  <p:stCondLst>
                                    <p:cond delay="0"/>
                                  </p:stCondLst>
                                  <p:childTnLst>
                                    <p:animEffect transition="out" filter="fade">
                                      <p:cBhvr>
                                        <p:cTn id="46" dur="500"/>
                                        <p:tgtEl>
                                          <p:spTgt spid="120"/>
                                        </p:tgtEl>
                                      </p:cBhvr>
                                    </p:animEffect>
                                    <p:set>
                                      <p:cBhvr>
                                        <p:cTn id="47" dur="1" fill="hold">
                                          <p:stCondLst>
                                            <p:cond delay="499"/>
                                          </p:stCondLst>
                                        </p:cTn>
                                        <p:tgtEl>
                                          <p:spTgt spid="120"/>
                                        </p:tgtEl>
                                        <p:attrNameLst>
                                          <p:attrName>style.visibility</p:attrName>
                                        </p:attrNameLst>
                                      </p:cBhvr>
                                      <p:to>
                                        <p:strVal val="hidden"/>
                                      </p:to>
                                    </p:set>
                                  </p:childTnLst>
                                </p:cTn>
                              </p:par>
                            </p:childTnLst>
                          </p:cTn>
                        </p:par>
                        <p:par>
                          <p:cTn id="48" fill="hold">
                            <p:stCondLst>
                              <p:cond delay="4000"/>
                            </p:stCondLst>
                            <p:childTnLst>
                              <p:par>
                                <p:cTn id="49" presetID="10" presetClass="exit" presetSubtype="0" fill="hold" nodeType="afterEffect">
                                  <p:stCondLst>
                                    <p:cond delay="0"/>
                                  </p:stCondLst>
                                  <p:childTnLst>
                                    <p:animEffect transition="out" filter="fade">
                                      <p:cBhvr>
                                        <p:cTn id="50" dur="500"/>
                                        <p:tgtEl>
                                          <p:spTgt spid="128"/>
                                        </p:tgtEl>
                                      </p:cBhvr>
                                    </p:animEffect>
                                    <p:set>
                                      <p:cBhvr>
                                        <p:cTn id="51" dur="1" fill="hold">
                                          <p:stCondLst>
                                            <p:cond delay="499"/>
                                          </p:stCondLst>
                                        </p:cTn>
                                        <p:tgtEl>
                                          <p:spTgt spid="128"/>
                                        </p:tgtEl>
                                        <p:attrNameLst>
                                          <p:attrName>style.visibility</p:attrName>
                                        </p:attrNameLst>
                                      </p:cBhvr>
                                      <p:to>
                                        <p:strVal val="hidden"/>
                                      </p:to>
                                    </p:set>
                                  </p:childTnLst>
                                </p:cTn>
                              </p:par>
                              <p:par>
                                <p:cTn id="52" presetID="10" presetClass="exit" presetSubtype="0" fill="hold" nodeType="withEffect">
                                  <p:stCondLst>
                                    <p:cond delay="0"/>
                                  </p:stCondLst>
                                  <p:childTnLst>
                                    <p:animEffect transition="out" filter="fade">
                                      <p:cBhvr>
                                        <p:cTn id="53" dur="500"/>
                                        <p:tgtEl>
                                          <p:spTgt spid="124"/>
                                        </p:tgtEl>
                                      </p:cBhvr>
                                    </p:animEffect>
                                    <p:set>
                                      <p:cBhvr>
                                        <p:cTn id="54" dur="1" fill="hold">
                                          <p:stCondLst>
                                            <p:cond delay="499"/>
                                          </p:stCondLst>
                                        </p:cTn>
                                        <p:tgtEl>
                                          <p:spTgt spid="124"/>
                                        </p:tgtEl>
                                        <p:attrNameLst>
                                          <p:attrName>style.visibility</p:attrName>
                                        </p:attrNameLst>
                                      </p:cBhvr>
                                      <p:to>
                                        <p:strVal val="hidden"/>
                                      </p:to>
                                    </p:set>
                                  </p:childTnLst>
                                </p:cTn>
                              </p:par>
                              <p:par>
                                <p:cTn id="55" presetID="10" presetClass="exit" presetSubtype="0" fill="hold" nodeType="withEffect">
                                  <p:stCondLst>
                                    <p:cond delay="0"/>
                                  </p:stCondLst>
                                  <p:childTnLst>
                                    <p:animEffect transition="out" filter="fade">
                                      <p:cBhvr>
                                        <p:cTn id="56" dur="500"/>
                                        <p:tgtEl>
                                          <p:spTgt spid="116"/>
                                        </p:tgtEl>
                                      </p:cBhvr>
                                    </p:animEffect>
                                    <p:set>
                                      <p:cBhvr>
                                        <p:cTn id="57" dur="1" fill="hold">
                                          <p:stCondLst>
                                            <p:cond delay="499"/>
                                          </p:stCondLst>
                                        </p:cTn>
                                        <p:tgtEl>
                                          <p:spTgt spid="116"/>
                                        </p:tgtEl>
                                        <p:attrNameLst>
                                          <p:attrName>style.visibility</p:attrName>
                                        </p:attrNameLst>
                                      </p:cBhvr>
                                      <p:to>
                                        <p:strVal val="hidden"/>
                                      </p:to>
                                    </p:set>
                                  </p:childTnLst>
                                </p:cTn>
                              </p:par>
                              <p:par>
                                <p:cTn id="58" presetID="10" presetClass="exit" presetSubtype="0" fill="hold" nodeType="withEffect">
                                  <p:stCondLst>
                                    <p:cond delay="0"/>
                                  </p:stCondLst>
                                  <p:childTnLst>
                                    <p:animEffect transition="out" filter="fade">
                                      <p:cBhvr>
                                        <p:cTn id="59" dur="500"/>
                                        <p:tgtEl>
                                          <p:spTgt spid="112"/>
                                        </p:tgtEl>
                                      </p:cBhvr>
                                    </p:animEffect>
                                    <p:set>
                                      <p:cBhvr>
                                        <p:cTn id="60" dur="1" fill="hold">
                                          <p:stCondLst>
                                            <p:cond delay="499"/>
                                          </p:stCondLst>
                                        </p:cTn>
                                        <p:tgtEl>
                                          <p:spTgt spid="112"/>
                                        </p:tgtEl>
                                        <p:attrNameLst>
                                          <p:attrName>style.visibility</p:attrName>
                                        </p:attrNameLst>
                                      </p:cBhvr>
                                      <p:to>
                                        <p:strVal val="hidden"/>
                                      </p:to>
                                    </p:set>
                                  </p:childTnLst>
                                </p:cTn>
                              </p:par>
                              <p:par>
                                <p:cTn id="61" presetID="10" presetClass="entr" presetSubtype="0" fill="hold" nodeType="withEffect">
                                  <p:stCondLst>
                                    <p:cond delay="0"/>
                                  </p:stCondLst>
                                  <p:childTnLst>
                                    <p:set>
                                      <p:cBhvr>
                                        <p:cTn id="62" dur="1" fill="hold">
                                          <p:stCondLst>
                                            <p:cond delay="0"/>
                                          </p:stCondLst>
                                        </p:cTn>
                                        <p:tgtEl>
                                          <p:spTgt spid="108"/>
                                        </p:tgtEl>
                                        <p:attrNameLst>
                                          <p:attrName>style.visibility</p:attrName>
                                        </p:attrNameLst>
                                      </p:cBhvr>
                                      <p:to>
                                        <p:strVal val="visible"/>
                                      </p:to>
                                    </p:set>
                                    <p:animEffect transition="in" filter="fade">
                                      <p:cBhvr>
                                        <p:cTn id="63" dur="500"/>
                                        <p:tgtEl>
                                          <p:spTgt spid="108"/>
                                        </p:tgtEl>
                                      </p:cBhvr>
                                    </p:animEffect>
                                  </p:childTnLst>
                                </p:cTn>
                              </p:par>
                              <p:par>
                                <p:cTn id="64" presetID="10" presetClass="entr" presetSubtype="0" fill="hold" nodeType="withEffect">
                                  <p:stCondLst>
                                    <p:cond delay="0"/>
                                  </p:stCondLst>
                                  <p:childTnLst>
                                    <p:set>
                                      <p:cBhvr>
                                        <p:cTn id="65" dur="1" fill="hold">
                                          <p:stCondLst>
                                            <p:cond delay="0"/>
                                          </p:stCondLst>
                                        </p:cTn>
                                        <p:tgtEl>
                                          <p:spTgt spid="104"/>
                                        </p:tgtEl>
                                        <p:attrNameLst>
                                          <p:attrName>style.visibility</p:attrName>
                                        </p:attrNameLst>
                                      </p:cBhvr>
                                      <p:to>
                                        <p:strVal val="visible"/>
                                      </p:to>
                                    </p:set>
                                    <p:animEffect transition="in" filter="fade">
                                      <p:cBhvr>
                                        <p:cTn id="66" dur="500"/>
                                        <p:tgtEl>
                                          <p:spTgt spid="104"/>
                                        </p:tgtEl>
                                      </p:cBhvr>
                                    </p:animEffect>
                                  </p:childTnLst>
                                </p:cTn>
                              </p:par>
                            </p:childTnLst>
                          </p:cTn>
                        </p:par>
                        <p:par>
                          <p:cTn id="67" fill="hold">
                            <p:stCondLst>
                              <p:cond delay="4500"/>
                            </p:stCondLst>
                            <p:childTnLst>
                              <p:par>
                                <p:cTn id="68" presetID="42" presetClass="path" presetSubtype="0" accel="50000" decel="50000" fill="hold" nodeType="afterEffect">
                                  <p:stCondLst>
                                    <p:cond delay="0"/>
                                  </p:stCondLst>
                                  <p:childTnLst>
                                    <p:animMotion origin="layout" path="M 4.44444E-6 4.81481E-6 L 0.26284 -0.09028 " pathEditMode="relative" rAng="0" ptsTypes="AA">
                                      <p:cBhvr>
                                        <p:cTn id="69" dur="2000" fill="hold"/>
                                        <p:tgtEl>
                                          <p:spTgt spid="104"/>
                                        </p:tgtEl>
                                        <p:attrNameLst>
                                          <p:attrName>ppt_x</p:attrName>
                                          <p:attrName>ppt_y</p:attrName>
                                        </p:attrNameLst>
                                      </p:cBhvr>
                                      <p:rCtr x="13194" y="-4468"/>
                                    </p:animMotion>
                                  </p:childTnLst>
                                </p:cTn>
                              </p:par>
                              <p:par>
                                <p:cTn id="70" presetID="42" presetClass="path" presetSubtype="0" accel="50000" decel="50000" fill="hold" nodeType="withEffect">
                                  <p:stCondLst>
                                    <p:cond delay="0"/>
                                  </p:stCondLst>
                                  <p:childTnLst>
                                    <p:animMotion origin="layout" path="M 3.88889E-6 3.33333E-6 L 0.22361 0.11782 " pathEditMode="relative" rAng="0" ptsTypes="AA">
                                      <p:cBhvr>
                                        <p:cTn id="71" dur="2000" fill="hold"/>
                                        <p:tgtEl>
                                          <p:spTgt spid="108"/>
                                        </p:tgtEl>
                                        <p:attrNameLst>
                                          <p:attrName>ppt_x</p:attrName>
                                          <p:attrName>ppt_y</p:attrName>
                                        </p:attrNameLst>
                                      </p:cBhvr>
                                      <p:rCtr x="11163" y="5833"/>
                                    </p:animMotion>
                                  </p:childTnLst>
                                </p:cTn>
                              </p:par>
                            </p:childTnLst>
                          </p:cTn>
                        </p:par>
                        <p:par>
                          <p:cTn id="72" fill="hold">
                            <p:stCondLst>
                              <p:cond delay="6500"/>
                            </p:stCondLst>
                            <p:childTnLst>
                              <p:par>
                                <p:cTn id="73" presetID="10" presetClass="exit" presetSubtype="0" fill="hold" nodeType="afterEffect">
                                  <p:stCondLst>
                                    <p:cond delay="0"/>
                                  </p:stCondLst>
                                  <p:childTnLst>
                                    <p:animEffect transition="out" filter="fade">
                                      <p:cBhvr>
                                        <p:cTn id="74" dur="500"/>
                                        <p:tgtEl>
                                          <p:spTgt spid="108"/>
                                        </p:tgtEl>
                                      </p:cBhvr>
                                    </p:animEffect>
                                    <p:set>
                                      <p:cBhvr>
                                        <p:cTn id="75" dur="1" fill="hold">
                                          <p:stCondLst>
                                            <p:cond delay="499"/>
                                          </p:stCondLst>
                                        </p:cTn>
                                        <p:tgtEl>
                                          <p:spTgt spid="108"/>
                                        </p:tgtEl>
                                        <p:attrNameLst>
                                          <p:attrName>style.visibility</p:attrName>
                                        </p:attrNameLst>
                                      </p:cBhvr>
                                      <p:to>
                                        <p:strVal val="hidden"/>
                                      </p:to>
                                    </p:set>
                                  </p:childTnLst>
                                </p:cTn>
                              </p:par>
                              <p:par>
                                <p:cTn id="76" presetID="10" presetClass="exit" presetSubtype="0" fill="hold" nodeType="withEffect">
                                  <p:stCondLst>
                                    <p:cond delay="0"/>
                                  </p:stCondLst>
                                  <p:childTnLst>
                                    <p:animEffect transition="out" filter="fade">
                                      <p:cBhvr>
                                        <p:cTn id="77" dur="500"/>
                                        <p:tgtEl>
                                          <p:spTgt spid="104"/>
                                        </p:tgtEl>
                                      </p:cBhvr>
                                    </p:animEffect>
                                    <p:set>
                                      <p:cBhvr>
                                        <p:cTn id="78" dur="1" fill="hold">
                                          <p:stCondLst>
                                            <p:cond delay="499"/>
                                          </p:stCondLst>
                                        </p:cTn>
                                        <p:tgtEl>
                                          <p:spTgt spid="104"/>
                                        </p:tgtEl>
                                        <p:attrNameLst>
                                          <p:attrName>style.visibility</p:attrName>
                                        </p:attrNameLst>
                                      </p:cBhvr>
                                      <p:to>
                                        <p:strVal val="hidden"/>
                                      </p:to>
                                    </p:set>
                                  </p:childTnLst>
                                </p:cTn>
                              </p:par>
                              <p:par>
                                <p:cTn id="79" presetID="10" presetClass="entr" presetSubtype="0" fill="hold" nodeType="withEffect">
                                  <p:stCondLst>
                                    <p:cond delay="0"/>
                                  </p:stCondLst>
                                  <p:childTnLst>
                                    <p:set>
                                      <p:cBhvr>
                                        <p:cTn id="80" dur="1" fill="hold">
                                          <p:stCondLst>
                                            <p:cond delay="0"/>
                                          </p:stCondLst>
                                        </p:cTn>
                                        <p:tgtEl>
                                          <p:spTgt spid="95"/>
                                        </p:tgtEl>
                                        <p:attrNameLst>
                                          <p:attrName>style.visibility</p:attrName>
                                        </p:attrNameLst>
                                      </p:cBhvr>
                                      <p:to>
                                        <p:strVal val="visible"/>
                                      </p:to>
                                    </p:set>
                                    <p:animEffect transition="in" filter="fade">
                                      <p:cBhvr>
                                        <p:cTn id="81" dur="500"/>
                                        <p:tgtEl>
                                          <p:spTgt spid="95"/>
                                        </p:tgtEl>
                                      </p:cBhvr>
                                    </p:animEffect>
                                  </p:childTnLst>
                                </p:cTn>
                              </p:par>
                              <p:par>
                                <p:cTn id="82" presetID="10" presetClass="entr" presetSubtype="0" fill="hold" nodeType="withEffect">
                                  <p:stCondLst>
                                    <p:cond delay="0"/>
                                  </p:stCondLst>
                                  <p:childTnLst>
                                    <p:set>
                                      <p:cBhvr>
                                        <p:cTn id="83" dur="1" fill="hold">
                                          <p:stCondLst>
                                            <p:cond delay="0"/>
                                          </p:stCondLst>
                                        </p:cTn>
                                        <p:tgtEl>
                                          <p:spTgt spid="86"/>
                                        </p:tgtEl>
                                        <p:attrNameLst>
                                          <p:attrName>style.visibility</p:attrName>
                                        </p:attrNameLst>
                                      </p:cBhvr>
                                      <p:to>
                                        <p:strVal val="visible"/>
                                      </p:to>
                                    </p:set>
                                    <p:animEffect transition="in" filter="fade">
                                      <p:cBhvr>
                                        <p:cTn id="84" dur="500"/>
                                        <p:tgtEl>
                                          <p:spTgt spid="86"/>
                                        </p:tgtEl>
                                      </p:cBhvr>
                                    </p:animEffect>
                                  </p:childTnLst>
                                </p:cTn>
                              </p:par>
                              <p:par>
                                <p:cTn id="85" presetID="10" presetClass="entr" presetSubtype="0" fill="hold" nodeType="withEffect">
                                  <p:stCondLst>
                                    <p:cond delay="0"/>
                                  </p:stCondLst>
                                  <p:childTnLst>
                                    <p:set>
                                      <p:cBhvr>
                                        <p:cTn id="86" dur="1" fill="hold">
                                          <p:stCondLst>
                                            <p:cond delay="0"/>
                                          </p:stCondLst>
                                        </p:cTn>
                                        <p:tgtEl>
                                          <p:spTgt spid="77"/>
                                        </p:tgtEl>
                                        <p:attrNameLst>
                                          <p:attrName>style.visibility</p:attrName>
                                        </p:attrNameLst>
                                      </p:cBhvr>
                                      <p:to>
                                        <p:strVal val="visible"/>
                                      </p:to>
                                    </p:set>
                                    <p:animEffect transition="in" filter="fade">
                                      <p:cBhvr>
                                        <p:cTn id="87" dur="500"/>
                                        <p:tgtEl>
                                          <p:spTgt spid="77"/>
                                        </p:tgtEl>
                                      </p:cBhvr>
                                    </p:animEffect>
                                  </p:childTnLst>
                                </p:cTn>
                              </p:par>
                              <p:par>
                                <p:cTn id="88" presetID="10" presetClass="entr" presetSubtype="0" fill="hold" nodeType="withEffect">
                                  <p:stCondLst>
                                    <p:cond delay="0"/>
                                  </p:stCondLst>
                                  <p:childTnLst>
                                    <p:set>
                                      <p:cBhvr>
                                        <p:cTn id="89" dur="1" fill="hold">
                                          <p:stCondLst>
                                            <p:cond delay="0"/>
                                          </p:stCondLst>
                                        </p:cTn>
                                        <p:tgtEl>
                                          <p:spTgt spid="68"/>
                                        </p:tgtEl>
                                        <p:attrNameLst>
                                          <p:attrName>style.visibility</p:attrName>
                                        </p:attrNameLst>
                                      </p:cBhvr>
                                      <p:to>
                                        <p:strVal val="visible"/>
                                      </p:to>
                                    </p:set>
                                    <p:animEffect transition="in" filter="fade">
                                      <p:cBhvr>
                                        <p:cTn id="90" dur="500"/>
                                        <p:tgtEl>
                                          <p:spTgt spid="68"/>
                                        </p:tgtEl>
                                      </p:cBhvr>
                                    </p:animEffect>
                                  </p:childTnLst>
                                </p:cTn>
                              </p:par>
                              <p:par>
                                <p:cTn id="91" presetID="10" presetClass="entr" presetSubtype="0" fill="hold" nodeType="withEffect">
                                  <p:stCondLst>
                                    <p:cond delay="0"/>
                                  </p:stCondLst>
                                  <p:childTnLst>
                                    <p:set>
                                      <p:cBhvr>
                                        <p:cTn id="92" dur="1" fill="hold">
                                          <p:stCondLst>
                                            <p:cond delay="0"/>
                                          </p:stCondLst>
                                        </p:cTn>
                                        <p:tgtEl>
                                          <p:spTgt spid="59"/>
                                        </p:tgtEl>
                                        <p:attrNameLst>
                                          <p:attrName>style.visibility</p:attrName>
                                        </p:attrNameLst>
                                      </p:cBhvr>
                                      <p:to>
                                        <p:strVal val="visible"/>
                                      </p:to>
                                    </p:set>
                                    <p:animEffect transition="in" filter="fade">
                                      <p:cBhvr>
                                        <p:cTn id="93" dur="500"/>
                                        <p:tgtEl>
                                          <p:spTgt spid="59"/>
                                        </p:tgtEl>
                                      </p:cBhvr>
                                    </p:animEffect>
                                  </p:childTnLst>
                                </p:cTn>
                              </p:par>
                            </p:childTnLst>
                          </p:cTn>
                        </p:par>
                        <p:par>
                          <p:cTn id="94" fill="hold">
                            <p:stCondLst>
                              <p:cond delay="7000"/>
                            </p:stCondLst>
                            <p:childTnLst>
                              <p:par>
                                <p:cTn id="95" presetID="42" presetClass="path" presetSubtype="0" accel="50000" decel="50000" fill="hold" nodeType="afterEffect">
                                  <p:stCondLst>
                                    <p:cond delay="0"/>
                                  </p:stCondLst>
                                  <p:childTnLst>
                                    <p:animMotion origin="layout" path="M 0 0 L 0.19063 0.08981 " pathEditMode="relative" rAng="0" ptsTypes="AA">
                                      <p:cBhvr>
                                        <p:cTn id="96" dur="2000" fill="hold"/>
                                        <p:tgtEl>
                                          <p:spTgt spid="95"/>
                                        </p:tgtEl>
                                        <p:attrNameLst>
                                          <p:attrName>ppt_x</p:attrName>
                                          <p:attrName>ppt_y</p:attrName>
                                        </p:attrNameLst>
                                      </p:cBhvr>
                                      <p:rCtr x="9531" y="4491"/>
                                    </p:animMotion>
                                  </p:childTnLst>
                                </p:cTn>
                              </p:par>
                              <p:par>
                                <p:cTn id="97" presetID="42" presetClass="path" presetSubtype="0" accel="50000" decel="50000" fill="hold" nodeType="withEffect">
                                  <p:stCondLst>
                                    <p:cond delay="0"/>
                                  </p:stCondLst>
                                  <p:childTnLst>
                                    <p:animMotion origin="layout" path="M 0.00069 0.00069 L -0.31493 0.13194 " pathEditMode="relative" rAng="0" ptsTypes="AA">
                                      <p:cBhvr>
                                        <p:cTn id="98" dur="2000" fill="hold"/>
                                        <p:tgtEl>
                                          <p:spTgt spid="59"/>
                                        </p:tgtEl>
                                        <p:attrNameLst>
                                          <p:attrName>ppt_x</p:attrName>
                                          <p:attrName>ppt_y</p:attrName>
                                        </p:attrNameLst>
                                      </p:cBhvr>
                                      <p:rCtr x="-15781" y="6551"/>
                                    </p:animMotion>
                                  </p:childTnLst>
                                </p:cTn>
                              </p:par>
                              <p:par>
                                <p:cTn id="99" presetID="42" presetClass="path" presetSubtype="0" accel="50000" decel="50000" fill="hold" nodeType="withEffect">
                                  <p:stCondLst>
                                    <p:cond delay="0"/>
                                  </p:stCondLst>
                                  <p:childTnLst>
                                    <p:animMotion origin="layout" path="M 0 0 L 0.18993 -0.14236 " pathEditMode="relative" rAng="0" ptsTypes="AA">
                                      <p:cBhvr>
                                        <p:cTn id="100" dur="2000" fill="hold"/>
                                        <p:tgtEl>
                                          <p:spTgt spid="86"/>
                                        </p:tgtEl>
                                        <p:attrNameLst>
                                          <p:attrName>ppt_x</p:attrName>
                                          <p:attrName>ppt_y</p:attrName>
                                        </p:attrNameLst>
                                      </p:cBhvr>
                                      <p:rCtr x="9497" y="-7130"/>
                                    </p:animMotion>
                                  </p:childTnLst>
                                </p:cTn>
                              </p:par>
                              <p:par>
                                <p:cTn id="101" presetID="42" presetClass="path" presetSubtype="0" accel="50000" decel="50000" fill="hold" nodeType="withEffect">
                                  <p:stCondLst>
                                    <p:cond delay="0"/>
                                  </p:stCondLst>
                                  <p:childTnLst>
                                    <p:animMotion origin="layout" path="M 0 0 L 0.0066 0.19051 " pathEditMode="relative" rAng="0" ptsTypes="AA">
                                      <p:cBhvr>
                                        <p:cTn id="102" dur="2000" fill="hold"/>
                                        <p:tgtEl>
                                          <p:spTgt spid="77"/>
                                        </p:tgtEl>
                                        <p:attrNameLst>
                                          <p:attrName>ppt_x</p:attrName>
                                          <p:attrName>ppt_y</p:attrName>
                                        </p:attrNameLst>
                                      </p:cBhvr>
                                      <p:rCtr x="330" y="9514"/>
                                    </p:animMotion>
                                  </p:childTnLst>
                                </p:cTn>
                              </p:par>
                              <p:par>
                                <p:cTn id="103" presetID="42" presetClass="path" presetSubtype="0" accel="50000" decel="50000" fill="hold" nodeType="withEffect">
                                  <p:stCondLst>
                                    <p:cond delay="0"/>
                                  </p:stCondLst>
                                  <p:childTnLst>
                                    <p:animMotion origin="layout" path="M 0 0 L -0.24167 -0.14421 " pathEditMode="relative" rAng="0" ptsTypes="AA">
                                      <p:cBhvr>
                                        <p:cTn id="104" dur="2000" fill="hold"/>
                                        <p:tgtEl>
                                          <p:spTgt spid="68"/>
                                        </p:tgtEl>
                                        <p:attrNameLst>
                                          <p:attrName>ppt_x</p:attrName>
                                          <p:attrName>ppt_y</p:attrName>
                                        </p:attrNameLst>
                                      </p:cBhvr>
                                      <p:rCtr x="-12083" y="-7222"/>
                                    </p:animMotion>
                                  </p:childTnLst>
                                </p:cTn>
                              </p:par>
                            </p:childTnLst>
                          </p:cTn>
                        </p:par>
                        <p:par>
                          <p:cTn id="105" fill="hold">
                            <p:stCondLst>
                              <p:cond delay="9000"/>
                            </p:stCondLst>
                            <p:childTnLst>
                              <p:par>
                                <p:cTn id="106" presetID="10" presetClass="exit" presetSubtype="0" fill="hold" nodeType="afterEffect">
                                  <p:stCondLst>
                                    <p:cond delay="0"/>
                                  </p:stCondLst>
                                  <p:childTnLst>
                                    <p:animEffect transition="out" filter="fade">
                                      <p:cBhvr>
                                        <p:cTn id="107" dur="500"/>
                                        <p:tgtEl>
                                          <p:spTgt spid="95"/>
                                        </p:tgtEl>
                                      </p:cBhvr>
                                    </p:animEffect>
                                    <p:set>
                                      <p:cBhvr>
                                        <p:cTn id="108" dur="1" fill="hold">
                                          <p:stCondLst>
                                            <p:cond delay="499"/>
                                          </p:stCondLst>
                                        </p:cTn>
                                        <p:tgtEl>
                                          <p:spTgt spid="95"/>
                                        </p:tgtEl>
                                        <p:attrNameLst>
                                          <p:attrName>style.visibility</p:attrName>
                                        </p:attrNameLst>
                                      </p:cBhvr>
                                      <p:to>
                                        <p:strVal val="hidden"/>
                                      </p:to>
                                    </p:set>
                                  </p:childTnLst>
                                </p:cTn>
                              </p:par>
                              <p:par>
                                <p:cTn id="109" presetID="10" presetClass="exit" presetSubtype="0" fill="hold" nodeType="withEffect">
                                  <p:stCondLst>
                                    <p:cond delay="0"/>
                                  </p:stCondLst>
                                  <p:childTnLst>
                                    <p:animEffect transition="out" filter="fade">
                                      <p:cBhvr>
                                        <p:cTn id="110" dur="500"/>
                                        <p:tgtEl>
                                          <p:spTgt spid="59"/>
                                        </p:tgtEl>
                                      </p:cBhvr>
                                    </p:animEffect>
                                    <p:set>
                                      <p:cBhvr>
                                        <p:cTn id="111" dur="1" fill="hold">
                                          <p:stCondLst>
                                            <p:cond delay="499"/>
                                          </p:stCondLst>
                                        </p:cTn>
                                        <p:tgtEl>
                                          <p:spTgt spid="59"/>
                                        </p:tgtEl>
                                        <p:attrNameLst>
                                          <p:attrName>style.visibility</p:attrName>
                                        </p:attrNameLst>
                                      </p:cBhvr>
                                      <p:to>
                                        <p:strVal val="hidden"/>
                                      </p:to>
                                    </p:set>
                                  </p:childTnLst>
                                </p:cTn>
                              </p:par>
                              <p:par>
                                <p:cTn id="112" presetID="10" presetClass="exit" presetSubtype="0" fill="hold" nodeType="withEffect">
                                  <p:stCondLst>
                                    <p:cond delay="0"/>
                                  </p:stCondLst>
                                  <p:childTnLst>
                                    <p:animEffect transition="out" filter="fade">
                                      <p:cBhvr>
                                        <p:cTn id="113" dur="500"/>
                                        <p:tgtEl>
                                          <p:spTgt spid="86"/>
                                        </p:tgtEl>
                                      </p:cBhvr>
                                    </p:animEffect>
                                    <p:set>
                                      <p:cBhvr>
                                        <p:cTn id="114" dur="1" fill="hold">
                                          <p:stCondLst>
                                            <p:cond delay="499"/>
                                          </p:stCondLst>
                                        </p:cTn>
                                        <p:tgtEl>
                                          <p:spTgt spid="86"/>
                                        </p:tgtEl>
                                        <p:attrNameLst>
                                          <p:attrName>style.visibility</p:attrName>
                                        </p:attrNameLst>
                                      </p:cBhvr>
                                      <p:to>
                                        <p:strVal val="hidden"/>
                                      </p:to>
                                    </p:set>
                                  </p:childTnLst>
                                </p:cTn>
                              </p:par>
                              <p:par>
                                <p:cTn id="115" presetID="10" presetClass="exit" presetSubtype="0" fill="hold" nodeType="withEffect">
                                  <p:stCondLst>
                                    <p:cond delay="0"/>
                                  </p:stCondLst>
                                  <p:childTnLst>
                                    <p:animEffect transition="out" filter="fade">
                                      <p:cBhvr>
                                        <p:cTn id="116" dur="500"/>
                                        <p:tgtEl>
                                          <p:spTgt spid="77"/>
                                        </p:tgtEl>
                                      </p:cBhvr>
                                    </p:animEffect>
                                    <p:set>
                                      <p:cBhvr>
                                        <p:cTn id="117" dur="1" fill="hold">
                                          <p:stCondLst>
                                            <p:cond delay="499"/>
                                          </p:stCondLst>
                                        </p:cTn>
                                        <p:tgtEl>
                                          <p:spTgt spid="77"/>
                                        </p:tgtEl>
                                        <p:attrNameLst>
                                          <p:attrName>style.visibility</p:attrName>
                                        </p:attrNameLst>
                                      </p:cBhvr>
                                      <p:to>
                                        <p:strVal val="hidden"/>
                                      </p:to>
                                    </p:set>
                                  </p:childTnLst>
                                </p:cTn>
                              </p:par>
                              <p:par>
                                <p:cTn id="118" presetID="10" presetClass="exit" presetSubtype="0" fill="hold" nodeType="withEffect">
                                  <p:stCondLst>
                                    <p:cond delay="0"/>
                                  </p:stCondLst>
                                  <p:childTnLst>
                                    <p:animEffect transition="out" filter="fade">
                                      <p:cBhvr>
                                        <p:cTn id="119" dur="500"/>
                                        <p:tgtEl>
                                          <p:spTgt spid="68"/>
                                        </p:tgtEl>
                                      </p:cBhvr>
                                    </p:animEffect>
                                    <p:set>
                                      <p:cBhvr>
                                        <p:cTn id="120" dur="1" fill="hold">
                                          <p:stCondLst>
                                            <p:cond delay="499"/>
                                          </p:stCondLst>
                                        </p:cTn>
                                        <p:tgtEl>
                                          <p:spTgt spid="68"/>
                                        </p:tgtEl>
                                        <p:attrNameLst>
                                          <p:attrName>style.visibility</p:attrName>
                                        </p:attrNameLst>
                                      </p:cBhvr>
                                      <p:to>
                                        <p:strVal val="hidden"/>
                                      </p:to>
                                    </p:set>
                                  </p:childTnLst>
                                </p:cTn>
                              </p:par>
                            </p:childTnLst>
                          </p:cTn>
                        </p:par>
                      </p:childTnLst>
                    </p:cTn>
                  </p:par>
                  <p:par>
                    <p:cTn id="121" fill="hold">
                      <p:stCondLst>
                        <p:cond delay="indefinite"/>
                      </p:stCondLst>
                      <p:childTnLst>
                        <p:par>
                          <p:cTn id="122" fill="hold">
                            <p:stCondLst>
                              <p:cond delay="0"/>
                            </p:stCondLst>
                            <p:childTnLst>
                              <p:par>
                                <p:cTn id="123" presetID="10" presetClass="entr" presetSubtype="0" fill="hold" grpId="0" nodeType="clickEffect">
                                  <p:stCondLst>
                                    <p:cond delay="0"/>
                                  </p:stCondLst>
                                  <p:childTnLst>
                                    <p:set>
                                      <p:cBhvr>
                                        <p:cTn id="124" dur="1" fill="hold">
                                          <p:stCondLst>
                                            <p:cond delay="0"/>
                                          </p:stCondLst>
                                        </p:cTn>
                                        <p:tgtEl>
                                          <p:spTgt spid="34">
                                            <p:txEl>
                                              <p:pRg st="2" end="2"/>
                                            </p:txEl>
                                          </p:spTgt>
                                        </p:tgtEl>
                                        <p:attrNameLst>
                                          <p:attrName>style.visibility</p:attrName>
                                        </p:attrNameLst>
                                      </p:cBhvr>
                                      <p:to>
                                        <p:strVal val="visible"/>
                                      </p:to>
                                    </p:set>
                                    <p:animEffect transition="in" filter="fade">
                                      <p:cBhvr>
                                        <p:cTn id="125" dur="500"/>
                                        <p:tgtEl>
                                          <p:spTgt spid="34">
                                            <p:txEl>
                                              <p:pRg st="2" end="2"/>
                                            </p:txEl>
                                          </p:spTgt>
                                        </p:tgtEl>
                                      </p:cBhvr>
                                    </p:animEffect>
                                  </p:childTnLst>
                                </p:cTn>
                              </p:par>
                              <p:par>
                                <p:cTn id="126" presetID="10" presetClass="entr" presetSubtype="0" fill="hold" nodeType="withEffect">
                                  <p:stCondLst>
                                    <p:cond delay="0"/>
                                  </p:stCondLst>
                                  <p:childTnLst>
                                    <p:set>
                                      <p:cBhvr>
                                        <p:cTn id="127" dur="1" fill="hold">
                                          <p:stCondLst>
                                            <p:cond delay="0"/>
                                          </p:stCondLst>
                                        </p:cTn>
                                        <p:tgtEl>
                                          <p:spTgt spid="55"/>
                                        </p:tgtEl>
                                        <p:attrNameLst>
                                          <p:attrName>style.visibility</p:attrName>
                                        </p:attrNameLst>
                                      </p:cBhvr>
                                      <p:to>
                                        <p:strVal val="visible"/>
                                      </p:to>
                                    </p:set>
                                    <p:animEffect transition="in" filter="fade">
                                      <p:cBhvr>
                                        <p:cTn id="128" dur="500"/>
                                        <p:tgtEl>
                                          <p:spTgt spid="55"/>
                                        </p:tgtEl>
                                      </p:cBhvr>
                                    </p:animEffect>
                                  </p:childTnLst>
                                </p:cTn>
                              </p:par>
                              <p:par>
                                <p:cTn id="129" presetID="42" presetClass="path" presetSubtype="0" accel="50000" decel="50000" fill="hold" nodeType="withEffect">
                                  <p:stCondLst>
                                    <p:cond delay="0"/>
                                  </p:stCondLst>
                                  <p:childTnLst>
                                    <p:animMotion origin="layout" path="M -0.0007 4.81481E-6 L -0.18177 -0.11343 " pathEditMode="relative" rAng="0" ptsTypes="AA">
                                      <p:cBhvr>
                                        <p:cTn id="130" dur="2000" fill="hold"/>
                                        <p:tgtEl>
                                          <p:spTgt spid="55"/>
                                        </p:tgtEl>
                                        <p:attrNameLst>
                                          <p:attrName>ppt_x</p:attrName>
                                          <p:attrName>ppt_y</p:attrName>
                                        </p:attrNameLst>
                                      </p:cBhvr>
                                      <p:rCtr x="-9063" y="-5671"/>
                                    </p:animMotion>
                                  </p:childTnLst>
                                </p:cTn>
                              </p:par>
                            </p:childTnLst>
                          </p:cTn>
                        </p:par>
                        <p:par>
                          <p:cTn id="131" fill="hold">
                            <p:stCondLst>
                              <p:cond delay="2000"/>
                            </p:stCondLst>
                            <p:childTnLst>
                              <p:par>
                                <p:cTn id="132" presetID="10" presetClass="exit" presetSubtype="0" fill="hold" nodeType="afterEffect">
                                  <p:stCondLst>
                                    <p:cond delay="0"/>
                                  </p:stCondLst>
                                  <p:childTnLst>
                                    <p:animEffect transition="out" filter="fade">
                                      <p:cBhvr>
                                        <p:cTn id="133" dur="500"/>
                                        <p:tgtEl>
                                          <p:spTgt spid="55"/>
                                        </p:tgtEl>
                                      </p:cBhvr>
                                    </p:animEffect>
                                    <p:set>
                                      <p:cBhvr>
                                        <p:cTn id="134" dur="1" fill="hold">
                                          <p:stCondLst>
                                            <p:cond delay="499"/>
                                          </p:stCondLst>
                                        </p:cTn>
                                        <p:tgtEl>
                                          <p:spTgt spid="55"/>
                                        </p:tgtEl>
                                        <p:attrNameLst>
                                          <p:attrName>style.visibility</p:attrName>
                                        </p:attrNameLst>
                                      </p:cBhvr>
                                      <p:to>
                                        <p:strVal val="hidden"/>
                                      </p:to>
                                    </p:set>
                                  </p:childTnLst>
                                </p:cTn>
                              </p:par>
                              <p:par>
                                <p:cTn id="135" presetID="10" presetClass="entr" presetSubtype="0" fill="hold" nodeType="withEffect">
                                  <p:stCondLst>
                                    <p:cond delay="0"/>
                                  </p:stCondLst>
                                  <p:childTnLst>
                                    <p:set>
                                      <p:cBhvr>
                                        <p:cTn id="136" dur="1" fill="hold">
                                          <p:stCondLst>
                                            <p:cond delay="0"/>
                                          </p:stCondLst>
                                        </p:cTn>
                                        <p:tgtEl>
                                          <p:spTgt spid="39"/>
                                        </p:tgtEl>
                                        <p:attrNameLst>
                                          <p:attrName>style.visibility</p:attrName>
                                        </p:attrNameLst>
                                      </p:cBhvr>
                                      <p:to>
                                        <p:strVal val="visible"/>
                                      </p:to>
                                    </p:set>
                                    <p:animEffect transition="in" filter="fade">
                                      <p:cBhvr>
                                        <p:cTn id="137" dur="500"/>
                                        <p:tgtEl>
                                          <p:spTgt spid="39"/>
                                        </p:tgtEl>
                                      </p:cBhvr>
                                    </p:animEffect>
                                  </p:childTnLst>
                                </p:cTn>
                              </p:par>
                              <p:par>
                                <p:cTn id="138" presetID="10" presetClass="entr" presetSubtype="0" fill="hold" nodeType="withEffect">
                                  <p:stCondLst>
                                    <p:cond delay="0"/>
                                  </p:stCondLst>
                                  <p:childTnLst>
                                    <p:set>
                                      <p:cBhvr>
                                        <p:cTn id="139" dur="1" fill="hold">
                                          <p:stCondLst>
                                            <p:cond delay="0"/>
                                          </p:stCondLst>
                                        </p:cTn>
                                        <p:tgtEl>
                                          <p:spTgt spid="43"/>
                                        </p:tgtEl>
                                        <p:attrNameLst>
                                          <p:attrName>style.visibility</p:attrName>
                                        </p:attrNameLst>
                                      </p:cBhvr>
                                      <p:to>
                                        <p:strVal val="visible"/>
                                      </p:to>
                                    </p:set>
                                    <p:animEffect transition="in" filter="fade">
                                      <p:cBhvr>
                                        <p:cTn id="140" dur="500"/>
                                        <p:tgtEl>
                                          <p:spTgt spid="43"/>
                                        </p:tgtEl>
                                      </p:cBhvr>
                                    </p:animEffect>
                                  </p:childTnLst>
                                </p:cTn>
                              </p:par>
                              <p:par>
                                <p:cTn id="141" presetID="10" presetClass="entr" presetSubtype="0" fill="hold" nodeType="withEffect">
                                  <p:stCondLst>
                                    <p:cond delay="0"/>
                                  </p:stCondLst>
                                  <p:childTnLst>
                                    <p:set>
                                      <p:cBhvr>
                                        <p:cTn id="142" dur="1" fill="hold">
                                          <p:stCondLst>
                                            <p:cond delay="0"/>
                                          </p:stCondLst>
                                        </p:cTn>
                                        <p:tgtEl>
                                          <p:spTgt spid="47"/>
                                        </p:tgtEl>
                                        <p:attrNameLst>
                                          <p:attrName>style.visibility</p:attrName>
                                        </p:attrNameLst>
                                      </p:cBhvr>
                                      <p:to>
                                        <p:strVal val="visible"/>
                                      </p:to>
                                    </p:set>
                                    <p:animEffect transition="in" filter="fade">
                                      <p:cBhvr>
                                        <p:cTn id="143" dur="500"/>
                                        <p:tgtEl>
                                          <p:spTgt spid="47"/>
                                        </p:tgtEl>
                                      </p:cBhvr>
                                    </p:animEffect>
                                  </p:childTnLst>
                                </p:cTn>
                              </p:par>
                              <p:par>
                                <p:cTn id="144" presetID="10" presetClass="entr" presetSubtype="0" fill="hold" nodeType="withEffect">
                                  <p:stCondLst>
                                    <p:cond delay="0"/>
                                  </p:stCondLst>
                                  <p:childTnLst>
                                    <p:set>
                                      <p:cBhvr>
                                        <p:cTn id="145" dur="1" fill="hold">
                                          <p:stCondLst>
                                            <p:cond delay="0"/>
                                          </p:stCondLst>
                                        </p:cTn>
                                        <p:tgtEl>
                                          <p:spTgt spid="51"/>
                                        </p:tgtEl>
                                        <p:attrNameLst>
                                          <p:attrName>style.visibility</p:attrName>
                                        </p:attrNameLst>
                                      </p:cBhvr>
                                      <p:to>
                                        <p:strVal val="visible"/>
                                      </p:to>
                                    </p:set>
                                    <p:animEffect transition="in" filter="fade">
                                      <p:cBhvr>
                                        <p:cTn id="146" dur="500"/>
                                        <p:tgtEl>
                                          <p:spTgt spid="51"/>
                                        </p:tgtEl>
                                      </p:cBhvr>
                                    </p:animEffect>
                                  </p:childTnLst>
                                </p:cTn>
                              </p:par>
                              <p:par>
                                <p:cTn id="147" presetID="42" presetClass="path" presetSubtype="0" accel="50000" decel="50000" fill="hold" nodeType="withEffect">
                                  <p:stCondLst>
                                    <p:cond delay="0"/>
                                  </p:stCondLst>
                                  <p:childTnLst>
                                    <p:animMotion origin="layout" path="M 0.00104 -0.00046 L 0.00104 0.19884 " pathEditMode="relative" rAng="0" ptsTypes="AA">
                                      <p:cBhvr>
                                        <p:cTn id="148" dur="2000" fill="hold"/>
                                        <p:tgtEl>
                                          <p:spTgt spid="39"/>
                                        </p:tgtEl>
                                        <p:attrNameLst>
                                          <p:attrName>ppt_x</p:attrName>
                                          <p:attrName>ppt_y</p:attrName>
                                        </p:attrNameLst>
                                      </p:cBhvr>
                                      <p:rCtr x="0" y="9954"/>
                                    </p:animMotion>
                                  </p:childTnLst>
                                </p:cTn>
                              </p:par>
                              <p:par>
                                <p:cTn id="149" presetID="42" presetClass="path" presetSubtype="0" accel="50000" decel="50000" fill="hold" nodeType="withEffect">
                                  <p:stCondLst>
                                    <p:cond delay="0"/>
                                  </p:stCondLst>
                                  <p:childTnLst>
                                    <p:animMotion origin="layout" path="M 0 -2.22222E-6 L -0.3 0.08357 " pathEditMode="relative" rAng="0" ptsTypes="AA">
                                      <p:cBhvr>
                                        <p:cTn id="150" dur="2000" fill="hold"/>
                                        <p:tgtEl>
                                          <p:spTgt spid="43"/>
                                        </p:tgtEl>
                                        <p:attrNameLst>
                                          <p:attrName>ppt_x</p:attrName>
                                          <p:attrName>ppt_y</p:attrName>
                                        </p:attrNameLst>
                                      </p:cBhvr>
                                      <p:rCtr x="-15000" y="4167"/>
                                    </p:animMotion>
                                  </p:childTnLst>
                                </p:cTn>
                              </p:par>
                              <p:par>
                                <p:cTn id="151" presetID="42" presetClass="path" presetSubtype="0" accel="50000" decel="50000" fill="hold" nodeType="withEffect">
                                  <p:stCondLst>
                                    <p:cond delay="0"/>
                                  </p:stCondLst>
                                  <p:childTnLst>
                                    <p:animMotion origin="layout" path="M -0.00729 -0.00046 L -0.28125 -0.12291 " pathEditMode="relative" rAng="0" ptsTypes="AA">
                                      <p:cBhvr>
                                        <p:cTn id="152" dur="2000" fill="hold"/>
                                        <p:tgtEl>
                                          <p:spTgt spid="47"/>
                                        </p:tgtEl>
                                        <p:attrNameLst>
                                          <p:attrName>ppt_x</p:attrName>
                                          <p:attrName>ppt_y</p:attrName>
                                        </p:attrNameLst>
                                      </p:cBhvr>
                                      <p:rCtr x="-13698" y="-6134"/>
                                    </p:animMotion>
                                  </p:childTnLst>
                                </p:cTn>
                              </p:par>
                              <p:par>
                                <p:cTn id="153" presetID="42" presetClass="path" presetSubtype="0" accel="50000" decel="50000" fill="hold" nodeType="withEffect">
                                  <p:stCondLst>
                                    <p:cond delay="0"/>
                                  </p:stCondLst>
                                  <p:childTnLst>
                                    <p:animMotion origin="layout" path="M 0 -2.22222E-6 L 0.19167 -0.16065 " pathEditMode="relative" rAng="0" ptsTypes="AA">
                                      <p:cBhvr>
                                        <p:cTn id="154" dur="2000" fill="hold"/>
                                        <p:tgtEl>
                                          <p:spTgt spid="51"/>
                                        </p:tgtEl>
                                        <p:attrNameLst>
                                          <p:attrName>ppt_x</p:attrName>
                                          <p:attrName>ppt_y</p:attrName>
                                        </p:attrNameLst>
                                      </p:cBhvr>
                                      <p:rCtr x="9583" y="-8032"/>
                                    </p:animMotion>
                                  </p:childTnLst>
                                </p:cTn>
                              </p:par>
                            </p:childTnLst>
                          </p:cTn>
                        </p:par>
                        <p:par>
                          <p:cTn id="155" fill="hold">
                            <p:stCondLst>
                              <p:cond delay="4000"/>
                            </p:stCondLst>
                            <p:childTnLst>
                              <p:par>
                                <p:cTn id="156" presetID="10" presetClass="exit" presetSubtype="0" fill="hold" nodeType="afterEffect">
                                  <p:stCondLst>
                                    <p:cond delay="0"/>
                                  </p:stCondLst>
                                  <p:childTnLst>
                                    <p:animEffect transition="out" filter="fade">
                                      <p:cBhvr>
                                        <p:cTn id="157" dur="500"/>
                                        <p:tgtEl>
                                          <p:spTgt spid="39"/>
                                        </p:tgtEl>
                                      </p:cBhvr>
                                    </p:animEffect>
                                    <p:set>
                                      <p:cBhvr>
                                        <p:cTn id="158" dur="1" fill="hold">
                                          <p:stCondLst>
                                            <p:cond delay="499"/>
                                          </p:stCondLst>
                                        </p:cTn>
                                        <p:tgtEl>
                                          <p:spTgt spid="39"/>
                                        </p:tgtEl>
                                        <p:attrNameLst>
                                          <p:attrName>style.visibility</p:attrName>
                                        </p:attrNameLst>
                                      </p:cBhvr>
                                      <p:to>
                                        <p:strVal val="hidden"/>
                                      </p:to>
                                    </p:set>
                                  </p:childTnLst>
                                </p:cTn>
                              </p:par>
                              <p:par>
                                <p:cTn id="159" presetID="10" presetClass="exit" presetSubtype="0" fill="hold" nodeType="withEffect">
                                  <p:stCondLst>
                                    <p:cond delay="0"/>
                                  </p:stCondLst>
                                  <p:childTnLst>
                                    <p:animEffect transition="out" filter="fade">
                                      <p:cBhvr>
                                        <p:cTn id="160" dur="500"/>
                                        <p:tgtEl>
                                          <p:spTgt spid="43"/>
                                        </p:tgtEl>
                                      </p:cBhvr>
                                    </p:animEffect>
                                    <p:set>
                                      <p:cBhvr>
                                        <p:cTn id="161" dur="1" fill="hold">
                                          <p:stCondLst>
                                            <p:cond delay="499"/>
                                          </p:stCondLst>
                                        </p:cTn>
                                        <p:tgtEl>
                                          <p:spTgt spid="43"/>
                                        </p:tgtEl>
                                        <p:attrNameLst>
                                          <p:attrName>style.visibility</p:attrName>
                                        </p:attrNameLst>
                                      </p:cBhvr>
                                      <p:to>
                                        <p:strVal val="hidden"/>
                                      </p:to>
                                    </p:set>
                                  </p:childTnLst>
                                </p:cTn>
                              </p:par>
                              <p:par>
                                <p:cTn id="162" presetID="10" presetClass="exit" presetSubtype="0" fill="hold" nodeType="withEffect">
                                  <p:stCondLst>
                                    <p:cond delay="0"/>
                                  </p:stCondLst>
                                  <p:childTnLst>
                                    <p:animEffect transition="out" filter="fade">
                                      <p:cBhvr>
                                        <p:cTn id="163" dur="500"/>
                                        <p:tgtEl>
                                          <p:spTgt spid="47"/>
                                        </p:tgtEl>
                                      </p:cBhvr>
                                    </p:animEffect>
                                    <p:set>
                                      <p:cBhvr>
                                        <p:cTn id="164" dur="1" fill="hold">
                                          <p:stCondLst>
                                            <p:cond delay="499"/>
                                          </p:stCondLst>
                                        </p:cTn>
                                        <p:tgtEl>
                                          <p:spTgt spid="47"/>
                                        </p:tgtEl>
                                        <p:attrNameLst>
                                          <p:attrName>style.visibility</p:attrName>
                                        </p:attrNameLst>
                                      </p:cBhvr>
                                      <p:to>
                                        <p:strVal val="hidden"/>
                                      </p:to>
                                    </p:set>
                                  </p:childTnLst>
                                </p:cTn>
                              </p:par>
                              <p:par>
                                <p:cTn id="165" presetID="10" presetClass="exit" presetSubtype="0" fill="hold" nodeType="withEffect">
                                  <p:stCondLst>
                                    <p:cond delay="0"/>
                                  </p:stCondLst>
                                  <p:childTnLst>
                                    <p:animEffect transition="out" filter="fade">
                                      <p:cBhvr>
                                        <p:cTn id="166" dur="500"/>
                                        <p:tgtEl>
                                          <p:spTgt spid="51"/>
                                        </p:tgtEl>
                                      </p:cBhvr>
                                    </p:animEffect>
                                    <p:set>
                                      <p:cBhvr>
                                        <p:cTn id="167" dur="1" fill="hold">
                                          <p:stCondLst>
                                            <p:cond delay="499"/>
                                          </p:stCondLst>
                                        </p:cTn>
                                        <p:tgtEl>
                                          <p:spTgt spid="51"/>
                                        </p:tgtEl>
                                        <p:attrNameLst>
                                          <p:attrName>style.visibility</p:attrName>
                                        </p:attrNameLst>
                                      </p:cBhvr>
                                      <p:to>
                                        <p:strVal val="hidden"/>
                                      </p:to>
                                    </p:set>
                                  </p:childTnLst>
                                </p:cTn>
                              </p:par>
                            </p:childTnLst>
                          </p:cTn>
                        </p:par>
                      </p:childTnLst>
                    </p:cTn>
                  </p:par>
                  <p:par>
                    <p:cTn id="168" fill="hold">
                      <p:stCondLst>
                        <p:cond delay="indefinite"/>
                      </p:stCondLst>
                      <p:childTnLst>
                        <p:par>
                          <p:cTn id="169" fill="hold">
                            <p:stCondLst>
                              <p:cond delay="0"/>
                            </p:stCondLst>
                            <p:childTnLst>
                              <p:par>
                                <p:cTn id="170" presetID="10" presetClass="entr" presetSubtype="0" fill="hold" grpId="0" nodeType="clickEffect">
                                  <p:stCondLst>
                                    <p:cond delay="0"/>
                                  </p:stCondLst>
                                  <p:childTnLst>
                                    <p:set>
                                      <p:cBhvr>
                                        <p:cTn id="171" dur="1" fill="hold">
                                          <p:stCondLst>
                                            <p:cond delay="0"/>
                                          </p:stCondLst>
                                        </p:cTn>
                                        <p:tgtEl>
                                          <p:spTgt spid="34">
                                            <p:txEl>
                                              <p:pRg st="3" end="3"/>
                                            </p:txEl>
                                          </p:spTgt>
                                        </p:tgtEl>
                                        <p:attrNameLst>
                                          <p:attrName>style.visibility</p:attrName>
                                        </p:attrNameLst>
                                      </p:cBhvr>
                                      <p:to>
                                        <p:strVal val="visible"/>
                                      </p:to>
                                    </p:set>
                                    <p:animEffect transition="in" filter="fade">
                                      <p:cBhvr>
                                        <p:cTn id="172" dur="500"/>
                                        <p:tgtEl>
                                          <p:spTgt spid="34">
                                            <p:txEl>
                                              <p:pRg st="3" end="3"/>
                                            </p:txEl>
                                          </p:spTgt>
                                        </p:tgtEl>
                                      </p:cBhvr>
                                    </p:animEffect>
                                  </p:childTnLst>
                                </p:cTn>
                              </p:par>
                              <p:par>
                                <p:cTn id="173" presetID="10" presetClass="entr" presetSubtype="0" fill="hold" nodeType="withEffect">
                                  <p:stCondLst>
                                    <p:cond delay="0"/>
                                  </p:stCondLst>
                                  <p:childTnLst>
                                    <p:set>
                                      <p:cBhvr>
                                        <p:cTn id="174" dur="1" fill="hold">
                                          <p:stCondLst>
                                            <p:cond delay="0"/>
                                          </p:stCondLst>
                                        </p:cTn>
                                        <p:tgtEl>
                                          <p:spTgt spid="35"/>
                                        </p:tgtEl>
                                        <p:attrNameLst>
                                          <p:attrName>style.visibility</p:attrName>
                                        </p:attrNameLst>
                                      </p:cBhvr>
                                      <p:to>
                                        <p:strVal val="visible"/>
                                      </p:to>
                                    </p:set>
                                    <p:animEffect transition="in" filter="fade">
                                      <p:cBhvr>
                                        <p:cTn id="175" dur="500"/>
                                        <p:tgtEl>
                                          <p:spTgt spid="35"/>
                                        </p:tgtEl>
                                      </p:cBhvr>
                                    </p:animEffect>
                                  </p:childTnLst>
                                </p:cTn>
                              </p:par>
                              <p:par>
                                <p:cTn id="176" presetID="42" presetClass="path" presetSubtype="0" accel="50000" decel="50000" fill="hold" nodeType="withEffect">
                                  <p:stCondLst>
                                    <p:cond delay="0"/>
                                  </p:stCondLst>
                                  <p:childTnLst>
                                    <p:animMotion origin="layout" path="M -0.00764 -2.59259E-6 L 0.2618 -0.12037 " pathEditMode="relative" rAng="0" ptsTypes="AA">
                                      <p:cBhvr>
                                        <p:cTn id="177" dur="2000" fill="hold"/>
                                        <p:tgtEl>
                                          <p:spTgt spid="35"/>
                                        </p:tgtEl>
                                        <p:attrNameLst>
                                          <p:attrName>ppt_x</p:attrName>
                                          <p:attrName>ppt_y</p:attrName>
                                        </p:attrNameLst>
                                      </p:cBhvr>
                                      <p:rCtr x="13472" y="-6019"/>
                                    </p:animMotion>
                                  </p:childTnLst>
                                </p:cTn>
                              </p:par>
                            </p:childTnLst>
                          </p:cTn>
                        </p:par>
                        <p:par>
                          <p:cTn id="178" fill="hold">
                            <p:stCondLst>
                              <p:cond delay="2000"/>
                            </p:stCondLst>
                            <p:childTnLst>
                              <p:par>
                                <p:cTn id="179" presetID="10" presetClass="exit" presetSubtype="0" fill="hold" nodeType="afterEffect">
                                  <p:stCondLst>
                                    <p:cond delay="0"/>
                                  </p:stCondLst>
                                  <p:childTnLst>
                                    <p:animEffect transition="out" filter="fade">
                                      <p:cBhvr>
                                        <p:cTn id="180" dur="500"/>
                                        <p:tgtEl>
                                          <p:spTgt spid="35"/>
                                        </p:tgtEl>
                                      </p:cBhvr>
                                    </p:animEffect>
                                    <p:set>
                                      <p:cBhvr>
                                        <p:cTn id="181" dur="1" fill="hold">
                                          <p:stCondLst>
                                            <p:cond delay="499"/>
                                          </p:stCondLst>
                                        </p:cTn>
                                        <p:tgtEl>
                                          <p:spTgt spid="35"/>
                                        </p:tgtEl>
                                        <p:attrNameLst>
                                          <p:attrName>style.visibility</p:attrName>
                                        </p:attrNameLst>
                                      </p:cBhvr>
                                      <p:to>
                                        <p:strVal val="hidden"/>
                                      </p:to>
                                    </p:set>
                                  </p:childTnLst>
                                </p:cTn>
                              </p:par>
                              <p:par>
                                <p:cTn id="182" presetID="10" presetClass="entr" presetSubtype="0" fill="hold" nodeType="withEffect">
                                  <p:stCondLst>
                                    <p:cond delay="0"/>
                                  </p:stCondLst>
                                  <p:childTnLst>
                                    <p:set>
                                      <p:cBhvr>
                                        <p:cTn id="183" dur="1" fill="hold">
                                          <p:stCondLst>
                                            <p:cond delay="0"/>
                                          </p:stCondLst>
                                        </p:cTn>
                                        <p:tgtEl>
                                          <p:spTgt spid="22"/>
                                        </p:tgtEl>
                                        <p:attrNameLst>
                                          <p:attrName>style.visibility</p:attrName>
                                        </p:attrNameLst>
                                      </p:cBhvr>
                                      <p:to>
                                        <p:strVal val="visible"/>
                                      </p:to>
                                    </p:set>
                                    <p:animEffect transition="in" filter="fade">
                                      <p:cBhvr>
                                        <p:cTn id="184" dur="500"/>
                                        <p:tgtEl>
                                          <p:spTgt spid="22"/>
                                        </p:tgtEl>
                                      </p:cBhvr>
                                    </p:animEffect>
                                  </p:childTnLst>
                                </p:cTn>
                              </p:par>
                              <p:par>
                                <p:cTn id="185" presetID="10" presetClass="entr" presetSubtype="0" fill="hold" nodeType="withEffect">
                                  <p:stCondLst>
                                    <p:cond delay="0"/>
                                  </p:stCondLst>
                                  <p:childTnLst>
                                    <p:set>
                                      <p:cBhvr>
                                        <p:cTn id="186" dur="1" fill="hold">
                                          <p:stCondLst>
                                            <p:cond delay="0"/>
                                          </p:stCondLst>
                                        </p:cTn>
                                        <p:tgtEl>
                                          <p:spTgt spid="18"/>
                                        </p:tgtEl>
                                        <p:attrNameLst>
                                          <p:attrName>style.visibility</p:attrName>
                                        </p:attrNameLst>
                                      </p:cBhvr>
                                      <p:to>
                                        <p:strVal val="visible"/>
                                      </p:to>
                                    </p:set>
                                    <p:animEffect transition="in" filter="fade">
                                      <p:cBhvr>
                                        <p:cTn id="187" dur="500"/>
                                        <p:tgtEl>
                                          <p:spTgt spid="18"/>
                                        </p:tgtEl>
                                      </p:cBhvr>
                                    </p:animEffect>
                                  </p:childTnLst>
                                </p:cTn>
                              </p:par>
                              <p:par>
                                <p:cTn id="188" presetID="10" presetClass="entr" presetSubtype="0" fill="hold" nodeType="withEffect">
                                  <p:stCondLst>
                                    <p:cond delay="0"/>
                                  </p:stCondLst>
                                  <p:childTnLst>
                                    <p:set>
                                      <p:cBhvr>
                                        <p:cTn id="189" dur="1" fill="hold">
                                          <p:stCondLst>
                                            <p:cond delay="0"/>
                                          </p:stCondLst>
                                        </p:cTn>
                                        <p:tgtEl>
                                          <p:spTgt spid="30"/>
                                        </p:tgtEl>
                                        <p:attrNameLst>
                                          <p:attrName>style.visibility</p:attrName>
                                        </p:attrNameLst>
                                      </p:cBhvr>
                                      <p:to>
                                        <p:strVal val="visible"/>
                                      </p:to>
                                    </p:set>
                                    <p:animEffect transition="in" filter="fade">
                                      <p:cBhvr>
                                        <p:cTn id="190" dur="500"/>
                                        <p:tgtEl>
                                          <p:spTgt spid="30"/>
                                        </p:tgtEl>
                                      </p:cBhvr>
                                    </p:animEffect>
                                  </p:childTnLst>
                                </p:cTn>
                              </p:par>
                              <p:par>
                                <p:cTn id="191" presetID="10" presetClass="entr" presetSubtype="0" fill="hold" nodeType="withEffect">
                                  <p:stCondLst>
                                    <p:cond delay="0"/>
                                  </p:stCondLst>
                                  <p:childTnLst>
                                    <p:set>
                                      <p:cBhvr>
                                        <p:cTn id="192" dur="1" fill="hold">
                                          <p:stCondLst>
                                            <p:cond delay="0"/>
                                          </p:stCondLst>
                                        </p:cTn>
                                        <p:tgtEl>
                                          <p:spTgt spid="26"/>
                                        </p:tgtEl>
                                        <p:attrNameLst>
                                          <p:attrName>style.visibility</p:attrName>
                                        </p:attrNameLst>
                                      </p:cBhvr>
                                      <p:to>
                                        <p:strVal val="visible"/>
                                      </p:to>
                                    </p:set>
                                    <p:animEffect transition="in" filter="fade">
                                      <p:cBhvr>
                                        <p:cTn id="193" dur="500"/>
                                        <p:tgtEl>
                                          <p:spTgt spid="26"/>
                                        </p:tgtEl>
                                      </p:cBhvr>
                                    </p:animEffect>
                                  </p:childTnLst>
                                </p:cTn>
                              </p:par>
                              <p:par>
                                <p:cTn id="194" presetID="42" presetClass="path" presetSubtype="0" accel="50000" decel="50000" fill="hold" nodeType="withEffect">
                                  <p:stCondLst>
                                    <p:cond delay="0"/>
                                  </p:stCondLst>
                                  <p:childTnLst>
                                    <p:animMotion origin="layout" path="M 0.00729 -2.22222E-6 L -0.24375 -0.15532 " pathEditMode="relative" rAng="0" ptsTypes="AA">
                                      <p:cBhvr>
                                        <p:cTn id="195" dur="2000" fill="hold"/>
                                        <p:tgtEl>
                                          <p:spTgt spid="26"/>
                                        </p:tgtEl>
                                        <p:attrNameLst>
                                          <p:attrName>ppt_x</p:attrName>
                                          <p:attrName>ppt_y</p:attrName>
                                        </p:attrNameLst>
                                      </p:cBhvr>
                                      <p:rCtr x="-12552" y="-7778"/>
                                    </p:animMotion>
                                  </p:childTnLst>
                                </p:cTn>
                              </p:par>
                              <p:par>
                                <p:cTn id="196" presetID="42" presetClass="path" presetSubtype="0" accel="50000" decel="50000" fill="hold" nodeType="withEffect">
                                  <p:stCondLst>
                                    <p:cond delay="0"/>
                                  </p:stCondLst>
                                  <p:childTnLst>
                                    <p:animMotion origin="layout" path="M 0.00729 0.00047 L 0.20625 -0.1544 " pathEditMode="relative" rAng="0" ptsTypes="AA">
                                      <p:cBhvr>
                                        <p:cTn id="197" dur="2000" fill="hold"/>
                                        <p:tgtEl>
                                          <p:spTgt spid="30"/>
                                        </p:tgtEl>
                                        <p:attrNameLst>
                                          <p:attrName>ppt_x</p:attrName>
                                          <p:attrName>ppt_y</p:attrName>
                                        </p:attrNameLst>
                                      </p:cBhvr>
                                      <p:rCtr x="9948" y="-7755"/>
                                    </p:animMotion>
                                  </p:childTnLst>
                                </p:cTn>
                              </p:par>
                              <p:par>
                                <p:cTn id="198" presetID="42" presetClass="path" presetSubtype="0" accel="50000" decel="50000" fill="hold" nodeType="withEffect">
                                  <p:stCondLst>
                                    <p:cond delay="0"/>
                                  </p:stCondLst>
                                  <p:childTnLst>
                                    <p:animMotion origin="layout" path="M 0.00052 -0.00046 L 0.17448 0.08797 " pathEditMode="relative" rAng="0" ptsTypes="AA">
                                      <p:cBhvr>
                                        <p:cTn id="199" dur="2000" fill="hold"/>
                                        <p:tgtEl>
                                          <p:spTgt spid="18"/>
                                        </p:tgtEl>
                                        <p:attrNameLst>
                                          <p:attrName>ppt_x</p:attrName>
                                          <p:attrName>ppt_y</p:attrName>
                                        </p:attrNameLst>
                                      </p:cBhvr>
                                      <p:rCtr x="8698" y="4421"/>
                                    </p:animMotion>
                                  </p:childTnLst>
                                </p:cTn>
                              </p:par>
                              <p:par>
                                <p:cTn id="200" presetID="42" presetClass="path" presetSubtype="0" accel="50000" decel="50000" fill="hold" nodeType="withEffect">
                                  <p:stCondLst>
                                    <p:cond delay="0"/>
                                  </p:stCondLst>
                                  <p:childTnLst>
                                    <p:animMotion origin="layout" path="M 0 -2.22222E-6 L -0.00104 0.18866 " pathEditMode="relative" rAng="0" ptsTypes="AA">
                                      <p:cBhvr>
                                        <p:cTn id="201" dur="2000" fill="hold"/>
                                        <p:tgtEl>
                                          <p:spTgt spid="22"/>
                                        </p:tgtEl>
                                        <p:attrNameLst>
                                          <p:attrName>ppt_x</p:attrName>
                                          <p:attrName>ppt_y</p:attrName>
                                        </p:attrNameLst>
                                      </p:cBhvr>
                                      <p:rCtr x="-52" y="9421"/>
                                    </p:animMotion>
                                  </p:childTnLst>
                                </p:cTn>
                              </p:par>
                            </p:childTnLst>
                          </p:cTn>
                        </p:par>
                        <p:par>
                          <p:cTn id="202" fill="hold">
                            <p:stCondLst>
                              <p:cond delay="4000"/>
                            </p:stCondLst>
                            <p:childTnLst>
                              <p:par>
                                <p:cTn id="203" presetID="10" presetClass="exit" presetSubtype="0" fill="hold" nodeType="afterEffect">
                                  <p:stCondLst>
                                    <p:cond delay="0"/>
                                  </p:stCondLst>
                                  <p:childTnLst>
                                    <p:animEffect transition="out" filter="fade">
                                      <p:cBhvr>
                                        <p:cTn id="204" dur="500"/>
                                        <p:tgtEl>
                                          <p:spTgt spid="26"/>
                                        </p:tgtEl>
                                      </p:cBhvr>
                                    </p:animEffect>
                                    <p:set>
                                      <p:cBhvr>
                                        <p:cTn id="205" dur="1" fill="hold">
                                          <p:stCondLst>
                                            <p:cond delay="499"/>
                                          </p:stCondLst>
                                        </p:cTn>
                                        <p:tgtEl>
                                          <p:spTgt spid="26"/>
                                        </p:tgtEl>
                                        <p:attrNameLst>
                                          <p:attrName>style.visibility</p:attrName>
                                        </p:attrNameLst>
                                      </p:cBhvr>
                                      <p:to>
                                        <p:strVal val="hidden"/>
                                      </p:to>
                                    </p:set>
                                  </p:childTnLst>
                                </p:cTn>
                              </p:par>
                              <p:par>
                                <p:cTn id="206" presetID="10" presetClass="exit" presetSubtype="0" fill="hold" nodeType="withEffect">
                                  <p:stCondLst>
                                    <p:cond delay="0"/>
                                  </p:stCondLst>
                                  <p:childTnLst>
                                    <p:animEffect transition="out" filter="fade">
                                      <p:cBhvr>
                                        <p:cTn id="207" dur="500"/>
                                        <p:tgtEl>
                                          <p:spTgt spid="30"/>
                                        </p:tgtEl>
                                      </p:cBhvr>
                                    </p:animEffect>
                                    <p:set>
                                      <p:cBhvr>
                                        <p:cTn id="208" dur="1" fill="hold">
                                          <p:stCondLst>
                                            <p:cond delay="499"/>
                                          </p:stCondLst>
                                        </p:cTn>
                                        <p:tgtEl>
                                          <p:spTgt spid="30"/>
                                        </p:tgtEl>
                                        <p:attrNameLst>
                                          <p:attrName>style.visibility</p:attrName>
                                        </p:attrNameLst>
                                      </p:cBhvr>
                                      <p:to>
                                        <p:strVal val="hidden"/>
                                      </p:to>
                                    </p:set>
                                  </p:childTnLst>
                                </p:cTn>
                              </p:par>
                              <p:par>
                                <p:cTn id="209" presetID="10" presetClass="exit" presetSubtype="0" fill="hold" nodeType="withEffect">
                                  <p:stCondLst>
                                    <p:cond delay="0"/>
                                  </p:stCondLst>
                                  <p:childTnLst>
                                    <p:animEffect transition="out" filter="fade">
                                      <p:cBhvr>
                                        <p:cTn id="210" dur="500"/>
                                        <p:tgtEl>
                                          <p:spTgt spid="18"/>
                                        </p:tgtEl>
                                      </p:cBhvr>
                                    </p:animEffect>
                                    <p:set>
                                      <p:cBhvr>
                                        <p:cTn id="211" dur="1" fill="hold">
                                          <p:stCondLst>
                                            <p:cond delay="499"/>
                                          </p:stCondLst>
                                        </p:cTn>
                                        <p:tgtEl>
                                          <p:spTgt spid="18"/>
                                        </p:tgtEl>
                                        <p:attrNameLst>
                                          <p:attrName>style.visibility</p:attrName>
                                        </p:attrNameLst>
                                      </p:cBhvr>
                                      <p:to>
                                        <p:strVal val="hidden"/>
                                      </p:to>
                                    </p:set>
                                  </p:childTnLst>
                                </p:cTn>
                              </p:par>
                              <p:par>
                                <p:cTn id="212" presetID="10" presetClass="exit" presetSubtype="0" fill="hold" nodeType="withEffect">
                                  <p:stCondLst>
                                    <p:cond delay="0"/>
                                  </p:stCondLst>
                                  <p:childTnLst>
                                    <p:animEffect transition="out" filter="fade">
                                      <p:cBhvr>
                                        <p:cTn id="213" dur="500"/>
                                        <p:tgtEl>
                                          <p:spTgt spid="22"/>
                                        </p:tgtEl>
                                      </p:cBhvr>
                                    </p:animEffect>
                                    <p:set>
                                      <p:cBhvr>
                                        <p:cTn id="214" dur="1" fill="hold">
                                          <p:stCondLst>
                                            <p:cond delay="499"/>
                                          </p:stCondLst>
                                        </p:cTn>
                                        <p:tgtEl>
                                          <p:spTgt spid="22"/>
                                        </p:tgtEl>
                                        <p:attrNameLst>
                                          <p:attrName>style.visibility</p:attrName>
                                        </p:attrNameLst>
                                      </p:cBhvr>
                                      <p:to>
                                        <p:strVal val="hidden"/>
                                      </p:to>
                                    </p:set>
                                  </p:childTnLst>
                                </p:cTn>
                              </p:par>
                            </p:childTnLst>
                          </p:cTn>
                        </p:par>
                        <p:par>
                          <p:cTn id="215" fill="hold">
                            <p:stCondLst>
                              <p:cond delay="4500"/>
                            </p:stCondLst>
                            <p:childTnLst>
                              <p:par>
                                <p:cTn id="216" presetID="10" presetClass="entr" presetSubtype="0" fill="hold" nodeType="afterEffect">
                                  <p:stCondLst>
                                    <p:cond delay="0"/>
                                  </p:stCondLst>
                                  <p:childTnLst>
                                    <p:set>
                                      <p:cBhvr>
                                        <p:cTn id="217" dur="1" fill="hold">
                                          <p:stCondLst>
                                            <p:cond delay="0"/>
                                          </p:stCondLst>
                                        </p:cTn>
                                        <p:tgtEl>
                                          <p:spTgt spid="17"/>
                                        </p:tgtEl>
                                        <p:attrNameLst>
                                          <p:attrName>style.visibility</p:attrName>
                                        </p:attrNameLst>
                                      </p:cBhvr>
                                      <p:to>
                                        <p:strVal val="visible"/>
                                      </p:to>
                                    </p:set>
                                    <p:animEffect transition="in" filter="fade">
                                      <p:cBhvr>
                                        <p:cTn id="218" dur="500"/>
                                        <p:tgtEl>
                                          <p:spTgt spid="17"/>
                                        </p:tgtEl>
                                      </p:cBhvr>
                                    </p:animEffect>
                                  </p:childTnLst>
                                </p:cTn>
                              </p:par>
                              <p:par>
                                <p:cTn id="219" presetID="10" presetClass="exit" presetSubtype="0" fill="hold" nodeType="withEffect">
                                  <p:stCondLst>
                                    <p:cond delay="0"/>
                                  </p:stCondLst>
                                  <p:childTnLst>
                                    <p:animEffect transition="out" filter="fade">
                                      <p:cBhvr>
                                        <p:cTn id="220" dur="500"/>
                                        <p:tgtEl>
                                          <p:spTgt spid="132"/>
                                        </p:tgtEl>
                                      </p:cBhvr>
                                    </p:animEffect>
                                    <p:set>
                                      <p:cBhvr>
                                        <p:cTn id="221" dur="1" fill="hold">
                                          <p:stCondLst>
                                            <p:cond delay="499"/>
                                          </p:stCondLst>
                                        </p:cTn>
                                        <p:tgtEl>
                                          <p:spTgt spid="1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222" fill="hold" display="0">
                  <p:stCondLst>
                    <p:cond delay="indefinite"/>
                  </p:stCondLst>
                  <p:endCondLst>
                    <p:cond evt="onStopAudio" delay="0">
                      <p:tgtEl>
                        <p:sldTgt/>
                      </p:tgtEl>
                    </p:cond>
                  </p:endCondLst>
                </p:cTn>
                <p:tgtEl>
                  <p:spTgt spid="133"/>
                </p:tgtEl>
              </p:cMediaNode>
            </p:audio>
          </p:childTnLst>
        </p:cTn>
      </p:par>
    </p:tnLst>
    <p:bldLst>
      <p:bldP spid="34"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7BA7E-0DE7-CDF9-12B6-9787251C4017}"/>
              </a:ext>
            </a:extLst>
          </p:cNvPr>
          <p:cNvSpPr>
            <a:spLocks noGrp="1"/>
          </p:cNvSpPr>
          <p:nvPr>
            <p:ph type="title"/>
          </p:nvPr>
        </p:nvSpPr>
        <p:spPr/>
        <p:txBody>
          <a:bodyPr/>
          <a:lstStyle/>
          <a:p>
            <a:r>
              <a:rPr lang="fr-BE" dirty="0"/>
              <a:t>Renouvellement bail DHCP</a:t>
            </a:r>
          </a:p>
        </p:txBody>
      </p:sp>
      <p:sp>
        <p:nvSpPr>
          <p:cNvPr id="4" name="grey oval">
            <a:extLst>
              <a:ext uri="{FF2B5EF4-FFF2-40B4-BE49-F238E27FC236}">
                <a16:creationId xmlns:a16="http://schemas.microsoft.com/office/drawing/2014/main" id="{CF2E07DC-4D85-8C38-737C-8978A7B56556}"/>
              </a:ext>
            </a:extLst>
          </p:cNvPr>
          <p:cNvSpPr/>
          <p:nvPr/>
        </p:nvSpPr>
        <p:spPr>
          <a:xfrm>
            <a:off x="1702318" y="1916906"/>
            <a:ext cx="4896543" cy="1630511"/>
          </a:xfrm>
          <a:prstGeom prst="ellipse">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rgbClr val="FFFFFF"/>
              </a:solidFill>
            </a:endParaRPr>
          </a:p>
        </p:txBody>
      </p:sp>
      <p:sp>
        <p:nvSpPr>
          <p:cNvPr id="5" name="87.5 percent">
            <a:extLst>
              <a:ext uri="{FF2B5EF4-FFF2-40B4-BE49-F238E27FC236}">
                <a16:creationId xmlns:a16="http://schemas.microsoft.com/office/drawing/2014/main" id="{565D5B9B-A0DC-691C-F142-E7685BA07034}"/>
              </a:ext>
            </a:extLst>
          </p:cNvPr>
          <p:cNvSpPr>
            <a:spLocks noChangeArrowheads="1"/>
          </p:cNvSpPr>
          <p:nvPr/>
        </p:nvSpPr>
        <p:spPr bwMode="auto">
          <a:xfrm>
            <a:off x="6315301" y="3262241"/>
            <a:ext cx="1975122" cy="702441"/>
          </a:xfrm>
          <a:prstGeom prst="roundRect">
            <a:avLst>
              <a:gd name="adj" fmla="val 4167"/>
            </a:avLst>
          </a:prstGeom>
          <a:noFill/>
          <a:ln w="9525" algn="ctr">
            <a:noFill/>
            <a:round/>
            <a:headEnd/>
            <a:tailEnd/>
          </a:ln>
          <a:effectLst/>
        </p:spPr>
        <p:txBody>
          <a:bodyPr anchor="b"/>
          <a:lstStyle/>
          <a:p>
            <a:pPr algn="ctr">
              <a:lnSpc>
                <a:spcPct val="85000"/>
              </a:lnSpc>
            </a:pPr>
            <a:r>
              <a:rPr lang="en-US" sz="1600" b="1" dirty="0">
                <a:solidFill>
                  <a:srgbClr val="000000"/>
                </a:solidFill>
                <a:latin typeface="Segoe UI" pitchFamily="34" charset="0"/>
                <a:ea typeface="Segoe UI" pitchFamily="34" charset="0"/>
                <a:cs typeface="Segoe UI" pitchFamily="34" charset="0"/>
              </a:rPr>
              <a:t>87.5% of lease duration has expired</a:t>
            </a:r>
          </a:p>
        </p:txBody>
      </p:sp>
      <p:sp>
        <p:nvSpPr>
          <p:cNvPr id="6" name="main text">
            <a:extLst>
              <a:ext uri="{FF2B5EF4-FFF2-40B4-BE49-F238E27FC236}">
                <a16:creationId xmlns:a16="http://schemas.microsoft.com/office/drawing/2014/main" id="{6DDAC053-536D-D0E6-6432-7BC5FE0E7E81}"/>
              </a:ext>
            </a:extLst>
          </p:cNvPr>
          <p:cNvSpPr>
            <a:spLocks noChangeArrowheads="1"/>
          </p:cNvSpPr>
          <p:nvPr/>
        </p:nvSpPr>
        <p:spPr bwMode="auto">
          <a:xfrm>
            <a:off x="460375" y="3937032"/>
            <a:ext cx="8176882" cy="2306743"/>
          </a:xfrm>
          <a:prstGeom prst="roundRect">
            <a:avLst>
              <a:gd name="adj" fmla="val 4167"/>
            </a:avLst>
          </a:prstGeom>
          <a:noFill/>
          <a:ln w="9525" algn="ctr">
            <a:noFill/>
            <a:round/>
            <a:headEnd/>
            <a:tailEnd/>
          </a:ln>
        </p:spPr>
        <p:txBody>
          <a:bodyPr lIns="274320" anchor="ctr"/>
          <a:lstStyle/>
          <a:p>
            <a:pPr marL="457200" indent="-457200">
              <a:buFont typeface="+mj-lt"/>
              <a:buAutoNum type="arabicPeriod"/>
            </a:pPr>
            <a:endParaRPr lang="fr-BE" dirty="0">
              <a:solidFill>
                <a:srgbClr val="000000"/>
              </a:solidFill>
              <a:latin typeface="Segoe UI" pitchFamily="34" charset="0"/>
              <a:ea typeface="Segoe UI" pitchFamily="34" charset="0"/>
              <a:cs typeface="Segoe UI" pitchFamily="34" charset="0"/>
            </a:endParaRPr>
          </a:p>
        </p:txBody>
      </p:sp>
      <p:grpSp>
        <p:nvGrpSpPr>
          <p:cNvPr id="7" name="server 2">
            <a:extLst>
              <a:ext uri="{FF2B5EF4-FFF2-40B4-BE49-F238E27FC236}">
                <a16:creationId xmlns:a16="http://schemas.microsoft.com/office/drawing/2014/main" id="{5313DB81-708D-EE56-6A0A-ED28FCD9B4B8}"/>
              </a:ext>
            </a:extLst>
          </p:cNvPr>
          <p:cNvGrpSpPr/>
          <p:nvPr/>
        </p:nvGrpSpPr>
        <p:grpSpPr>
          <a:xfrm>
            <a:off x="2193540" y="1460413"/>
            <a:ext cx="2181600" cy="1136117"/>
            <a:chOff x="1142796" y="615707"/>
            <a:chExt cx="2181600" cy="1136117"/>
          </a:xfrm>
        </p:grpSpPr>
        <p:sp>
          <p:nvSpPr>
            <p:cNvPr id="8" name="AutoShape 39">
              <a:extLst>
                <a:ext uri="{FF2B5EF4-FFF2-40B4-BE49-F238E27FC236}">
                  <a16:creationId xmlns:a16="http://schemas.microsoft.com/office/drawing/2014/main" id="{CB2668AF-5A0B-619A-E6ED-B7EDE0526C5F}"/>
                </a:ext>
              </a:extLst>
            </p:cNvPr>
            <p:cNvSpPr>
              <a:spLocks noChangeArrowheads="1"/>
            </p:cNvSpPr>
            <p:nvPr/>
          </p:nvSpPr>
          <p:spPr bwMode="auto">
            <a:xfrm>
              <a:off x="1142796" y="1356097"/>
              <a:ext cx="2181600" cy="395727"/>
            </a:xfrm>
            <a:prstGeom prst="roundRect">
              <a:avLst>
                <a:gd name="adj" fmla="val 4167"/>
              </a:avLst>
            </a:prstGeom>
            <a:noFill/>
            <a:ln w="9525">
              <a:noFill/>
              <a:round/>
              <a:headEnd/>
              <a:tailEnd/>
            </a:ln>
          </p:spPr>
          <p:txBody>
            <a:bodyPr wrap="none" lIns="0" tIns="0" rIns="0" bIns="0" anchor="ctr"/>
            <a:lstStyle/>
            <a:p>
              <a:pPr algn="ctr"/>
              <a:r>
                <a:rPr lang="en-US" sz="1600" b="1" dirty="0">
                  <a:solidFill>
                    <a:srgbClr val="000000"/>
                  </a:solidFill>
                  <a:latin typeface="Segoe UI" pitchFamily="34" charset="0"/>
                  <a:ea typeface="Segoe UI" pitchFamily="34" charset="0"/>
                  <a:cs typeface="Segoe UI" pitchFamily="34" charset="0"/>
                </a:rPr>
                <a:t>DHCP Server2</a:t>
              </a:r>
            </a:p>
          </p:txBody>
        </p:sp>
        <p:pic>
          <p:nvPicPr>
            <p:cNvPr id="9" name="Picture 8">
              <a:extLst>
                <a:ext uri="{FF2B5EF4-FFF2-40B4-BE49-F238E27FC236}">
                  <a16:creationId xmlns:a16="http://schemas.microsoft.com/office/drawing/2014/main" id="{856C0596-9526-1AF2-B028-742FBA0450C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29473" y="615707"/>
              <a:ext cx="459847" cy="816589"/>
            </a:xfrm>
            <a:prstGeom prst="rect">
              <a:avLst/>
            </a:prstGeom>
          </p:spPr>
        </p:pic>
      </p:grpSp>
      <p:sp>
        <p:nvSpPr>
          <p:cNvPr id="10" name="AutoShape 37">
            <a:extLst>
              <a:ext uri="{FF2B5EF4-FFF2-40B4-BE49-F238E27FC236}">
                <a16:creationId xmlns:a16="http://schemas.microsoft.com/office/drawing/2014/main" id="{6FE109B9-C1ED-E687-FA15-1BBF4EF9F586}"/>
              </a:ext>
            </a:extLst>
          </p:cNvPr>
          <p:cNvSpPr>
            <a:spLocks noChangeArrowheads="1"/>
          </p:cNvSpPr>
          <p:nvPr/>
        </p:nvSpPr>
        <p:spPr bwMode="auto">
          <a:xfrm>
            <a:off x="5775062" y="1972492"/>
            <a:ext cx="1015436" cy="609019"/>
          </a:xfrm>
          <a:prstGeom prst="roundRect">
            <a:avLst>
              <a:gd name="adj" fmla="val 4167"/>
            </a:avLst>
          </a:prstGeom>
          <a:solidFill>
            <a:schemeClr val="bg1"/>
          </a:solidFill>
          <a:ln w="9525" algn="ctr">
            <a:noFill/>
            <a:round/>
            <a:headEnd/>
            <a:tailEnd/>
          </a:ln>
        </p:spPr>
        <p:txBody>
          <a:bodyPr wrap="none" lIns="0" tIns="0" rIns="0" bIns="0" anchor="ctr"/>
          <a:lstStyle/>
          <a:p>
            <a:pPr algn="ctr"/>
            <a:r>
              <a:rPr lang="en-US" sz="1600" b="1" dirty="0">
                <a:solidFill>
                  <a:srgbClr val="000000"/>
                </a:solidFill>
                <a:latin typeface="Segoe UI" pitchFamily="34" charset="0"/>
                <a:ea typeface="Segoe UI" pitchFamily="34" charset="0"/>
                <a:cs typeface="Segoe UI" pitchFamily="34" charset="0"/>
              </a:rPr>
              <a:t>DHCP</a:t>
            </a:r>
          </a:p>
          <a:p>
            <a:pPr algn="ctr"/>
            <a:r>
              <a:rPr lang="en-US" sz="1600" b="1" dirty="0">
                <a:solidFill>
                  <a:srgbClr val="000000"/>
                </a:solidFill>
                <a:latin typeface="Segoe UI" pitchFamily="34" charset="0"/>
                <a:ea typeface="Segoe UI" pitchFamily="34" charset="0"/>
                <a:cs typeface="Segoe UI" pitchFamily="34" charset="0"/>
              </a:rPr>
              <a:t>clients</a:t>
            </a:r>
          </a:p>
        </p:txBody>
      </p:sp>
      <p:pic>
        <p:nvPicPr>
          <p:cNvPr id="11" name="Picture 10">
            <a:extLst>
              <a:ext uri="{FF2B5EF4-FFF2-40B4-BE49-F238E27FC236}">
                <a16:creationId xmlns:a16="http://schemas.microsoft.com/office/drawing/2014/main" id="{137F20AB-0C55-B413-8277-0F5064034F6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61684" y="1322848"/>
            <a:ext cx="827557" cy="934254"/>
          </a:xfrm>
          <a:prstGeom prst="rect">
            <a:avLst/>
          </a:prstGeom>
        </p:spPr>
      </p:pic>
      <p:grpSp>
        <p:nvGrpSpPr>
          <p:cNvPr id="12" name="server 1">
            <a:extLst>
              <a:ext uri="{FF2B5EF4-FFF2-40B4-BE49-F238E27FC236}">
                <a16:creationId xmlns:a16="http://schemas.microsoft.com/office/drawing/2014/main" id="{B7BF1833-7AB9-6034-FB5D-16198051030A}"/>
              </a:ext>
            </a:extLst>
          </p:cNvPr>
          <p:cNvGrpSpPr/>
          <p:nvPr/>
        </p:nvGrpSpPr>
        <p:grpSpPr>
          <a:xfrm>
            <a:off x="1371600" y="2685249"/>
            <a:ext cx="2181600" cy="1219373"/>
            <a:chOff x="1311634" y="2524013"/>
            <a:chExt cx="2181600" cy="1219373"/>
          </a:xfrm>
        </p:grpSpPr>
        <p:sp>
          <p:nvSpPr>
            <p:cNvPr id="13" name="AutoShape 39">
              <a:extLst>
                <a:ext uri="{FF2B5EF4-FFF2-40B4-BE49-F238E27FC236}">
                  <a16:creationId xmlns:a16="http://schemas.microsoft.com/office/drawing/2014/main" id="{875718E2-CF19-E794-B896-6BA359A8D93F}"/>
                </a:ext>
              </a:extLst>
            </p:cNvPr>
            <p:cNvSpPr>
              <a:spLocks noChangeArrowheads="1"/>
            </p:cNvSpPr>
            <p:nvPr/>
          </p:nvSpPr>
          <p:spPr bwMode="auto">
            <a:xfrm>
              <a:off x="1311634" y="3347659"/>
              <a:ext cx="2181600" cy="395727"/>
            </a:xfrm>
            <a:prstGeom prst="roundRect">
              <a:avLst>
                <a:gd name="adj" fmla="val 4167"/>
              </a:avLst>
            </a:prstGeom>
            <a:noFill/>
            <a:ln w="9525">
              <a:noFill/>
              <a:round/>
              <a:headEnd/>
              <a:tailEnd/>
            </a:ln>
          </p:spPr>
          <p:txBody>
            <a:bodyPr wrap="none" lIns="0" tIns="0" rIns="0" bIns="0" anchor="ctr"/>
            <a:lstStyle/>
            <a:p>
              <a:pPr algn="ctr"/>
              <a:r>
                <a:rPr lang="en-US" sz="1600" b="1" dirty="0">
                  <a:solidFill>
                    <a:srgbClr val="000000"/>
                  </a:solidFill>
                  <a:latin typeface="Segoe UI" pitchFamily="34" charset="0"/>
                  <a:ea typeface="Segoe UI" pitchFamily="34" charset="0"/>
                  <a:cs typeface="Segoe UI" pitchFamily="34" charset="0"/>
                </a:rPr>
                <a:t>DHCP Server1</a:t>
              </a:r>
            </a:p>
          </p:txBody>
        </p:sp>
        <p:pic>
          <p:nvPicPr>
            <p:cNvPr id="14" name="Picture 13">
              <a:extLst>
                <a:ext uri="{FF2B5EF4-FFF2-40B4-BE49-F238E27FC236}">
                  <a16:creationId xmlns:a16="http://schemas.microsoft.com/office/drawing/2014/main" id="{B8FEE2C3-129B-3CDB-3F50-32D4FC753A7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128151" y="2524013"/>
              <a:ext cx="512625" cy="910312"/>
            </a:xfrm>
            <a:prstGeom prst="rect">
              <a:avLst/>
            </a:prstGeom>
          </p:spPr>
        </p:pic>
      </p:grpSp>
      <p:sp>
        <p:nvSpPr>
          <p:cNvPr id="15" name="50 percent">
            <a:extLst>
              <a:ext uri="{FF2B5EF4-FFF2-40B4-BE49-F238E27FC236}">
                <a16:creationId xmlns:a16="http://schemas.microsoft.com/office/drawing/2014/main" id="{041A0D91-0BB5-2955-B220-82CC980DC9D2}"/>
              </a:ext>
            </a:extLst>
          </p:cNvPr>
          <p:cNvSpPr>
            <a:spLocks noChangeArrowheads="1"/>
          </p:cNvSpPr>
          <p:nvPr/>
        </p:nvSpPr>
        <p:spPr bwMode="auto">
          <a:xfrm>
            <a:off x="6315301" y="3262241"/>
            <a:ext cx="1975122" cy="702441"/>
          </a:xfrm>
          <a:prstGeom prst="roundRect">
            <a:avLst>
              <a:gd name="adj" fmla="val 4167"/>
            </a:avLst>
          </a:prstGeom>
          <a:noFill/>
          <a:ln w="9525" algn="ctr">
            <a:noFill/>
            <a:round/>
            <a:headEnd/>
            <a:tailEnd/>
          </a:ln>
          <a:effectLst/>
        </p:spPr>
        <p:txBody>
          <a:bodyPr anchor="b"/>
          <a:lstStyle/>
          <a:p>
            <a:pPr algn="ctr">
              <a:lnSpc>
                <a:spcPct val="85000"/>
              </a:lnSpc>
            </a:pPr>
            <a:r>
              <a:rPr lang="en-US" sz="1600" b="1" dirty="0">
                <a:solidFill>
                  <a:srgbClr val="000000"/>
                </a:solidFill>
                <a:latin typeface="Segoe UI" pitchFamily="34" charset="0"/>
                <a:ea typeface="Segoe UI" pitchFamily="34" charset="0"/>
                <a:cs typeface="Segoe UI" pitchFamily="34" charset="0"/>
              </a:rPr>
              <a:t>50% of lease duration has expired</a:t>
            </a:r>
          </a:p>
        </p:txBody>
      </p:sp>
      <p:pic>
        <p:nvPicPr>
          <p:cNvPr id="16" name="workstation">
            <a:extLst>
              <a:ext uri="{FF2B5EF4-FFF2-40B4-BE49-F238E27FC236}">
                <a16:creationId xmlns:a16="http://schemas.microsoft.com/office/drawing/2014/main" id="{42C34F60-4870-77C4-C539-5263203EA6F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485496" y="2595657"/>
            <a:ext cx="968031" cy="1092840"/>
          </a:xfrm>
          <a:prstGeom prst="rect">
            <a:avLst/>
          </a:prstGeom>
        </p:spPr>
      </p:pic>
      <p:pic>
        <p:nvPicPr>
          <p:cNvPr id="17" name="clock">
            <a:extLst>
              <a:ext uri="{FF2B5EF4-FFF2-40B4-BE49-F238E27FC236}">
                <a16:creationId xmlns:a16="http://schemas.microsoft.com/office/drawing/2014/main" id="{26F74B42-D0E8-4201-D339-8598A68B2ED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927577" y="2503305"/>
            <a:ext cx="666563" cy="758935"/>
          </a:xfrm>
          <a:prstGeom prst="rect">
            <a:avLst/>
          </a:prstGeom>
        </p:spPr>
      </p:pic>
      <p:grpSp>
        <p:nvGrpSpPr>
          <p:cNvPr id="18" name="packet">
            <a:extLst>
              <a:ext uri="{FF2B5EF4-FFF2-40B4-BE49-F238E27FC236}">
                <a16:creationId xmlns:a16="http://schemas.microsoft.com/office/drawing/2014/main" id="{06C00CD1-B3F1-F762-FB10-79D770A39994}"/>
              </a:ext>
            </a:extLst>
          </p:cNvPr>
          <p:cNvGrpSpPr/>
          <p:nvPr/>
        </p:nvGrpSpPr>
        <p:grpSpPr>
          <a:xfrm>
            <a:off x="5476127" y="2981989"/>
            <a:ext cx="895968" cy="158416"/>
            <a:chOff x="5022443" y="3604216"/>
            <a:chExt cx="895968" cy="158416"/>
          </a:xfrm>
        </p:grpSpPr>
        <p:sp>
          <p:nvSpPr>
            <p:cNvPr id="19" name="Rectangle 18">
              <a:extLst>
                <a:ext uri="{FF2B5EF4-FFF2-40B4-BE49-F238E27FC236}">
                  <a16:creationId xmlns:a16="http://schemas.microsoft.com/office/drawing/2014/main" id="{CCA80DC3-66A2-17B8-9C93-DED7E050BD94}"/>
                </a:ext>
              </a:extLst>
            </p:cNvPr>
            <p:cNvSpPr/>
            <p:nvPr/>
          </p:nvSpPr>
          <p:spPr>
            <a:xfrm>
              <a:off x="5189437" y="3604216"/>
              <a:ext cx="550345" cy="1584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rgbClr val="FFFFFF"/>
                </a:solidFill>
              </a:endParaRPr>
            </a:p>
          </p:txBody>
        </p:sp>
        <p:sp>
          <p:nvSpPr>
            <p:cNvPr id="20" name="Rectangle 19">
              <a:extLst>
                <a:ext uri="{FF2B5EF4-FFF2-40B4-BE49-F238E27FC236}">
                  <a16:creationId xmlns:a16="http://schemas.microsoft.com/office/drawing/2014/main" id="{1E687F87-D7EA-729F-3636-2E7E29FE6005}"/>
                </a:ext>
              </a:extLst>
            </p:cNvPr>
            <p:cNvSpPr/>
            <p:nvPr/>
          </p:nvSpPr>
          <p:spPr>
            <a:xfrm>
              <a:off x="5739782" y="3604216"/>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rgbClr val="FFFFFF"/>
                </a:solidFill>
              </a:endParaRPr>
            </a:p>
          </p:txBody>
        </p:sp>
        <p:sp>
          <p:nvSpPr>
            <p:cNvPr id="21" name="Rectangle 20">
              <a:extLst>
                <a:ext uri="{FF2B5EF4-FFF2-40B4-BE49-F238E27FC236}">
                  <a16:creationId xmlns:a16="http://schemas.microsoft.com/office/drawing/2014/main" id="{B506EE51-7208-C8EE-49CA-7B43301DB6D2}"/>
                </a:ext>
              </a:extLst>
            </p:cNvPr>
            <p:cNvSpPr/>
            <p:nvPr/>
          </p:nvSpPr>
          <p:spPr>
            <a:xfrm>
              <a:off x="5022443" y="3604216"/>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rgbClr val="FFFFFF"/>
                </a:solidFill>
              </a:endParaRPr>
            </a:p>
          </p:txBody>
        </p:sp>
      </p:grpSp>
      <p:grpSp>
        <p:nvGrpSpPr>
          <p:cNvPr id="22" name="discover">
            <a:extLst>
              <a:ext uri="{FF2B5EF4-FFF2-40B4-BE49-F238E27FC236}">
                <a16:creationId xmlns:a16="http://schemas.microsoft.com/office/drawing/2014/main" id="{89273DDF-DABB-845D-5A23-89A8CB14A71B}"/>
              </a:ext>
            </a:extLst>
          </p:cNvPr>
          <p:cNvGrpSpPr/>
          <p:nvPr/>
        </p:nvGrpSpPr>
        <p:grpSpPr>
          <a:xfrm>
            <a:off x="5476127" y="2986145"/>
            <a:ext cx="895968" cy="158416"/>
            <a:chOff x="5022443" y="3604216"/>
            <a:chExt cx="895968" cy="158416"/>
          </a:xfrm>
        </p:grpSpPr>
        <p:sp>
          <p:nvSpPr>
            <p:cNvPr id="23" name="Rectangle 22">
              <a:extLst>
                <a:ext uri="{FF2B5EF4-FFF2-40B4-BE49-F238E27FC236}">
                  <a16:creationId xmlns:a16="http://schemas.microsoft.com/office/drawing/2014/main" id="{991DF812-37CB-222E-6A4F-2D1FCF499B7C}"/>
                </a:ext>
              </a:extLst>
            </p:cNvPr>
            <p:cNvSpPr/>
            <p:nvPr/>
          </p:nvSpPr>
          <p:spPr>
            <a:xfrm>
              <a:off x="5189437" y="3604216"/>
              <a:ext cx="550345" cy="15841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rgbClr val="FFFFFF"/>
                </a:solidFill>
              </a:endParaRPr>
            </a:p>
          </p:txBody>
        </p:sp>
        <p:sp>
          <p:nvSpPr>
            <p:cNvPr id="24" name="Rectangle 23">
              <a:extLst>
                <a:ext uri="{FF2B5EF4-FFF2-40B4-BE49-F238E27FC236}">
                  <a16:creationId xmlns:a16="http://schemas.microsoft.com/office/drawing/2014/main" id="{BDA2B35F-3C0F-DC43-F522-F8AAA18916B6}"/>
                </a:ext>
              </a:extLst>
            </p:cNvPr>
            <p:cNvSpPr/>
            <p:nvPr/>
          </p:nvSpPr>
          <p:spPr>
            <a:xfrm>
              <a:off x="5739782" y="3604216"/>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rgbClr val="FFFFFF"/>
                </a:solidFill>
              </a:endParaRPr>
            </a:p>
          </p:txBody>
        </p:sp>
        <p:sp>
          <p:nvSpPr>
            <p:cNvPr id="25" name="Rectangle 24">
              <a:extLst>
                <a:ext uri="{FF2B5EF4-FFF2-40B4-BE49-F238E27FC236}">
                  <a16:creationId xmlns:a16="http://schemas.microsoft.com/office/drawing/2014/main" id="{732505D3-649D-BA50-09CC-4102DD759DAF}"/>
                </a:ext>
              </a:extLst>
            </p:cNvPr>
            <p:cNvSpPr/>
            <p:nvPr/>
          </p:nvSpPr>
          <p:spPr>
            <a:xfrm>
              <a:off x="5022443" y="3604216"/>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rgbClr val="FFFFFF"/>
                </a:solidFill>
              </a:endParaRPr>
            </a:p>
          </p:txBody>
        </p:sp>
      </p:grpSp>
      <p:grpSp>
        <p:nvGrpSpPr>
          <p:cNvPr id="26" name="packet">
            <a:extLst>
              <a:ext uri="{FF2B5EF4-FFF2-40B4-BE49-F238E27FC236}">
                <a16:creationId xmlns:a16="http://schemas.microsoft.com/office/drawing/2014/main" id="{6A21D1C3-EAFE-79B2-A335-6ECD1B397A7D}"/>
              </a:ext>
            </a:extLst>
          </p:cNvPr>
          <p:cNvGrpSpPr/>
          <p:nvPr/>
        </p:nvGrpSpPr>
        <p:grpSpPr>
          <a:xfrm>
            <a:off x="1996445" y="2986145"/>
            <a:ext cx="895968" cy="158416"/>
            <a:chOff x="5022443" y="3604216"/>
            <a:chExt cx="895968" cy="158416"/>
          </a:xfrm>
        </p:grpSpPr>
        <p:sp>
          <p:nvSpPr>
            <p:cNvPr id="27" name="Rectangle 26">
              <a:extLst>
                <a:ext uri="{FF2B5EF4-FFF2-40B4-BE49-F238E27FC236}">
                  <a16:creationId xmlns:a16="http://schemas.microsoft.com/office/drawing/2014/main" id="{30816543-74DF-E81E-F20B-360FFF52B162}"/>
                </a:ext>
              </a:extLst>
            </p:cNvPr>
            <p:cNvSpPr/>
            <p:nvPr/>
          </p:nvSpPr>
          <p:spPr>
            <a:xfrm>
              <a:off x="5189437" y="3604216"/>
              <a:ext cx="550345" cy="1584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rgbClr val="FFFFFF"/>
                </a:solidFill>
              </a:endParaRPr>
            </a:p>
          </p:txBody>
        </p:sp>
        <p:sp>
          <p:nvSpPr>
            <p:cNvPr id="28" name="Rectangle 27">
              <a:extLst>
                <a:ext uri="{FF2B5EF4-FFF2-40B4-BE49-F238E27FC236}">
                  <a16:creationId xmlns:a16="http://schemas.microsoft.com/office/drawing/2014/main" id="{0A3FCEA3-B70B-23A7-B045-663A1A99A7F6}"/>
                </a:ext>
              </a:extLst>
            </p:cNvPr>
            <p:cNvSpPr/>
            <p:nvPr/>
          </p:nvSpPr>
          <p:spPr>
            <a:xfrm>
              <a:off x="5739782" y="3604216"/>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rgbClr val="FFFFFF"/>
                </a:solidFill>
              </a:endParaRPr>
            </a:p>
          </p:txBody>
        </p:sp>
        <p:sp>
          <p:nvSpPr>
            <p:cNvPr id="29" name="Rectangle 28">
              <a:extLst>
                <a:ext uri="{FF2B5EF4-FFF2-40B4-BE49-F238E27FC236}">
                  <a16:creationId xmlns:a16="http://schemas.microsoft.com/office/drawing/2014/main" id="{0D83A81E-B9E7-5285-E6B9-FADA4E7CC305}"/>
                </a:ext>
              </a:extLst>
            </p:cNvPr>
            <p:cNvSpPr/>
            <p:nvPr/>
          </p:nvSpPr>
          <p:spPr>
            <a:xfrm>
              <a:off x="5022443" y="3604216"/>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rgbClr val="FFFFFF"/>
                </a:solidFill>
              </a:endParaRPr>
            </a:p>
          </p:txBody>
        </p:sp>
      </p:grpSp>
      <p:sp>
        <p:nvSpPr>
          <p:cNvPr id="30" name="100 percent">
            <a:extLst>
              <a:ext uri="{FF2B5EF4-FFF2-40B4-BE49-F238E27FC236}">
                <a16:creationId xmlns:a16="http://schemas.microsoft.com/office/drawing/2014/main" id="{E4CCB977-C482-94B5-B54B-EF9CBF0275C8}"/>
              </a:ext>
            </a:extLst>
          </p:cNvPr>
          <p:cNvSpPr>
            <a:spLocks noChangeArrowheads="1"/>
          </p:cNvSpPr>
          <p:nvPr/>
        </p:nvSpPr>
        <p:spPr bwMode="auto">
          <a:xfrm>
            <a:off x="6273297" y="3262241"/>
            <a:ext cx="1975122" cy="702441"/>
          </a:xfrm>
          <a:prstGeom prst="roundRect">
            <a:avLst>
              <a:gd name="adj" fmla="val 4167"/>
            </a:avLst>
          </a:prstGeom>
          <a:noFill/>
          <a:ln w="9525" algn="ctr">
            <a:noFill/>
            <a:round/>
            <a:headEnd/>
            <a:tailEnd/>
          </a:ln>
          <a:effectLst/>
        </p:spPr>
        <p:txBody>
          <a:bodyPr anchor="b"/>
          <a:lstStyle/>
          <a:p>
            <a:pPr algn="ctr">
              <a:lnSpc>
                <a:spcPct val="85000"/>
              </a:lnSpc>
            </a:pPr>
            <a:r>
              <a:rPr lang="en-US" sz="1600" b="1" dirty="0">
                <a:solidFill>
                  <a:srgbClr val="000000"/>
                </a:solidFill>
                <a:latin typeface="Segoe UI" pitchFamily="34" charset="0"/>
                <a:ea typeface="Segoe UI" pitchFamily="34" charset="0"/>
                <a:cs typeface="Segoe UI" pitchFamily="34" charset="0"/>
              </a:rPr>
              <a:t>100% of lease duration has expired</a:t>
            </a:r>
          </a:p>
        </p:txBody>
      </p:sp>
      <p:pic>
        <p:nvPicPr>
          <p:cNvPr id="31" name="stop">
            <a:extLst>
              <a:ext uri="{FF2B5EF4-FFF2-40B4-BE49-F238E27FC236}">
                <a16:creationId xmlns:a16="http://schemas.microsoft.com/office/drawing/2014/main" id="{9546C351-A28C-2248-39B4-2D717661627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858125" y="6346401"/>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2" name="packet 2">
            <a:extLst>
              <a:ext uri="{FF2B5EF4-FFF2-40B4-BE49-F238E27FC236}">
                <a16:creationId xmlns:a16="http://schemas.microsoft.com/office/drawing/2014/main" id="{BB25B8F9-F894-288C-C555-7166DE2A00EC}"/>
              </a:ext>
            </a:extLst>
          </p:cNvPr>
          <p:cNvGrpSpPr/>
          <p:nvPr/>
        </p:nvGrpSpPr>
        <p:grpSpPr>
          <a:xfrm>
            <a:off x="5470309" y="2986145"/>
            <a:ext cx="895968" cy="158416"/>
            <a:chOff x="5022443" y="3604216"/>
            <a:chExt cx="895968" cy="158416"/>
          </a:xfrm>
        </p:grpSpPr>
        <p:sp>
          <p:nvSpPr>
            <p:cNvPr id="33" name="Rectangle 32">
              <a:extLst>
                <a:ext uri="{FF2B5EF4-FFF2-40B4-BE49-F238E27FC236}">
                  <a16:creationId xmlns:a16="http://schemas.microsoft.com/office/drawing/2014/main" id="{52722109-C792-E384-147F-51BFFEF89226}"/>
                </a:ext>
              </a:extLst>
            </p:cNvPr>
            <p:cNvSpPr/>
            <p:nvPr/>
          </p:nvSpPr>
          <p:spPr>
            <a:xfrm>
              <a:off x="5189437" y="3604216"/>
              <a:ext cx="550345" cy="1584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rgbClr val="FFFFFF"/>
                </a:solidFill>
              </a:endParaRPr>
            </a:p>
          </p:txBody>
        </p:sp>
        <p:sp>
          <p:nvSpPr>
            <p:cNvPr id="34" name="Rectangle 33">
              <a:extLst>
                <a:ext uri="{FF2B5EF4-FFF2-40B4-BE49-F238E27FC236}">
                  <a16:creationId xmlns:a16="http://schemas.microsoft.com/office/drawing/2014/main" id="{DD44C1E5-CF01-F5BF-8BEB-66A5888DCC5E}"/>
                </a:ext>
              </a:extLst>
            </p:cNvPr>
            <p:cNvSpPr/>
            <p:nvPr/>
          </p:nvSpPr>
          <p:spPr>
            <a:xfrm>
              <a:off x="5739782" y="3604216"/>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rgbClr val="FFFFFF"/>
                </a:solidFill>
              </a:endParaRPr>
            </a:p>
          </p:txBody>
        </p:sp>
        <p:sp>
          <p:nvSpPr>
            <p:cNvPr id="35" name="Rectangle 34">
              <a:extLst>
                <a:ext uri="{FF2B5EF4-FFF2-40B4-BE49-F238E27FC236}">
                  <a16:creationId xmlns:a16="http://schemas.microsoft.com/office/drawing/2014/main" id="{855916D3-9A7E-5275-4032-C87542CB33ED}"/>
                </a:ext>
              </a:extLst>
            </p:cNvPr>
            <p:cNvSpPr/>
            <p:nvPr/>
          </p:nvSpPr>
          <p:spPr>
            <a:xfrm>
              <a:off x="5022443" y="3604216"/>
              <a:ext cx="178629" cy="1584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rgbClr val="FFFFFF"/>
                </a:solidFill>
              </a:endParaRPr>
            </a:p>
          </p:txBody>
        </p:sp>
      </p:grpSp>
      <p:pic>
        <p:nvPicPr>
          <p:cNvPr id="36" name="play - alt text is here" descr="Graphic that depicts two DHCP servers (DHCP Server 1 and DHCP Server 2) and two DHCP clients. The frames of the build slide demonstrate how the DHCP renewal process works for one of the DHCP clients. &#10;Additionally, a label in the lower-right corner shows the percentage of the lease duration that has expired.">
            <a:extLst>
              <a:ext uri="{FF2B5EF4-FFF2-40B4-BE49-F238E27FC236}">
                <a16:creationId xmlns:a16="http://schemas.microsoft.com/office/drawing/2014/main" id="{4BB668A7-E162-574A-04FA-7BD2CE5C932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477125" y="6353175"/>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 name="TextBox 36">
            <a:extLst>
              <a:ext uri="{FF2B5EF4-FFF2-40B4-BE49-F238E27FC236}">
                <a16:creationId xmlns:a16="http://schemas.microsoft.com/office/drawing/2014/main" id="{2FBE3B45-31F4-B757-58FB-3A490D711C75}"/>
              </a:ext>
            </a:extLst>
          </p:cNvPr>
          <p:cNvSpPr txBox="1"/>
          <p:nvPr/>
        </p:nvSpPr>
        <p:spPr>
          <a:xfrm>
            <a:off x="490412" y="4268019"/>
            <a:ext cx="7474877" cy="2585323"/>
          </a:xfrm>
          <a:prstGeom prst="rect">
            <a:avLst/>
          </a:prstGeom>
          <a:noFill/>
        </p:spPr>
        <p:txBody>
          <a:bodyPr wrap="square" rtlCol="0">
            <a:spAutoFit/>
          </a:bodyPr>
          <a:lstStyle/>
          <a:p>
            <a:pPr marL="342900" indent="-342900">
              <a:buFont typeface="+mj-lt"/>
              <a:buAutoNum type="arabicPeriod"/>
            </a:pPr>
            <a:r>
              <a:rPr lang="en-US" dirty="0">
                <a:solidFill>
                  <a:srgbClr val="000000"/>
                </a:solidFill>
                <a:latin typeface="Segoe UI" pitchFamily="34" charset="0"/>
                <a:ea typeface="Segoe UI" pitchFamily="34" charset="0"/>
                <a:cs typeface="Segoe UI" pitchFamily="34" charset="0"/>
              </a:rPr>
              <a:t>Le client DHCP envoi un </a:t>
            </a:r>
            <a:r>
              <a:rPr lang="en-US" dirty="0" err="1">
                <a:solidFill>
                  <a:srgbClr val="000000"/>
                </a:solidFill>
                <a:latin typeface="Segoe UI" pitchFamily="34" charset="0"/>
                <a:ea typeface="Segoe UI" pitchFamily="34" charset="0"/>
                <a:cs typeface="Segoe UI" pitchFamily="34" charset="0"/>
              </a:rPr>
              <a:t>paquet</a:t>
            </a:r>
            <a:r>
              <a:rPr lang="en-US" dirty="0">
                <a:solidFill>
                  <a:srgbClr val="000000"/>
                </a:solidFill>
                <a:latin typeface="Segoe UI" pitchFamily="34" charset="0"/>
                <a:ea typeface="Segoe UI" pitchFamily="34" charset="0"/>
                <a:cs typeface="Segoe UI" pitchFamily="34" charset="0"/>
              </a:rPr>
              <a:t> DHCPREQUEST</a:t>
            </a:r>
          </a:p>
          <a:p>
            <a:pPr marL="342900" indent="-342900">
              <a:buFont typeface="+mj-lt"/>
              <a:buAutoNum type="arabicPeriod"/>
            </a:pPr>
            <a:r>
              <a:rPr lang="en-US" dirty="0">
                <a:solidFill>
                  <a:srgbClr val="000000"/>
                </a:solidFill>
                <a:latin typeface="Segoe UI" pitchFamily="34" charset="0"/>
                <a:ea typeface="Segoe UI" pitchFamily="34" charset="0"/>
                <a:cs typeface="Segoe UI" pitchFamily="34" charset="0"/>
              </a:rPr>
              <a:t>Le </a:t>
            </a:r>
            <a:r>
              <a:rPr lang="en-US" dirty="0" err="1">
                <a:solidFill>
                  <a:srgbClr val="000000"/>
                </a:solidFill>
                <a:latin typeface="Segoe UI" pitchFamily="34" charset="0"/>
                <a:ea typeface="Segoe UI" pitchFamily="34" charset="0"/>
                <a:cs typeface="Segoe UI" pitchFamily="34" charset="0"/>
              </a:rPr>
              <a:t>serveur</a:t>
            </a:r>
            <a:r>
              <a:rPr lang="en-US" dirty="0">
                <a:solidFill>
                  <a:srgbClr val="000000"/>
                </a:solidFill>
                <a:latin typeface="Segoe UI" pitchFamily="34" charset="0"/>
                <a:ea typeface="Segoe UI" pitchFamily="34" charset="0"/>
                <a:cs typeface="Segoe UI" pitchFamily="34" charset="0"/>
              </a:rPr>
              <a:t> DHCP 1 envoi un </a:t>
            </a:r>
            <a:r>
              <a:rPr lang="en-US" dirty="0" err="1">
                <a:solidFill>
                  <a:srgbClr val="000000"/>
                </a:solidFill>
                <a:latin typeface="Segoe UI" pitchFamily="34" charset="0"/>
                <a:ea typeface="Segoe UI" pitchFamily="34" charset="0"/>
                <a:cs typeface="Segoe UI" pitchFamily="34" charset="0"/>
              </a:rPr>
              <a:t>paquet</a:t>
            </a:r>
            <a:r>
              <a:rPr lang="en-US" dirty="0">
                <a:solidFill>
                  <a:srgbClr val="000000"/>
                </a:solidFill>
                <a:latin typeface="Segoe UI" pitchFamily="34" charset="0"/>
                <a:ea typeface="Segoe UI" pitchFamily="34" charset="0"/>
                <a:cs typeface="Segoe UI" pitchFamily="34" charset="0"/>
              </a:rPr>
              <a:t> DHCPACK</a:t>
            </a:r>
            <a:endParaRPr lang="fr-BE" dirty="0">
              <a:solidFill>
                <a:srgbClr val="000000"/>
              </a:solidFill>
              <a:latin typeface="Segoe UI" pitchFamily="34" charset="0"/>
              <a:ea typeface="Segoe UI" pitchFamily="34" charset="0"/>
              <a:cs typeface="Segoe UI" pitchFamily="34" charset="0"/>
            </a:endParaRPr>
          </a:p>
          <a:p>
            <a:pPr marL="342900" indent="-342900">
              <a:buFont typeface="+mj-lt"/>
              <a:buAutoNum type="arabicPeriod"/>
            </a:pPr>
            <a:r>
              <a:rPr lang="fr-BE" dirty="0">
                <a:solidFill>
                  <a:srgbClr val="000000"/>
                </a:solidFill>
                <a:latin typeface="Segoe UI" pitchFamily="34" charset="0"/>
                <a:ea typeface="Segoe UI" pitchFamily="34" charset="0"/>
                <a:cs typeface="Segoe UI" pitchFamily="34" charset="0"/>
              </a:rPr>
              <a:t>Si le client ne parvient pas à renouveler son bail après l'expiration de 50% de la durée du bail, le processus de renouvellement du bail DHCP recommence après que 87,5% de la durée du bail a expiré</a:t>
            </a:r>
          </a:p>
          <a:p>
            <a:pPr marL="342900" indent="-342900">
              <a:buFont typeface="+mj-lt"/>
              <a:buAutoNum type="arabicPeriod"/>
            </a:pPr>
            <a:r>
              <a:rPr lang="fr-BE" dirty="0">
                <a:solidFill>
                  <a:srgbClr val="000000"/>
                </a:solidFill>
                <a:latin typeface="Segoe UI" pitchFamily="34" charset="0"/>
                <a:ea typeface="Segoe UI" pitchFamily="34" charset="0"/>
                <a:cs typeface="Segoe UI" pitchFamily="34" charset="0"/>
              </a:rPr>
              <a:t>Si le client ne parvient pas à renouveler son bail après que 87,5%     du bail a expiré, le processus de génération de bail DHCP recommence avec un client DHCP diffusant un DHCPDISCOVER</a:t>
            </a:r>
          </a:p>
          <a:p>
            <a:endParaRPr lang="fr-BE" dirty="0"/>
          </a:p>
        </p:txBody>
      </p:sp>
      <p:pic>
        <p:nvPicPr>
          <p:cNvPr id="38" name="Audio 3">
            <a:hlinkClick r:id="" action="ppaction://media"/>
            <a:extLst>
              <a:ext uri="{FF2B5EF4-FFF2-40B4-BE49-F238E27FC236}">
                <a16:creationId xmlns:a16="http://schemas.microsoft.com/office/drawing/2014/main" id="{5291013E-8899-01DA-42E2-246810B83310}"/>
              </a:ext>
            </a:extLst>
          </p:cNvPr>
          <p:cNvPicPr>
            <a:picLocks noChangeAspect="1"/>
          </p:cNvPicPr>
          <p:nvPr>
            <a:audioFile r:link="rId2"/>
            <p:extLst>
              <p:ext uri="{DAA4B4D4-6D71-4841-9C94-3DE7FCFB9230}">
                <p14:media xmlns:p14="http://schemas.microsoft.com/office/powerpoint/2010/main" r:embed="rId1"/>
              </p:ext>
            </p:extLst>
          </p:nvPr>
        </p:nvPicPr>
        <p:blipFill>
          <a:blip r:embed="rId11"/>
          <a:stretch>
            <a:fillRect/>
          </a:stretch>
        </p:blipFill>
        <p:spPr>
          <a:xfrm>
            <a:off x="8382000" y="6343650"/>
            <a:ext cx="609600" cy="609600"/>
          </a:xfrm>
          <a:prstGeom prst="rect">
            <a:avLst/>
          </a:prstGeom>
        </p:spPr>
      </p:pic>
    </p:spTree>
    <p:extLst>
      <p:ext uri="{BB962C8B-B14F-4D97-AF65-F5344CB8AC3E}">
        <p14:creationId xmlns:p14="http://schemas.microsoft.com/office/powerpoint/2010/main" val="27834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944" fill="hold"/>
                                        <p:tgtEl>
                                          <p:spTgt spid="38"/>
                                        </p:tgtEl>
                                      </p:cBhvr>
                                    </p:cmd>
                                  </p:childTnLst>
                                </p:cTn>
                              </p:par>
                              <p:par>
                                <p:cTn id="7" presetID="1" presetClass="entr" presetSubtype="0" fill="hold"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par>
                                <p:cTn id="9" presetID="10"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500"/>
                                        <p:tgtEl>
                                          <p:spTgt spid="18"/>
                                        </p:tgtEl>
                                      </p:cBhvr>
                                    </p:animEffect>
                                  </p:childTnLst>
                                </p:cTn>
                              </p:par>
                              <p:par>
                                <p:cTn id="12" presetID="42" presetClass="path" presetSubtype="0" accel="50000" decel="50000" fill="hold" nodeType="withEffect">
                                  <p:stCondLst>
                                    <p:cond delay="0"/>
                                  </p:stCondLst>
                                  <p:childTnLst>
                                    <p:animMotion origin="layout" path="M 2.5E-6 3.7037E-6 L -0.36055 0.00578 " pathEditMode="relative" rAng="0" ptsTypes="AA">
                                      <p:cBhvr>
                                        <p:cTn id="13" dur="2000" fill="hold"/>
                                        <p:tgtEl>
                                          <p:spTgt spid="18"/>
                                        </p:tgtEl>
                                        <p:attrNameLst>
                                          <p:attrName>ppt_x</p:attrName>
                                          <p:attrName>ppt_y</p:attrName>
                                        </p:attrNameLst>
                                      </p:cBhvr>
                                      <p:rCtr x="-18034" y="278"/>
                                    </p:animMotion>
                                  </p:childTnLst>
                                </p:cTn>
                              </p:par>
                            </p:childTnLst>
                          </p:cTn>
                        </p:par>
                        <p:par>
                          <p:cTn id="14" fill="hold">
                            <p:stCondLst>
                              <p:cond delay="2000"/>
                            </p:stCondLst>
                            <p:childTnLst>
                              <p:par>
                                <p:cTn id="15" presetID="10" presetClass="exit" presetSubtype="0" fill="hold" nodeType="afterEffect">
                                  <p:stCondLst>
                                    <p:cond delay="0"/>
                                  </p:stCondLst>
                                  <p:childTnLst>
                                    <p:animEffect transition="out" filter="fade">
                                      <p:cBhvr>
                                        <p:cTn id="16" dur="500"/>
                                        <p:tgtEl>
                                          <p:spTgt spid="18"/>
                                        </p:tgtEl>
                                      </p:cBhvr>
                                    </p:animEffect>
                                    <p:set>
                                      <p:cBhvr>
                                        <p:cTn id="17" dur="1" fill="hold">
                                          <p:stCondLst>
                                            <p:cond delay="499"/>
                                          </p:stCondLst>
                                        </p:cTn>
                                        <p:tgtEl>
                                          <p:spTgt spid="1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7">
                                            <p:txEl>
                                              <p:pRg st="0" end="0"/>
                                            </p:txEl>
                                          </p:spTgt>
                                        </p:tgtEl>
                                        <p:attrNameLst>
                                          <p:attrName>style.visibility</p:attrName>
                                        </p:attrNameLst>
                                      </p:cBhvr>
                                      <p:to>
                                        <p:strVal val="visible"/>
                                      </p:to>
                                    </p:set>
                                    <p:animEffect transition="in" filter="fade">
                                      <p:cBhvr>
                                        <p:cTn id="22" dur="500"/>
                                        <p:tgtEl>
                                          <p:spTgt spid="37">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nodePh="1">
                                  <p:stCondLst>
                                    <p:cond delay="0"/>
                                  </p:stCondLst>
                                  <p:endCondLst>
                                    <p:cond evt="begin" delay="0">
                                      <p:tn val="25"/>
                                    </p:cond>
                                  </p:endCondLst>
                                  <p:childTnLst>
                                    <p:set>
                                      <p:cBhvr>
                                        <p:cTn id="26" dur="1" fill="hold">
                                          <p:stCondLst>
                                            <p:cond delay="0"/>
                                          </p:stCondLst>
                                        </p:cTn>
                                        <p:tgtEl>
                                          <p:spTgt spid="6">
                                            <p:txEl>
                                              <p:pRg st="0" end="0"/>
                                            </p:txEl>
                                          </p:spTgt>
                                        </p:tgtEl>
                                        <p:attrNameLst>
                                          <p:attrName>style.visibility</p:attrName>
                                        </p:attrNameLst>
                                      </p:cBhvr>
                                      <p:to>
                                        <p:strVal val="visible"/>
                                      </p:to>
                                    </p:set>
                                    <p:animEffect transition="in" filter="fade">
                                      <p:cBhvr>
                                        <p:cTn id="27" dur="500"/>
                                        <p:tgtEl>
                                          <p:spTgt spid="6">
                                            <p:txEl>
                                              <p:pRg st="0" end="0"/>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fade">
                                      <p:cBhvr>
                                        <p:cTn id="30" dur="500"/>
                                        <p:tgtEl>
                                          <p:spTgt spid="26"/>
                                        </p:tgtEl>
                                      </p:cBhvr>
                                    </p:animEffect>
                                  </p:childTnLst>
                                </p:cTn>
                              </p:par>
                              <p:par>
                                <p:cTn id="31" presetID="42" presetClass="path" presetSubtype="0" accel="50000" decel="50000" fill="hold" nodeType="withEffect">
                                  <p:stCondLst>
                                    <p:cond delay="0"/>
                                  </p:stCondLst>
                                  <p:childTnLst>
                                    <p:animMotion origin="layout" path="M 0.01992 0.00509 L 0.38633 -0.00023 " pathEditMode="relative" rAng="0" ptsTypes="AA">
                                      <p:cBhvr>
                                        <p:cTn id="32" dur="2000" fill="hold"/>
                                        <p:tgtEl>
                                          <p:spTgt spid="26"/>
                                        </p:tgtEl>
                                        <p:attrNameLst>
                                          <p:attrName>ppt_x</p:attrName>
                                          <p:attrName>ppt_y</p:attrName>
                                        </p:attrNameLst>
                                      </p:cBhvr>
                                      <p:rCtr x="18320" y="-278"/>
                                    </p:animMotion>
                                  </p:childTnLst>
                                </p:cTn>
                              </p:par>
                            </p:childTnLst>
                          </p:cTn>
                        </p:par>
                        <p:par>
                          <p:cTn id="33" fill="hold">
                            <p:stCondLst>
                              <p:cond delay="2000"/>
                            </p:stCondLst>
                            <p:childTnLst>
                              <p:par>
                                <p:cTn id="34" presetID="10" presetClass="exit" presetSubtype="0" fill="hold" nodeType="afterEffect">
                                  <p:stCondLst>
                                    <p:cond delay="0"/>
                                  </p:stCondLst>
                                  <p:childTnLst>
                                    <p:animEffect transition="out" filter="fade">
                                      <p:cBhvr>
                                        <p:cTn id="35" dur="500"/>
                                        <p:tgtEl>
                                          <p:spTgt spid="26"/>
                                        </p:tgtEl>
                                      </p:cBhvr>
                                    </p:animEffect>
                                    <p:set>
                                      <p:cBhvr>
                                        <p:cTn id="36" dur="1" fill="hold">
                                          <p:stCondLst>
                                            <p:cond delay="499"/>
                                          </p:stCondLst>
                                        </p:cTn>
                                        <p:tgtEl>
                                          <p:spTgt spid="26"/>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7">
                                            <p:txEl>
                                              <p:pRg st="1" end="1"/>
                                            </p:txEl>
                                          </p:spTgt>
                                        </p:tgtEl>
                                        <p:attrNameLst>
                                          <p:attrName>style.visibility</p:attrName>
                                        </p:attrNameLst>
                                      </p:cBhvr>
                                      <p:to>
                                        <p:strVal val="visible"/>
                                      </p:to>
                                    </p:set>
                                    <p:animEffect transition="in" filter="fade">
                                      <p:cBhvr>
                                        <p:cTn id="41" dur="500"/>
                                        <p:tgtEl>
                                          <p:spTgt spid="37">
                                            <p:txEl>
                                              <p:pRg st="1" end="1"/>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7">
                                            <p:txEl>
                                              <p:pRg st="2" end="2"/>
                                            </p:txEl>
                                          </p:spTgt>
                                        </p:tgtEl>
                                        <p:attrNameLst>
                                          <p:attrName>style.visibility</p:attrName>
                                        </p:attrNameLst>
                                      </p:cBhvr>
                                      <p:to>
                                        <p:strVal val="visible"/>
                                      </p:to>
                                    </p:set>
                                    <p:animEffect transition="in" filter="fade">
                                      <p:cBhvr>
                                        <p:cTn id="46" dur="500"/>
                                        <p:tgtEl>
                                          <p:spTgt spid="37">
                                            <p:txEl>
                                              <p:pRg st="2" end="2"/>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1" nodeType="clickEffect">
                                  <p:stCondLst>
                                    <p:cond delay="0"/>
                                  </p:stCondLst>
                                  <p:childTnLst>
                                    <p:set>
                                      <p:cBhvr>
                                        <p:cTn id="50" dur="1" fill="hold">
                                          <p:stCondLst>
                                            <p:cond delay="0"/>
                                          </p:stCondLst>
                                        </p:cTn>
                                        <p:tgtEl>
                                          <p:spTgt spid="5"/>
                                        </p:tgtEl>
                                        <p:attrNameLst>
                                          <p:attrName>style.visibility</p:attrName>
                                        </p:attrNameLst>
                                      </p:cBhvr>
                                      <p:to>
                                        <p:strVal val="visible"/>
                                      </p:to>
                                    </p:set>
                                    <p:animEffect transition="in" filter="fade">
                                      <p:cBhvr>
                                        <p:cTn id="51" dur="500"/>
                                        <p:tgtEl>
                                          <p:spTgt spid="5"/>
                                        </p:tgtEl>
                                      </p:cBhvr>
                                    </p:animEffect>
                                  </p:childTnLst>
                                </p:cTn>
                              </p:par>
                              <p:par>
                                <p:cTn id="52" presetID="10" presetClass="exit" presetSubtype="0" fill="hold" grpId="0" nodeType="withEffect">
                                  <p:stCondLst>
                                    <p:cond delay="0"/>
                                  </p:stCondLst>
                                  <p:childTnLst>
                                    <p:animEffect transition="out" filter="fade">
                                      <p:cBhvr>
                                        <p:cTn id="53" dur="500"/>
                                        <p:tgtEl>
                                          <p:spTgt spid="15"/>
                                        </p:tgtEl>
                                      </p:cBhvr>
                                    </p:animEffect>
                                    <p:set>
                                      <p:cBhvr>
                                        <p:cTn id="54" dur="1" fill="hold">
                                          <p:stCondLst>
                                            <p:cond delay="499"/>
                                          </p:stCondLst>
                                        </p:cTn>
                                        <p:tgtEl>
                                          <p:spTgt spid="15"/>
                                        </p:tgtEl>
                                        <p:attrNameLst>
                                          <p:attrName>style.visibility</p:attrName>
                                        </p:attrNameLst>
                                      </p:cBhvr>
                                      <p:to>
                                        <p:strVal val="hidden"/>
                                      </p:to>
                                    </p:set>
                                  </p:childTnLst>
                                </p:cTn>
                              </p:par>
                            </p:childTnLst>
                          </p:cTn>
                        </p:par>
                        <p:par>
                          <p:cTn id="55" fill="hold">
                            <p:stCondLst>
                              <p:cond delay="500"/>
                            </p:stCondLst>
                            <p:childTnLst>
                              <p:par>
                                <p:cTn id="56" presetID="10" presetClass="entr" presetSubtype="0" fill="hold" nodeType="afterEffect">
                                  <p:stCondLst>
                                    <p:cond delay="1250"/>
                                  </p:stCondLst>
                                  <p:childTnLst>
                                    <p:set>
                                      <p:cBhvr>
                                        <p:cTn id="57" dur="1" fill="hold">
                                          <p:stCondLst>
                                            <p:cond delay="0"/>
                                          </p:stCondLst>
                                        </p:cTn>
                                        <p:tgtEl>
                                          <p:spTgt spid="32"/>
                                        </p:tgtEl>
                                        <p:attrNameLst>
                                          <p:attrName>style.visibility</p:attrName>
                                        </p:attrNameLst>
                                      </p:cBhvr>
                                      <p:to>
                                        <p:strVal val="visible"/>
                                      </p:to>
                                    </p:set>
                                    <p:animEffect transition="in" filter="fade">
                                      <p:cBhvr>
                                        <p:cTn id="58" dur="500"/>
                                        <p:tgtEl>
                                          <p:spTgt spid="32"/>
                                        </p:tgtEl>
                                      </p:cBhvr>
                                    </p:animEffect>
                                  </p:childTnLst>
                                </p:cTn>
                              </p:par>
                            </p:childTnLst>
                          </p:cTn>
                        </p:par>
                        <p:par>
                          <p:cTn id="59" fill="hold">
                            <p:stCondLst>
                              <p:cond delay="2250"/>
                            </p:stCondLst>
                            <p:childTnLst>
                              <p:par>
                                <p:cTn id="60" presetID="42" presetClass="path" presetSubtype="0" accel="50000" decel="50000" fill="hold" nodeType="afterEffect">
                                  <p:stCondLst>
                                    <p:cond delay="0"/>
                                  </p:stCondLst>
                                  <p:childTnLst>
                                    <p:animMotion origin="layout" path="M 3.33333E-6 -7.40741E-7 L -0.38125 0.00509 " pathEditMode="relative" rAng="0" ptsTypes="AA">
                                      <p:cBhvr>
                                        <p:cTn id="61" dur="2000" fill="hold"/>
                                        <p:tgtEl>
                                          <p:spTgt spid="32"/>
                                        </p:tgtEl>
                                        <p:attrNameLst>
                                          <p:attrName>ppt_x</p:attrName>
                                          <p:attrName>ppt_y</p:attrName>
                                        </p:attrNameLst>
                                      </p:cBhvr>
                                      <p:rCtr x="-19062" y="255"/>
                                    </p:animMotion>
                                  </p:childTnLst>
                                </p:cTn>
                              </p:par>
                            </p:childTnLst>
                          </p:cTn>
                        </p:par>
                        <p:par>
                          <p:cTn id="62" fill="hold">
                            <p:stCondLst>
                              <p:cond delay="4250"/>
                            </p:stCondLst>
                            <p:childTnLst>
                              <p:par>
                                <p:cTn id="63" presetID="10" presetClass="exit" presetSubtype="0" fill="hold" nodeType="afterEffect">
                                  <p:stCondLst>
                                    <p:cond delay="0"/>
                                  </p:stCondLst>
                                  <p:childTnLst>
                                    <p:animEffect transition="out" filter="fade">
                                      <p:cBhvr>
                                        <p:cTn id="64" dur="500"/>
                                        <p:tgtEl>
                                          <p:spTgt spid="32"/>
                                        </p:tgtEl>
                                      </p:cBhvr>
                                    </p:animEffect>
                                    <p:set>
                                      <p:cBhvr>
                                        <p:cTn id="65" dur="1" fill="hold">
                                          <p:stCondLst>
                                            <p:cond delay="499"/>
                                          </p:stCondLst>
                                        </p:cTn>
                                        <p:tgtEl>
                                          <p:spTgt spid="32"/>
                                        </p:tgtEl>
                                        <p:attrNameLst>
                                          <p:attrName>style.visibility</p:attrName>
                                        </p:attrNameLst>
                                      </p:cBhvr>
                                      <p:to>
                                        <p:strVal val="hidden"/>
                                      </p:to>
                                    </p:set>
                                  </p:childTnLst>
                                </p:cTn>
                              </p:par>
                            </p:childTnLst>
                          </p:cTn>
                        </p:par>
                        <p:par>
                          <p:cTn id="66" fill="hold">
                            <p:stCondLst>
                              <p:cond delay="4750"/>
                            </p:stCondLst>
                            <p:childTnLst>
                              <p:par>
                                <p:cTn id="67" presetID="10" presetClass="entr" presetSubtype="0" fill="hold" nodeType="afterEffect">
                                  <p:stCondLst>
                                    <p:cond delay="0"/>
                                  </p:stCondLst>
                                  <p:childTnLst>
                                    <p:set>
                                      <p:cBhvr>
                                        <p:cTn id="68" dur="1" fill="hold">
                                          <p:stCondLst>
                                            <p:cond delay="0"/>
                                          </p:stCondLst>
                                        </p:cTn>
                                        <p:tgtEl>
                                          <p:spTgt spid="32"/>
                                        </p:tgtEl>
                                        <p:attrNameLst>
                                          <p:attrName>style.visibility</p:attrName>
                                        </p:attrNameLst>
                                      </p:cBhvr>
                                      <p:to>
                                        <p:strVal val="visible"/>
                                      </p:to>
                                    </p:set>
                                    <p:animEffect transition="in" filter="fade">
                                      <p:cBhvr>
                                        <p:cTn id="69" dur="500"/>
                                        <p:tgtEl>
                                          <p:spTgt spid="32"/>
                                        </p:tgtEl>
                                      </p:cBhvr>
                                    </p:animEffect>
                                  </p:childTnLst>
                                </p:cTn>
                              </p:par>
                            </p:childTnLst>
                          </p:cTn>
                        </p:par>
                        <p:par>
                          <p:cTn id="70" fill="hold">
                            <p:stCondLst>
                              <p:cond delay="5250"/>
                            </p:stCondLst>
                            <p:childTnLst>
                              <p:par>
                                <p:cTn id="71" presetID="42" presetClass="path" presetSubtype="0" accel="50000" decel="50000" fill="hold" nodeType="afterEffect">
                                  <p:stCondLst>
                                    <p:cond delay="0"/>
                                  </p:stCondLst>
                                  <p:childTnLst>
                                    <p:animMotion origin="layout" path="M -0.37748 0.00486 L 0.00612 -7.40741E-7 " pathEditMode="relative" rAng="0" ptsTypes="AA">
                                      <p:cBhvr>
                                        <p:cTn id="72" dur="2000" fill="hold"/>
                                        <p:tgtEl>
                                          <p:spTgt spid="32"/>
                                        </p:tgtEl>
                                        <p:attrNameLst>
                                          <p:attrName>ppt_x</p:attrName>
                                          <p:attrName>ppt_y</p:attrName>
                                        </p:attrNameLst>
                                      </p:cBhvr>
                                      <p:rCtr x="19180" y="-255"/>
                                    </p:animMotion>
                                  </p:childTnLst>
                                </p:cTn>
                              </p:par>
                            </p:childTnLst>
                          </p:cTn>
                        </p:par>
                        <p:par>
                          <p:cTn id="73" fill="hold">
                            <p:stCondLst>
                              <p:cond delay="7250"/>
                            </p:stCondLst>
                            <p:childTnLst>
                              <p:par>
                                <p:cTn id="74" presetID="10" presetClass="exit" presetSubtype="0" fill="hold" nodeType="afterEffect">
                                  <p:stCondLst>
                                    <p:cond delay="0"/>
                                  </p:stCondLst>
                                  <p:childTnLst>
                                    <p:animEffect transition="out" filter="fade">
                                      <p:cBhvr>
                                        <p:cTn id="75" dur="500"/>
                                        <p:tgtEl>
                                          <p:spTgt spid="32"/>
                                        </p:tgtEl>
                                      </p:cBhvr>
                                    </p:animEffect>
                                    <p:set>
                                      <p:cBhvr>
                                        <p:cTn id="76" dur="1" fill="hold">
                                          <p:stCondLst>
                                            <p:cond delay="499"/>
                                          </p:stCondLst>
                                        </p:cTn>
                                        <p:tgtEl>
                                          <p:spTgt spid="32"/>
                                        </p:tgtEl>
                                        <p:attrNameLst>
                                          <p:attrName>style.visibility</p:attrName>
                                        </p:attrNameLst>
                                      </p:cBhvr>
                                      <p:to>
                                        <p:strVal val="hidden"/>
                                      </p:to>
                                    </p:set>
                                  </p:childTnLst>
                                </p:cTn>
                              </p:par>
                              <p:par>
                                <p:cTn id="77" presetID="10" presetClass="entr" presetSubtype="0" fill="hold" grpId="0"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500"/>
                                        <p:tgtEl>
                                          <p:spTgt spid="30"/>
                                        </p:tgtEl>
                                      </p:cBhvr>
                                    </p:animEffect>
                                  </p:childTnLst>
                                </p:cTn>
                              </p:par>
                              <p:par>
                                <p:cTn id="80" presetID="10" presetClass="exit" presetSubtype="0" fill="hold" grpId="0" nodeType="withEffect">
                                  <p:stCondLst>
                                    <p:cond delay="0"/>
                                  </p:stCondLst>
                                  <p:childTnLst>
                                    <p:animEffect transition="out" filter="fade">
                                      <p:cBhvr>
                                        <p:cTn id="81" dur="500"/>
                                        <p:tgtEl>
                                          <p:spTgt spid="5"/>
                                        </p:tgtEl>
                                      </p:cBhvr>
                                    </p:animEffect>
                                    <p:set>
                                      <p:cBhvr>
                                        <p:cTn id="82" dur="1" fill="hold">
                                          <p:stCondLst>
                                            <p:cond delay="499"/>
                                          </p:stCondLst>
                                        </p:cTn>
                                        <p:tgtEl>
                                          <p:spTgt spid="5"/>
                                        </p:tgtEl>
                                        <p:attrNameLst>
                                          <p:attrName>style.visibility</p:attrName>
                                        </p:attrNameLst>
                                      </p:cBhvr>
                                      <p:to>
                                        <p:strVal val="hidden"/>
                                      </p:to>
                                    </p:set>
                                  </p:childTnLst>
                                </p:cTn>
                              </p:par>
                              <p:par>
                                <p:cTn id="83" presetID="10" presetClass="entr" presetSubtype="0" fill="hold" nodeType="withEffect">
                                  <p:stCondLst>
                                    <p:cond delay="0"/>
                                  </p:stCondLst>
                                  <p:childTnLst>
                                    <p:set>
                                      <p:cBhvr>
                                        <p:cTn id="84" dur="1" fill="hold">
                                          <p:stCondLst>
                                            <p:cond delay="0"/>
                                          </p:stCondLst>
                                        </p:cTn>
                                        <p:tgtEl>
                                          <p:spTgt spid="22"/>
                                        </p:tgtEl>
                                        <p:attrNameLst>
                                          <p:attrName>style.visibility</p:attrName>
                                        </p:attrNameLst>
                                      </p:cBhvr>
                                      <p:to>
                                        <p:strVal val="visible"/>
                                      </p:to>
                                    </p:set>
                                    <p:animEffect transition="in" filter="fade">
                                      <p:cBhvr>
                                        <p:cTn id="85" dur="500"/>
                                        <p:tgtEl>
                                          <p:spTgt spid="22"/>
                                        </p:tgtEl>
                                      </p:cBhvr>
                                    </p:animEffect>
                                  </p:childTnLst>
                                </p:cTn>
                              </p:par>
                            </p:childTnLst>
                          </p:cTn>
                        </p:par>
                        <p:par>
                          <p:cTn id="86" fill="hold">
                            <p:stCondLst>
                              <p:cond delay="7750"/>
                            </p:stCondLst>
                            <p:childTnLst>
                              <p:par>
                                <p:cTn id="87" presetID="42" presetClass="path" presetSubtype="0" accel="50000" decel="50000" fill="hold" nodeType="afterEffect">
                                  <p:stCondLst>
                                    <p:cond delay="0"/>
                                  </p:stCondLst>
                                  <p:childTnLst>
                                    <p:animMotion origin="layout" path="M 2.5E-6 -7.40741E-7 L -0.38425 0.00509 " pathEditMode="relative" rAng="0" ptsTypes="AA">
                                      <p:cBhvr>
                                        <p:cTn id="88" dur="2000" fill="hold"/>
                                        <p:tgtEl>
                                          <p:spTgt spid="22"/>
                                        </p:tgtEl>
                                        <p:attrNameLst>
                                          <p:attrName>ppt_x</p:attrName>
                                          <p:attrName>ppt_y</p:attrName>
                                        </p:attrNameLst>
                                      </p:cBhvr>
                                      <p:rCtr x="-19219" y="255"/>
                                    </p:animMotion>
                                  </p:childTnLst>
                                </p:cTn>
                              </p:par>
                            </p:childTnLst>
                          </p:cTn>
                        </p:par>
                        <p:par>
                          <p:cTn id="89" fill="hold">
                            <p:stCondLst>
                              <p:cond delay="9750"/>
                            </p:stCondLst>
                            <p:childTnLst>
                              <p:par>
                                <p:cTn id="90" presetID="10" presetClass="exit" presetSubtype="0" fill="hold" nodeType="afterEffect">
                                  <p:stCondLst>
                                    <p:cond delay="0"/>
                                  </p:stCondLst>
                                  <p:childTnLst>
                                    <p:animEffect transition="out" filter="fade">
                                      <p:cBhvr>
                                        <p:cTn id="91" dur="500"/>
                                        <p:tgtEl>
                                          <p:spTgt spid="22"/>
                                        </p:tgtEl>
                                      </p:cBhvr>
                                    </p:animEffect>
                                    <p:set>
                                      <p:cBhvr>
                                        <p:cTn id="92" dur="1" fill="hold">
                                          <p:stCondLst>
                                            <p:cond delay="499"/>
                                          </p:stCondLst>
                                        </p:cTn>
                                        <p:tgtEl>
                                          <p:spTgt spid="22"/>
                                        </p:tgtEl>
                                        <p:attrNameLst>
                                          <p:attrName>style.visibility</p:attrName>
                                        </p:attrNameLst>
                                      </p:cBhvr>
                                      <p:to>
                                        <p:strVal val="hidden"/>
                                      </p:to>
                                    </p:set>
                                  </p:childTnLst>
                                </p:cTn>
                              </p:par>
                            </p:childTnLst>
                          </p:cTn>
                        </p:par>
                        <p:par>
                          <p:cTn id="93" fill="hold">
                            <p:stCondLst>
                              <p:cond delay="10250"/>
                            </p:stCondLst>
                            <p:childTnLst>
                              <p:par>
                                <p:cTn id="94" presetID="10" presetClass="entr" presetSubtype="0" fill="hold" nodeType="afterEffect">
                                  <p:stCondLst>
                                    <p:cond delay="0"/>
                                  </p:stCondLst>
                                  <p:childTnLst>
                                    <p:set>
                                      <p:cBhvr>
                                        <p:cTn id="95" dur="1" fill="hold">
                                          <p:stCondLst>
                                            <p:cond delay="0"/>
                                          </p:stCondLst>
                                        </p:cTn>
                                        <p:tgtEl>
                                          <p:spTgt spid="31"/>
                                        </p:tgtEl>
                                        <p:attrNameLst>
                                          <p:attrName>style.visibility</p:attrName>
                                        </p:attrNameLst>
                                      </p:cBhvr>
                                      <p:to>
                                        <p:strVal val="visible"/>
                                      </p:to>
                                    </p:set>
                                    <p:animEffect transition="in" filter="fade">
                                      <p:cBhvr>
                                        <p:cTn id="96" dur="500"/>
                                        <p:tgtEl>
                                          <p:spTgt spid="31"/>
                                        </p:tgtEl>
                                      </p:cBhvr>
                                    </p:animEffect>
                                  </p:childTnLst>
                                </p:cTn>
                              </p:par>
                              <p:par>
                                <p:cTn id="97" presetID="10" presetClass="exit" presetSubtype="0" fill="hold" nodeType="withEffect">
                                  <p:stCondLst>
                                    <p:cond delay="0"/>
                                  </p:stCondLst>
                                  <p:childTnLst>
                                    <p:animEffect transition="out" filter="fade">
                                      <p:cBhvr>
                                        <p:cTn id="98" dur="500"/>
                                        <p:tgtEl>
                                          <p:spTgt spid="36"/>
                                        </p:tgtEl>
                                      </p:cBhvr>
                                    </p:animEffect>
                                    <p:set>
                                      <p:cBhvr>
                                        <p:cTn id="99" dur="1" fill="hold">
                                          <p:stCondLst>
                                            <p:cond delay="499"/>
                                          </p:stCondLst>
                                        </p:cTn>
                                        <p:tgtEl>
                                          <p:spTgt spid="36"/>
                                        </p:tgtEl>
                                        <p:attrNameLst>
                                          <p:attrName>style.visibility</p:attrName>
                                        </p:attrNameLst>
                                      </p:cBhvr>
                                      <p:to>
                                        <p:strVal val="hidden"/>
                                      </p:to>
                                    </p:se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nodeType="clickEffect">
                                  <p:stCondLst>
                                    <p:cond delay="0"/>
                                  </p:stCondLst>
                                  <p:childTnLst>
                                    <p:set>
                                      <p:cBhvr>
                                        <p:cTn id="103" dur="1" fill="hold">
                                          <p:stCondLst>
                                            <p:cond delay="0"/>
                                          </p:stCondLst>
                                        </p:cTn>
                                        <p:tgtEl>
                                          <p:spTgt spid="37">
                                            <p:txEl>
                                              <p:pRg st="3" end="3"/>
                                            </p:txEl>
                                          </p:spTgt>
                                        </p:tgtEl>
                                        <p:attrNameLst>
                                          <p:attrName>style.visibility</p:attrName>
                                        </p:attrNameLst>
                                      </p:cBhvr>
                                      <p:to>
                                        <p:strVal val="visible"/>
                                      </p:to>
                                    </p:set>
                                    <p:animEffect transition="in" filter="fade">
                                      <p:cBhvr>
                                        <p:cTn id="104" dur="500"/>
                                        <p:tgtEl>
                                          <p:spTgt spid="3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105" fill="hold" display="0">
                  <p:stCondLst>
                    <p:cond delay="indefinite"/>
                  </p:stCondLst>
                  <p:endCondLst>
                    <p:cond evt="onStopAudio" delay="0">
                      <p:tgtEl>
                        <p:sldTgt/>
                      </p:tgtEl>
                    </p:cond>
                  </p:endCondLst>
                </p:cTn>
                <p:tgtEl>
                  <p:spTgt spid="38"/>
                </p:tgtEl>
              </p:cMediaNode>
            </p:audio>
          </p:childTnLst>
        </p:cTn>
      </p:par>
    </p:tnLst>
    <p:bldLst>
      <p:bldP spid="5" grpId="0"/>
      <p:bldP spid="5" grpId="1"/>
      <p:bldP spid="6" grpId="0" build="p"/>
      <p:bldP spid="15" grpId="0"/>
      <p:bldP spid="3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0E070-F151-CE63-DE0B-FCAF32DD5A9D}"/>
              </a:ext>
            </a:extLst>
          </p:cNvPr>
          <p:cNvSpPr>
            <a:spLocks noGrp="1"/>
          </p:cNvSpPr>
          <p:nvPr>
            <p:ph type="title"/>
          </p:nvPr>
        </p:nvSpPr>
        <p:spPr/>
        <p:txBody>
          <a:bodyPr/>
          <a:lstStyle/>
          <a:p>
            <a:r>
              <a:rPr lang="fr-BE" dirty="0"/>
              <a:t>DHCP Relay</a:t>
            </a:r>
          </a:p>
        </p:txBody>
      </p:sp>
      <p:sp>
        <p:nvSpPr>
          <p:cNvPr id="3" name="Content Placeholder 2">
            <a:extLst>
              <a:ext uri="{FF2B5EF4-FFF2-40B4-BE49-F238E27FC236}">
                <a16:creationId xmlns:a16="http://schemas.microsoft.com/office/drawing/2014/main" id="{ED2A382D-404D-9AE9-D3AC-6E61BBAC392E}"/>
              </a:ext>
            </a:extLst>
          </p:cNvPr>
          <p:cNvSpPr>
            <a:spLocks noGrp="1"/>
          </p:cNvSpPr>
          <p:nvPr>
            <p:ph idx="1"/>
          </p:nvPr>
        </p:nvSpPr>
        <p:spPr>
          <a:xfrm>
            <a:off x="677334" y="1488613"/>
            <a:ext cx="8596668" cy="3880773"/>
          </a:xfrm>
        </p:spPr>
        <p:txBody>
          <a:bodyPr/>
          <a:lstStyle/>
          <a:p>
            <a:pPr marL="0" indent="0">
              <a:buNone/>
            </a:pPr>
            <a:r>
              <a:rPr lang="fr-BE" dirty="0"/>
              <a:t>Un agent de relais DHCP écoute les émissions DHCP des clients DHCP et les relie ensuite aux serveurs DHCP dans différents sous-réseaux</a:t>
            </a:r>
          </a:p>
          <a:p>
            <a:endParaRPr lang="fr-BE" dirty="0"/>
          </a:p>
        </p:txBody>
      </p:sp>
      <p:sp>
        <p:nvSpPr>
          <p:cNvPr id="4" name="Oval 6" descr="&quot;&quot;">
            <a:extLst>
              <a:ext uri="{FF2B5EF4-FFF2-40B4-BE49-F238E27FC236}">
                <a16:creationId xmlns:a16="http://schemas.microsoft.com/office/drawing/2014/main" id="{0253D75F-E881-8C1B-DE38-814F8356AD14}"/>
              </a:ext>
            </a:extLst>
          </p:cNvPr>
          <p:cNvSpPr>
            <a:spLocks noChangeArrowheads="1"/>
          </p:cNvSpPr>
          <p:nvPr/>
        </p:nvSpPr>
        <p:spPr bwMode="auto">
          <a:xfrm>
            <a:off x="1024855" y="2136571"/>
            <a:ext cx="2537029" cy="4026716"/>
          </a:xfrm>
          <a:prstGeom prst="rect">
            <a:avLst/>
          </a:prstGeom>
          <a:noFill/>
          <a:ln w="9525">
            <a:solidFill>
              <a:srgbClr val="0070C0"/>
            </a:solidFill>
            <a:headEnd/>
            <a:tailEnd/>
          </a:ln>
        </p:spPr>
        <p:style>
          <a:lnRef idx="2">
            <a:schemeClr val="accent6"/>
          </a:lnRef>
          <a:fillRef idx="1">
            <a:schemeClr val="lt1"/>
          </a:fillRef>
          <a:effectRef idx="0">
            <a:schemeClr val="accent6"/>
          </a:effectRef>
          <a:fontRef idx="minor">
            <a:schemeClr val="dk1"/>
          </a:fontRef>
        </p:style>
        <p:txBody>
          <a:bodyPr wrap="none" anchor="ctr"/>
          <a:lstStyle/>
          <a:p>
            <a:pPr algn="r"/>
            <a:endParaRPr lang="en-US" dirty="0">
              <a:solidFill>
                <a:srgbClr val="000000"/>
              </a:solidFill>
            </a:endParaRPr>
          </a:p>
        </p:txBody>
      </p:sp>
      <p:sp>
        <p:nvSpPr>
          <p:cNvPr id="5" name="AutoShape 21" descr="&quot;&quot;">
            <a:extLst>
              <a:ext uri="{FF2B5EF4-FFF2-40B4-BE49-F238E27FC236}">
                <a16:creationId xmlns:a16="http://schemas.microsoft.com/office/drawing/2014/main" id="{DEE32605-482A-6EF3-7C7E-329CEACED770}"/>
              </a:ext>
            </a:extLst>
          </p:cNvPr>
          <p:cNvSpPr>
            <a:spLocks noChangeArrowheads="1"/>
          </p:cNvSpPr>
          <p:nvPr/>
        </p:nvSpPr>
        <p:spPr bwMode="auto">
          <a:xfrm>
            <a:off x="3533862" y="3684573"/>
            <a:ext cx="2323052" cy="750582"/>
          </a:xfrm>
          <a:prstGeom prst="roundRect">
            <a:avLst>
              <a:gd name="adj" fmla="val 4167"/>
            </a:avLst>
          </a:prstGeom>
          <a:noFill/>
          <a:ln w="9525">
            <a:noFill/>
            <a:round/>
            <a:headEnd/>
            <a:tailEnd/>
          </a:ln>
          <a:effectLst/>
        </p:spPr>
        <p:txBody>
          <a:bodyPr anchor="ctr"/>
          <a:lstStyle/>
          <a:p>
            <a:pPr algn="ctr"/>
            <a:r>
              <a:rPr lang="en-US" sz="1600" b="1" dirty="0">
                <a:solidFill>
                  <a:srgbClr val="000000"/>
                </a:solidFill>
                <a:latin typeface="Segoe UI" pitchFamily="34" charset="0"/>
                <a:ea typeface="Segoe UI" pitchFamily="34" charset="0"/>
                <a:cs typeface="Segoe UI" pitchFamily="34" charset="0"/>
              </a:rPr>
              <a:t>Routers</a:t>
            </a:r>
          </a:p>
          <a:p>
            <a:pPr algn="ctr"/>
            <a:r>
              <a:rPr lang="en-US" sz="1600" b="1" dirty="0">
                <a:solidFill>
                  <a:srgbClr val="000000"/>
                </a:solidFill>
                <a:latin typeface="Segoe UI" pitchFamily="34" charset="0"/>
                <a:ea typeface="Segoe UI" pitchFamily="34" charset="0"/>
                <a:cs typeface="Segoe UI" pitchFamily="34" charset="0"/>
              </a:rPr>
              <a:t>(non–RFC 1542 compliant)</a:t>
            </a:r>
          </a:p>
        </p:txBody>
      </p:sp>
      <p:sp>
        <p:nvSpPr>
          <p:cNvPr id="6" name="Text Box 24" descr="&quot;&quot;">
            <a:extLst>
              <a:ext uri="{FF2B5EF4-FFF2-40B4-BE49-F238E27FC236}">
                <a16:creationId xmlns:a16="http://schemas.microsoft.com/office/drawing/2014/main" id="{977ABFBA-17C0-92C1-B76E-13B0057324FF}"/>
              </a:ext>
            </a:extLst>
          </p:cNvPr>
          <p:cNvSpPr txBox="1">
            <a:spLocks noChangeArrowheads="1"/>
          </p:cNvSpPr>
          <p:nvPr/>
        </p:nvSpPr>
        <p:spPr bwMode="auto">
          <a:xfrm>
            <a:off x="1724103" y="5759275"/>
            <a:ext cx="1176925" cy="369332"/>
          </a:xfrm>
          <a:prstGeom prst="rect">
            <a:avLst/>
          </a:prstGeom>
          <a:noFill/>
          <a:ln w="9525" algn="ctr">
            <a:noFill/>
            <a:miter lim="800000"/>
            <a:headEnd/>
            <a:tailEnd/>
          </a:ln>
          <a:effectLst/>
        </p:spPr>
        <p:txBody>
          <a:bodyPr wrap="none">
            <a:spAutoFit/>
          </a:bodyPr>
          <a:lstStyle/>
          <a:p>
            <a:r>
              <a:rPr lang="en-US" b="1" dirty="0">
                <a:solidFill>
                  <a:srgbClr val="000000"/>
                </a:solidFill>
                <a:latin typeface="Segoe UI" pitchFamily="34" charset="0"/>
                <a:ea typeface="Segoe UI" pitchFamily="34" charset="0"/>
                <a:cs typeface="Segoe UI" pitchFamily="34" charset="0"/>
              </a:rPr>
              <a:t>Subnet A</a:t>
            </a:r>
          </a:p>
        </p:txBody>
      </p:sp>
      <p:sp>
        <p:nvSpPr>
          <p:cNvPr id="7" name="Text Box 25" descr="&quot;&quot;">
            <a:extLst>
              <a:ext uri="{FF2B5EF4-FFF2-40B4-BE49-F238E27FC236}">
                <a16:creationId xmlns:a16="http://schemas.microsoft.com/office/drawing/2014/main" id="{5FC87F86-935C-27A1-E975-7B97EB185BE5}"/>
              </a:ext>
            </a:extLst>
          </p:cNvPr>
          <p:cNvSpPr txBox="1">
            <a:spLocks noChangeArrowheads="1"/>
          </p:cNvSpPr>
          <p:nvPr/>
        </p:nvSpPr>
        <p:spPr bwMode="auto">
          <a:xfrm>
            <a:off x="6588541" y="5759275"/>
            <a:ext cx="1162498" cy="369332"/>
          </a:xfrm>
          <a:prstGeom prst="rect">
            <a:avLst/>
          </a:prstGeom>
          <a:noFill/>
          <a:ln w="9525" algn="ctr">
            <a:noFill/>
            <a:miter lim="800000"/>
            <a:headEnd/>
            <a:tailEnd/>
          </a:ln>
          <a:effectLst/>
        </p:spPr>
        <p:txBody>
          <a:bodyPr wrap="none">
            <a:spAutoFit/>
          </a:bodyPr>
          <a:lstStyle/>
          <a:p>
            <a:r>
              <a:rPr lang="en-US" b="1" dirty="0">
                <a:solidFill>
                  <a:srgbClr val="000000"/>
                </a:solidFill>
                <a:latin typeface="Segoe UI" pitchFamily="34" charset="0"/>
                <a:ea typeface="Segoe UI" pitchFamily="34" charset="0"/>
                <a:cs typeface="Segoe UI" pitchFamily="34" charset="0"/>
              </a:rPr>
              <a:t>Subnet B</a:t>
            </a:r>
          </a:p>
        </p:txBody>
      </p:sp>
      <p:sp>
        <p:nvSpPr>
          <p:cNvPr id="8" name="&quot;DHCP Server&quot;" descr="&quot;&quot;">
            <a:extLst>
              <a:ext uri="{FF2B5EF4-FFF2-40B4-BE49-F238E27FC236}">
                <a16:creationId xmlns:a16="http://schemas.microsoft.com/office/drawing/2014/main" id="{F2F161F4-2355-536A-FA15-BF6F72E83AEC}"/>
              </a:ext>
            </a:extLst>
          </p:cNvPr>
          <p:cNvSpPr>
            <a:spLocks noChangeArrowheads="1"/>
          </p:cNvSpPr>
          <p:nvPr/>
        </p:nvSpPr>
        <p:spPr bwMode="auto">
          <a:xfrm>
            <a:off x="7366930" y="2470759"/>
            <a:ext cx="964735" cy="571822"/>
          </a:xfrm>
          <a:prstGeom prst="roundRect">
            <a:avLst>
              <a:gd name="adj" fmla="val 4167"/>
            </a:avLst>
          </a:prstGeom>
          <a:noFill/>
          <a:ln w="9525">
            <a:noFill/>
            <a:round/>
            <a:headEnd/>
            <a:tailEnd/>
          </a:ln>
          <a:effectLst/>
        </p:spPr>
        <p:txBody>
          <a:bodyPr anchor="ctr"/>
          <a:lstStyle/>
          <a:p>
            <a:pPr algn="ctr"/>
            <a:r>
              <a:rPr lang="en-US" sz="1600" b="1" dirty="0">
                <a:solidFill>
                  <a:srgbClr val="000000"/>
                </a:solidFill>
                <a:latin typeface="Segoe UI" pitchFamily="34" charset="0"/>
                <a:ea typeface="Segoe UI" pitchFamily="34" charset="0"/>
                <a:cs typeface="Segoe UI" pitchFamily="34" charset="0"/>
              </a:rPr>
              <a:t>DHCP server</a:t>
            </a:r>
          </a:p>
        </p:txBody>
      </p:sp>
      <p:sp>
        <p:nvSpPr>
          <p:cNvPr id="9" name="&quot;DHCP Relay Agent&quot;" descr="&quot;&quot;">
            <a:extLst>
              <a:ext uri="{FF2B5EF4-FFF2-40B4-BE49-F238E27FC236}">
                <a16:creationId xmlns:a16="http://schemas.microsoft.com/office/drawing/2014/main" id="{9ED1AE70-3934-8641-79FE-3A8D43AA7EF7}"/>
              </a:ext>
            </a:extLst>
          </p:cNvPr>
          <p:cNvSpPr>
            <a:spLocks noChangeArrowheads="1"/>
          </p:cNvSpPr>
          <p:nvPr/>
        </p:nvSpPr>
        <p:spPr bwMode="auto">
          <a:xfrm>
            <a:off x="1099599" y="2428815"/>
            <a:ext cx="1015825" cy="707996"/>
          </a:xfrm>
          <a:prstGeom prst="roundRect">
            <a:avLst>
              <a:gd name="adj" fmla="val 4167"/>
            </a:avLst>
          </a:prstGeom>
          <a:noFill/>
          <a:ln w="9525" algn="ctr">
            <a:noFill/>
            <a:round/>
            <a:headEnd/>
            <a:tailEnd/>
          </a:ln>
          <a:effectLst/>
        </p:spPr>
        <p:txBody>
          <a:bodyPr anchor="ctr"/>
          <a:lstStyle/>
          <a:p>
            <a:pPr algn="ctr"/>
            <a:r>
              <a:rPr lang="en-US" sz="1600" b="1" dirty="0">
                <a:solidFill>
                  <a:srgbClr val="000000"/>
                </a:solidFill>
                <a:latin typeface="Segoe UI" pitchFamily="34" charset="0"/>
                <a:ea typeface="Segoe UI" pitchFamily="34" charset="0"/>
                <a:cs typeface="Segoe UI" pitchFamily="34" charset="0"/>
              </a:rPr>
              <a:t>DHCP relay agent</a:t>
            </a:r>
          </a:p>
        </p:txBody>
      </p:sp>
      <p:sp>
        <p:nvSpPr>
          <p:cNvPr id="10" name="red &quot;Broadcast&quot; on the left" descr="&quot;&quot;">
            <a:extLst>
              <a:ext uri="{FF2B5EF4-FFF2-40B4-BE49-F238E27FC236}">
                <a16:creationId xmlns:a16="http://schemas.microsoft.com/office/drawing/2014/main" id="{52437953-0773-C9F2-69C6-3840B172AC16}"/>
              </a:ext>
            </a:extLst>
          </p:cNvPr>
          <p:cNvSpPr txBox="1">
            <a:spLocks noChangeArrowheads="1"/>
          </p:cNvSpPr>
          <p:nvPr/>
        </p:nvSpPr>
        <p:spPr bwMode="auto">
          <a:xfrm>
            <a:off x="1094682" y="3484000"/>
            <a:ext cx="1079465" cy="523220"/>
          </a:xfrm>
          <a:prstGeom prst="rect">
            <a:avLst/>
          </a:prstGeom>
          <a:noFill/>
          <a:ln w="9525" algn="ctr">
            <a:noFill/>
            <a:miter lim="800000"/>
            <a:headEnd/>
            <a:tailEnd/>
          </a:ln>
          <a:effectLst/>
        </p:spPr>
        <p:txBody>
          <a:bodyPr wrap="square">
            <a:spAutoFit/>
          </a:bodyPr>
          <a:lstStyle/>
          <a:p>
            <a:pPr algn="ctr"/>
            <a:r>
              <a:rPr lang="en-US" sz="1400" b="1" dirty="0">
                <a:solidFill>
                  <a:srgbClr val="CC0000"/>
                </a:solidFill>
                <a:latin typeface="Segoe UI" pitchFamily="34" charset="0"/>
                <a:ea typeface="Segoe UI" pitchFamily="34" charset="0"/>
                <a:cs typeface="Segoe UI" pitchFamily="34" charset="0"/>
              </a:rPr>
              <a:t>DHCP broadcast</a:t>
            </a:r>
          </a:p>
        </p:txBody>
      </p:sp>
      <p:pic>
        <p:nvPicPr>
          <p:cNvPr id="11" name="Stop">
            <a:extLst>
              <a:ext uri="{FF2B5EF4-FFF2-40B4-BE49-F238E27FC236}">
                <a16:creationId xmlns:a16="http://schemas.microsoft.com/office/drawing/2014/main" id="{7C7F07E1-34F9-4AF6-5DE4-DCA548ADEF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10525" y="6505567"/>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lay - alt text is here" descr="Illustration representing two subnets: Subnet A has a DHCP relay agent, two clients, and a router; Subnet B has a DHCP server, two clients, and a router. Both routers are non-RFC 1542 compliant. The animation represents the DHCP relay agent broadcasting packets to and from the local DHCP clients, while sending unicast packets to the DHCP server on the other subnet and the DHCP server sending unicasts back to the relay agent.">
            <a:extLst>
              <a:ext uri="{FF2B5EF4-FFF2-40B4-BE49-F238E27FC236}">
                <a16:creationId xmlns:a16="http://schemas.microsoft.com/office/drawing/2014/main" id="{AB1CA856-A398-B8DA-32C4-CE75701203D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9525" y="6505567"/>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3" name="broadcast circle">
            <a:extLst>
              <a:ext uri="{FF2B5EF4-FFF2-40B4-BE49-F238E27FC236}">
                <a16:creationId xmlns:a16="http://schemas.microsoft.com/office/drawing/2014/main" id="{6B872650-0CE9-7792-C768-2EDDD74013D9}"/>
              </a:ext>
            </a:extLst>
          </p:cNvPr>
          <p:cNvGrpSpPr/>
          <p:nvPr/>
        </p:nvGrpSpPr>
        <p:grpSpPr>
          <a:xfrm>
            <a:off x="2107034" y="3235910"/>
            <a:ext cx="981511" cy="981511"/>
            <a:chOff x="4150360" y="3587432"/>
            <a:chExt cx="488950" cy="488950"/>
          </a:xfrm>
        </p:grpSpPr>
        <p:sp>
          <p:nvSpPr>
            <p:cNvPr id="14" name="broadcast 3" descr="&quot;&quot;">
              <a:extLst>
                <a:ext uri="{FF2B5EF4-FFF2-40B4-BE49-F238E27FC236}">
                  <a16:creationId xmlns:a16="http://schemas.microsoft.com/office/drawing/2014/main" id="{A464526F-A1E2-4080-DB13-0476F994DB8F}"/>
                </a:ext>
              </a:extLst>
            </p:cNvPr>
            <p:cNvSpPr>
              <a:spLocks noChangeArrowheads="1"/>
            </p:cNvSpPr>
            <p:nvPr/>
          </p:nvSpPr>
          <p:spPr bwMode="auto">
            <a:xfrm>
              <a:off x="4150360" y="3587432"/>
              <a:ext cx="488950" cy="488950"/>
            </a:xfrm>
            <a:prstGeom prst="ellipse">
              <a:avLst/>
            </a:prstGeom>
            <a:solidFill>
              <a:srgbClr val="FF0000">
                <a:alpha val="50000"/>
              </a:srgbClr>
            </a:solidFill>
            <a:ln w="25400" algn="ctr">
              <a:solidFill>
                <a:schemeClr val="bg1"/>
              </a:solidFill>
              <a:round/>
              <a:headEnd/>
              <a:tailEnd/>
            </a:ln>
            <a:effectLst/>
          </p:spPr>
          <p:txBody>
            <a:bodyPr wrap="none" anchor="ctr"/>
            <a:lstStyle/>
            <a:p>
              <a:endParaRPr lang="en-US" dirty="0">
                <a:solidFill>
                  <a:srgbClr val="000000"/>
                </a:solidFill>
              </a:endParaRPr>
            </a:p>
          </p:txBody>
        </p:sp>
        <p:sp>
          <p:nvSpPr>
            <p:cNvPr id="15" name="broadcast 2" descr="&quot;&quot;">
              <a:extLst>
                <a:ext uri="{FF2B5EF4-FFF2-40B4-BE49-F238E27FC236}">
                  <a16:creationId xmlns:a16="http://schemas.microsoft.com/office/drawing/2014/main" id="{AA63CAC2-AE50-E0E5-EDE3-0E7A79FD16B9}"/>
                </a:ext>
              </a:extLst>
            </p:cNvPr>
            <p:cNvSpPr>
              <a:spLocks noChangeArrowheads="1"/>
            </p:cNvSpPr>
            <p:nvPr/>
          </p:nvSpPr>
          <p:spPr bwMode="auto">
            <a:xfrm>
              <a:off x="4232910" y="3669982"/>
              <a:ext cx="322263" cy="322263"/>
            </a:xfrm>
            <a:prstGeom prst="ellipse">
              <a:avLst/>
            </a:prstGeom>
            <a:solidFill>
              <a:srgbClr val="FF0000">
                <a:alpha val="50000"/>
              </a:srgbClr>
            </a:solidFill>
            <a:ln w="25400" algn="ctr">
              <a:solidFill>
                <a:schemeClr val="bg1"/>
              </a:solidFill>
              <a:round/>
              <a:headEnd/>
              <a:tailEnd/>
            </a:ln>
            <a:effectLst/>
          </p:spPr>
          <p:txBody>
            <a:bodyPr wrap="none" anchor="ctr"/>
            <a:lstStyle/>
            <a:p>
              <a:endParaRPr lang="en-US" dirty="0">
                <a:solidFill>
                  <a:srgbClr val="000000"/>
                </a:solidFill>
              </a:endParaRPr>
            </a:p>
          </p:txBody>
        </p:sp>
        <p:sp>
          <p:nvSpPr>
            <p:cNvPr id="16" name="broadcast 1">
              <a:extLst>
                <a:ext uri="{FF2B5EF4-FFF2-40B4-BE49-F238E27FC236}">
                  <a16:creationId xmlns:a16="http://schemas.microsoft.com/office/drawing/2014/main" id="{F6B9EF84-4458-1AE5-5AC5-5C13C225A297}"/>
                </a:ext>
              </a:extLst>
            </p:cNvPr>
            <p:cNvSpPr>
              <a:spLocks noChangeArrowheads="1"/>
            </p:cNvSpPr>
            <p:nvPr/>
          </p:nvSpPr>
          <p:spPr bwMode="auto">
            <a:xfrm>
              <a:off x="4310698" y="3747770"/>
              <a:ext cx="168275" cy="168275"/>
            </a:xfrm>
            <a:prstGeom prst="ellipse">
              <a:avLst/>
            </a:prstGeom>
            <a:solidFill>
              <a:srgbClr val="FF0000">
                <a:alpha val="50000"/>
              </a:srgbClr>
            </a:solidFill>
            <a:ln w="25400" algn="ctr">
              <a:solidFill>
                <a:schemeClr val="bg1"/>
              </a:solidFill>
              <a:round/>
              <a:headEnd/>
              <a:tailEnd/>
            </a:ln>
            <a:effectLst/>
          </p:spPr>
          <p:txBody>
            <a:bodyPr wrap="none" anchor="ctr"/>
            <a:lstStyle/>
            <a:p>
              <a:endParaRPr lang="en-US" dirty="0">
                <a:solidFill>
                  <a:srgbClr val="000000"/>
                </a:solidFill>
              </a:endParaRPr>
            </a:p>
          </p:txBody>
        </p:sp>
      </p:grpSp>
      <p:grpSp>
        <p:nvGrpSpPr>
          <p:cNvPr id="17" name="Group 16">
            <a:extLst>
              <a:ext uri="{FF2B5EF4-FFF2-40B4-BE49-F238E27FC236}">
                <a16:creationId xmlns:a16="http://schemas.microsoft.com/office/drawing/2014/main" id="{D75EA09A-BFC3-84DA-2883-85451CFBC023}"/>
              </a:ext>
            </a:extLst>
          </p:cNvPr>
          <p:cNvGrpSpPr/>
          <p:nvPr/>
        </p:nvGrpSpPr>
        <p:grpSpPr>
          <a:xfrm>
            <a:off x="1586918" y="4077502"/>
            <a:ext cx="1451295" cy="1364331"/>
            <a:chOff x="1233182" y="4625409"/>
            <a:chExt cx="1451295" cy="1364331"/>
          </a:xfrm>
        </p:grpSpPr>
        <p:pic>
          <p:nvPicPr>
            <p:cNvPr id="18" name="Picture 17">
              <a:extLst>
                <a:ext uri="{FF2B5EF4-FFF2-40B4-BE49-F238E27FC236}">
                  <a16:creationId xmlns:a16="http://schemas.microsoft.com/office/drawing/2014/main" id="{20C7D327-0D33-7C25-725E-52096EC5D12B}"/>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tretch>
              <a:fillRect/>
            </a:stretch>
          </p:blipFill>
          <p:spPr bwMode="auto">
            <a:xfrm>
              <a:off x="1597715" y="4625409"/>
              <a:ext cx="457588" cy="516586"/>
            </a:xfrm>
            <a:prstGeom prst="rect">
              <a:avLst/>
            </a:prstGeom>
            <a:noFill/>
            <a:extLst>
              <a:ext uri="{909E8E84-426E-40DD-AFC4-6F175D3DCCD1}">
                <a14:hiddenFill xmlns:a14="http://schemas.microsoft.com/office/drawing/2010/main">
                  <a:solidFill>
                    <a:srgbClr val="FFFFFF"/>
                  </a:solidFill>
                </a14:hiddenFill>
              </a:ext>
            </a:extLst>
          </p:spPr>
        </p:pic>
        <p:sp>
          <p:nvSpPr>
            <p:cNvPr id="19" name="AutoShape 12" descr="&quot;&quot;">
              <a:extLst>
                <a:ext uri="{FF2B5EF4-FFF2-40B4-BE49-F238E27FC236}">
                  <a16:creationId xmlns:a16="http://schemas.microsoft.com/office/drawing/2014/main" id="{CD122D94-0562-F88F-A686-94EE2E0304A2}"/>
                </a:ext>
              </a:extLst>
            </p:cNvPr>
            <p:cNvSpPr>
              <a:spLocks noChangeArrowheads="1"/>
            </p:cNvSpPr>
            <p:nvPr/>
          </p:nvSpPr>
          <p:spPr bwMode="auto">
            <a:xfrm>
              <a:off x="1233182" y="5780015"/>
              <a:ext cx="1451295" cy="209725"/>
            </a:xfrm>
            <a:prstGeom prst="roundRect">
              <a:avLst>
                <a:gd name="adj" fmla="val 4167"/>
              </a:avLst>
            </a:prstGeom>
            <a:noFill/>
            <a:ln w="9525">
              <a:noFill/>
              <a:round/>
              <a:headEnd/>
              <a:tailEnd/>
            </a:ln>
            <a:effectLst/>
          </p:spPr>
          <p:txBody>
            <a:bodyPr anchor="ctr"/>
            <a:lstStyle/>
            <a:p>
              <a:pPr algn="ctr"/>
              <a:r>
                <a:rPr lang="en-US" sz="1400" b="1" dirty="0">
                  <a:solidFill>
                    <a:srgbClr val="000000"/>
                  </a:solidFill>
                  <a:latin typeface="Segoe UI" pitchFamily="34" charset="0"/>
                  <a:ea typeface="Segoe UI" pitchFamily="34" charset="0"/>
                  <a:cs typeface="Segoe UI" pitchFamily="34" charset="0"/>
                </a:rPr>
                <a:t>DHCP clients</a:t>
              </a:r>
            </a:p>
          </p:txBody>
        </p:sp>
        <p:pic>
          <p:nvPicPr>
            <p:cNvPr id="20" name="Picture 19">
              <a:extLst>
                <a:ext uri="{FF2B5EF4-FFF2-40B4-BE49-F238E27FC236}">
                  <a16:creationId xmlns:a16="http://schemas.microsoft.com/office/drawing/2014/main" id="{B9B19075-1C4B-9BD2-59FE-206379AA7F76}"/>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1294312" y="5033395"/>
              <a:ext cx="579610" cy="65434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D48A9723-A6CE-63C2-F6BC-61C73A13095D}"/>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1924885" y="5018015"/>
              <a:ext cx="644846" cy="72798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2" name="Group 21">
            <a:extLst>
              <a:ext uri="{FF2B5EF4-FFF2-40B4-BE49-F238E27FC236}">
                <a16:creationId xmlns:a16="http://schemas.microsoft.com/office/drawing/2014/main" id="{8290A28D-F2F4-279D-EC3C-8FBA47615AEA}"/>
              </a:ext>
            </a:extLst>
          </p:cNvPr>
          <p:cNvGrpSpPr/>
          <p:nvPr/>
        </p:nvGrpSpPr>
        <p:grpSpPr>
          <a:xfrm>
            <a:off x="6444143" y="4077502"/>
            <a:ext cx="1451295" cy="1364331"/>
            <a:chOff x="1233182" y="4625409"/>
            <a:chExt cx="1451295" cy="1364331"/>
          </a:xfrm>
        </p:grpSpPr>
        <p:pic>
          <p:nvPicPr>
            <p:cNvPr id="23" name="Picture 22">
              <a:extLst>
                <a:ext uri="{FF2B5EF4-FFF2-40B4-BE49-F238E27FC236}">
                  <a16:creationId xmlns:a16="http://schemas.microsoft.com/office/drawing/2014/main" id="{BC72A79F-0104-1840-B294-88FFF97C1DCB}"/>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tretch>
              <a:fillRect/>
            </a:stretch>
          </p:blipFill>
          <p:spPr bwMode="auto">
            <a:xfrm>
              <a:off x="1597715" y="4625409"/>
              <a:ext cx="457588" cy="516586"/>
            </a:xfrm>
            <a:prstGeom prst="rect">
              <a:avLst/>
            </a:prstGeom>
            <a:noFill/>
            <a:extLst>
              <a:ext uri="{909E8E84-426E-40DD-AFC4-6F175D3DCCD1}">
                <a14:hiddenFill xmlns:a14="http://schemas.microsoft.com/office/drawing/2010/main">
                  <a:solidFill>
                    <a:srgbClr val="FFFFFF"/>
                  </a:solidFill>
                </a14:hiddenFill>
              </a:ext>
            </a:extLst>
          </p:spPr>
        </p:pic>
        <p:sp>
          <p:nvSpPr>
            <p:cNvPr id="24" name="AutoShape 12" descr="&quot;&quot;">
              <a:extLst>
                <a:ext uri="{FF2B5EF4-FFF2-40B4-BE49-F238E27FC236}">
                  <a16:creationId xmlns:a16="http://schemas.microsoft.com/office/drawing/2014/main" id="{43462931-E03B-5CDE-5B10-3B9B458151C0}"/>
                </a:ext>
              </a:extLst>
            </p:cNvPr>
            <p:cNvSpPr>
              <a:spLocks noChangeArrowheads="1"/>
            </p:cNvSpPr>
            <p:nvPr/>
          </p:nvSpPr>
          <p:spPr bwMode="auto">
            <a:xfrm>
              <a:off x="1233182" y="5780015"/>
              <a:ext cx="1451295" cy="209725"/>
            </a:xfrm>
            <a:prstGeom prst="roundRect">
              <a:avLst>
                <a:gd name="adj" fmla="val 4167"/>
              </a:avLst>
            </a:prstGeom>
            <a:noFill/>
            <a:ln w="9525">
              <a:noFill/>
              <a:round/>
              <a:headEnd/>
              <a:tailEnd/>
            </a:ln>
            <a:effectLst/>
          </p:spPr>
          <p:txBody>
            <a:bodyPr anchor="ctr"/>
            <a:lstStyle/>
            <a:p>
              <a:pPr algn="ctr"/>
              <a:r>
                <a:rPr lang="en-US" sz="1400" b="1" dirty="0">
                  <a:solidFill>
                    <a:srgbClr val="000000"/>
                  </a:solidFill>
                  <a:latin typeface="Segoe UI" pitchFamily="34" charset="0"/>
                  <a:ea typeface="Segoe UI" pitchFamily="34" charset="0"/>
                  <a:cs typeface="Segoe UI" pitchFamily="34" charset="0"/>
                </a:rPr>
                <a:t>DHCP clients</a:t>
              </a:r>
            </a:p>
          </p:txBody>
        </p:sp>
        <p:pic>
          <p:nvPicPr>
            <p:cNvPr id="25" name="Picture 24">
              <a:extLst>
                <a:ext uri="{FF2B5EF4-FFF2-40B4-BE49-F238E27FC236}">
                  <a16:creationId xmlns:a16="http://schemas.microsoft.com/office/drawing/2014/main" id="{E4A33986-F32A-BD0F-60EA-3A6405C1A452}"/>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1294312" y="5033395"/>
              <a:ext cx="579610" cy="65434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a:extLst>
                <a:ext uri="{FF2B5EF4-FFF2-40B4-BE49-F238E27FC236}">
                  <a16:creationId xmlns:a16="http://schemas.microsoft.com/office/drawing/2014/main" id="{8B3034F3-CD7C-2624-0614-D7D1BEED032D}"/>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1924885" y="5018015"/>
              <a:ext cx="644846" cy="727987"/>
            </a:xfrm>
            <a:prstGeom prst="rect">
              <a:avLst/>
            </a:prstGeom>
            <a:noFill/>
            <a:extLst>
              <a:ext uri="{909E8E84-426E-40DD-AFC4-6F175D3DCCD1}">
                <a14:hiddenFill xmlns:a14="http://schemas.microsoft.com/office/drawing/2010/main">
                  <a:solidFill>
                    <a:srgbClr val="FFFFFF"/>
                  </a:solidFill>
                </a14:hiddenFill>
              </a:ext>
            </a:extLst>
          </p:spPr>
        </p:pic>
      </p:grpSp>
      <p:sp>
        <p:nvSpPr>
          <p:cNvPr id="27" name="Oval 6" descr="&quot;&quot;">
            <a:extLst>
              <a:ext uri="{FF2B5EF4-FFF2-40B4-BE49-F238E27FC236}">
                <a16:creationId xmlns:a16="http://schemas.microsoft.com/office/drawing/2014/main" id="{CDFFE40D-8899-2B67-5658-5C48A7A11A0A}"/>
              </a:ext>
            </a:extLst>
          </p:cNvPr>
          <p:cNvSpPr>
            <a:spLocks noChangeArrowheads="1"/>
          </p:cNvSpPr>
          <p:nvPr/>
        </p:nvSpPr>
        <p:spPr bwMode="auto">
          <a:xfrm>
            <a:off x="5831747" y="2136571"/>
            <a:ext cx="2537029" cy="4026716"/>
          </a:xfrm>
          <a:prstGeom prst="rect">
            <a:avLst/>
          </a:prstGeom>
          <a:noFill/>
          <a:ln w="9525">
            <a:solidFill>
              <a:srgbClr val="0070C0"/>
            </a:solidFill>
            <a:headEnd/>
            <a:tailEnd/>
          </a:ln>
        </p:spPr>
        <p:style>
          <a:lnRef idx="2">
            <a:schemeClr val="accent6"/>
          </a:lnRef>
          <a:fillRef idx="1">
            <a:schemeClr val="lt1"/>
          </a:fillRef>
          <a:effectRef idx="0">
            <a:schemeClr val="accent6"/>
          </a:effectRef>
          <a:fontRef idx="minor">
            <a:schemeClr val="dk1"/>
          </a:fontRef>
        </p:style>
        <p:txBody>
          <a:bodyPr wrap="none" anchor="ctr"/>
          <a:lstStyle/>
          <a:p>
            <a:pPr algn="r"/>
            <a:endParaRPr lang="en-US" dirty="0">
              <a:solidFill>
                <a:srgbClr val="000000"/>
              </a:solidFill>
            </a:endParaRPr>
          </a:p>
        </p:txBody>
      </p:sp>
      <p:sp>
        <p:nvSpPr>
          <p:cNvPr id="28" name="Line 5" descr="&quot;&quot;">
            <a:extLst>
              <a:ext uri="{FF2B5EF4-FFF2-40B4-BE49-F238E27FC236}">
                <a16:creationId xmlns:a16="http://schemas.microsoft.com/office/drawing/2014/main" id="{62963FF9-F35E-DA97-05FF-13E3967D13C3}"/>
              </a:ext>
            </a:extLst>
          </p:cNvPr>
          <p:cNvSpPr>
            <a:spLocks noChangeShapeType="1"/>
          </p:cNvSpPr>
          <p:nvPr/>
        </p:nvSpPr>
        <p:spPr bwMode="auto">
          <a:xfrm>
            <a:off x="3575007" y="4519599"/>
            <a:ext cx="2486025" cy="0"/>
          </a:xfrm>
          <a:prstGeom prst="line">
            <a:avLst/>
          </a:prstGeom>
          <a:noFill/>
          <a:ln w="57150">
            <a:solidFill>
              <a:srgbClr val="0070C0"/>
            </a:solidFill>
            <a:prstDash val="sysDot"/>
            <a:round/>
            <a:headEnd/>
            <a:tailEnd/>
          </a:ln>
          <a:effectLst/>
        </p:spPr>
        <p:txBody>
          <a:bodyPr/>
          <a:lstStyle/>
          <a:p>
            <a:endParaRPr lang="en-US" dirty="0">
              <a:solidFill>
                <a:srgbClr val="000000"/>
              </a:solidFill>
            </a:endParaRPr>
          </a:p>
        </p:txBody>
      </p:sp>
      <p:pic>
        <p:nvPicPr>
          <p:cNvPr id="29" name="Picture 28">
            <a:extLst>
              <a:ext uri="{FF2B5EF4-FFF2-40B4-BE49-F238E27FC236}">
                <a16:creationId xmlns:a16="http://schemas.microsoft.com/office/drawing/2014/main" id="{AA671306-0880-6DA2-CD68-1109A4E81713}"/>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tretch>
            <a:fillRect/>
          </a:stretch>
        </p:blipFill>
        <p:spPr bwMode="auto">
          <a:xfrm>
            <a:off x="3011983" y="4290274"/>
            <a:ext cx="879475" cy="45865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a:extLst>
              <a:ext uri="{FF2B5EF4-FFF2-40B4-BE49-F238E27FC236}">
                <a16:creationId xmlns:a16="http://schemas.microsoft.com/office/drawing/2014/main" id="{68E3C09F-4D0C-4E4A-B2DE-0DA7A67CDA6C}"/>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tretch>
            <a:fillRect/>
          </a:stretch>
        </p:blipFill>
        <p:spPr bwMode="auto">
          <a:xfrm>
            <a:off x="5490237" y="4290274"/>
            <a:ext cx="879475" cy="458650"/>
          </a:xfrm>
          <a:prstGeom prst="rect">
            <a:avLst/>
          </a:prstGeom>
          <a:noFill/>
          <a:extLst>
            <a:ext uri="{909E8E84-426E-40DD-AFC4-6F175D3DCCD1}">
              <a14:hiddenFill xmlns:a14="http://schemas.microsoft.com/office/drawing/2010/main">
                <a:solidFill>
                  <a:srgbClr val="FFFFFF"/>
                </a:solidFill>
              </a14:hiddenFill>
            </a:ext>
          </a:extLst>
        </p:spPr>
      </p:pic>
      <p:sp>
        <p:nvSpPr>
          <p:cNvPr id="31" name="left-to-right" descr="&quot;&quot;">
            <a:extLst>
              <a:ext uri="{FF2B5EF4-FFF2-40B4-BE49-F238E27FC236}">
                <a16:creationId xmlns:a16="http://schemas.microsoft.com/office/drawing/2014/main" id="{5C92237B-D330-49AE-BD53-731428C09BFE}"/>
              </a:ext>
            </a:extLst>
          </p:cNvPr>
          <p:cNvSpPr>
            <a:spLocks noChangeArrowheads="1"/>
          </p:cNvSpPr>
          <p:nvPr/>
        </p:nvSpPr>
        <p:spPr bwMode="auto">
          <a:xfrm>
            <a:off x="2308372" y="2549605"/>
            <a:ext cx="4630722" cy="466725"/>
          </a:xfrm>
          <a:prstGeom prst="rightArrow">
            <a:avLst/>
          </a:prstGeom>
          <a:solidFill>
            <a:srgbClr val="FF0000"/>
          </a:solidFill>
          <a:ln w="9525" algn="ctr">
            <a:noFill/>
            <a:miter lim="800000"/>
            <a:headEnd/>
            <a:tailEnd/>
          </a:ln>
          <a:effectLst/>
        </p:spPr>
        <p:txBody>
          <a:bodyPr wrap="none" anchor="ctr"/>
          <a:lstStyle/>
          <a:p>
            <a:pPr algn="ctr"/>
            <a:r>
              <a:rPr lang="en-US" dirty="0">
                <a:solidFill>
                  <a:srgbClr val="FFFFFF"/>
                </a:solidFill>
                <a:latin typeface="Segoe UI" pitchFamily="34" charset="0"/>
                <a:ea typeface="Segoe UI" pitchFamily="34" charset="0"/>
                <a:cs typeface="Segoe UI" pitchFamily="34" charset="0"/>
              </a:rPr>
              <a:t>      Unicast</a:t>
            </a:r>
          </a:p>
        </p:txBody>
      </p:sp>
      <p:sp>
        <p:nvSpPr>
          <p:cNvPr id="32" name="right-to-left" descr="&quot;&quot;">
            <a:extLst>
              <a:ext uri="{FF2B5EF4-FFF2-40B4-BE49-F238E27FC236}">
                <a16:creationId xmlns:a16="http://schemas.microsoft.com/office/drawing/2014/main" id="{10633ADD-CDD5-2A12-7289-9249E49F6884}"/>
              </a:ext>
            </a:extLst>
          </p:cNvPr>
          <p:cNvSpPr>
            <a:spLocks noChangeArrowheads="1"/>
          </p:cNvSpPr>
          <p:nvPr/>
        </p:nvSpPr>
        <p:spPr bwMode="auto">
          <a:xfrm>
            <a:off x="2592496" y="2549605"/>
            <a:ext cx="4504889" cy="466725"/>
          </a:xfrm>
          <a:prstGeom prst="leftArrow">
            <a:avLst/>
          </a:prstGeom>
          <a:solidFill>
            <a:srgbClr val="FF0000"/>
          </a:solidFill>
          <a:ln w="9525" algn="ctr">
            <a:noFill/>
            <a:miter lim="800000"/>
            <a:headEnd/>
            <a:tailEnd/>
          </a:ln>
          <a:effectLst/>
        </p:spPr>
        <p:txBody>
          <a:bodyPr wrap="none" anchor="ctr"/>
          <a:lstStyle/>
          <a:p>
            <a:pPr algn="ctr"/>
            <a:r>
              <a:rPr lang="en-US" dirty="0">
                <a:solidFill>
                  <a:srgbClr val="FFFFFF"/>
                </a:solidFill>
                <a:latin typeface="Segoe UI" pitchFamily="34" charset="0"/>
                <a:ea typeface="Segoe UI" pitchFamily="34" charset="0"/>
                <a:cs typeface="Segoe UI" pitchFamily="34" charset="0"/>
              </a:rPr>
              <a:t>Unicast</a:t>
            </a:r>
          </a:p>
        </p:txBody>
      </p:sp>
      <p:pic>
        <p:nvPicPr>
          <p:cNvPr id="33" name="server">
            <a:extLst>
              <a:ext uri="{FF2B5EF4-FFF2-40B4-BE49-F238E27FC236}">
                <a16:creationId xmlns:a16="http://schemas.microsoft.com/office/drawing/2014/main" id="{97216C69-54CA-A666-C04F-37A3D959C703}"/>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tretch>
            <a:fillRect/>
          </a:stretch>
        </p:blipFill>
        <p:spPr bwMode="auto">
          <a:xfrm>
            <a:off x="6950082" y="2328787"/>
            <a:ext cx="512041" cy="908053"/>
          </a:xfrm>
          <a:prstGeom prst="rect">
            <a:avLst/>
          </a:prstGeom>
          <a:noFill/>
          <a:extLst>
            <a:ext uri="{909E8E84-426E-40DD-AFC4-6F175D3DCCD1}">
              <a14:hiddenFill xmlns:a14="http://schemas.microsoft.com/office/drawing/2010/main">
                <a:solidFill>
                  <a:srgbClr val="FFFFFF"/>
                </a:solidFill>
              </a14:hiddenFill>
            </a:ext>
          </a:extLst>
        </p:spPr>
      </p:pic>
      <p:pic>
        <p:nvPicPr>
          <p:cNvPr id="34" name="alt-text here, server">
            <a:extLst>
              <a:ext uri="{FF2B5EF4-FFF2-40B4-BE49-F238E27FC236}">
                <a16:creationId xmlns:a16="http://schemas.microsoft.com/office/drawing/2014/main" id="{46C084BA-57F4-30BD-73D5-5184023BFCAB}"/>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tretch>
            <a:fillRect/>
          </a:stretch>
        </p:blipFill>
        <p:spPr bwMode="auto">
          <a:xfrm>
            <a:off x="2067690" y="2328787"/>
            <a:ext cx="512041" cy="908053"/>
          </a:xfrm>
          <a:prstGeom prst="rect">
            <a:avLst/>
          </a:prstGeom>
          <a:noFill/>
          <a:extLst>
            <a:ext uri="{909E8E84-426E-40DD-AFC4-6F175D3DCCD1}">
              <a14:hiddenFill xmlns:a14="http://schemas.microsoft.com/office/drawing/2010/main">
                <a:solidFill>
                  <a:srgbClr val="FFFFFF"/>
                </a:solidFill>
              </a14:hiddenFill>
            </a:ext>
          </a:extLst>
        </p:spPr>
      </p:pic>
      <p:pic>
        <p:nvPicPr>
          <p:cNvPr id="35" name="Audio 1">
            <a:hlinkClick r:id="" action="ppaction://media"/>
            <a:extLst>
              <a:ext uri="{FF2B5EF4-FFF2-40B4-BE49-F238E27FC236}">
                <a16:creationId xmlns:a16="http://schemas.microsoft.com/office/drawing/2014/main" id="{14CB0A89-47E4-14B6-FDF3-5F5AB978AF24}"/>
              </a:ext>
            </a:extLst>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8534400" y="6496050"/>
            <a:ext cx="609600" cy="609600"/>
          </a:xfrm>
          <a:prstGeom prst="rect">
            <a:avLst/>
          </a:prstGeom>
        </p:spPr>
      </p:pic>
    </p:spTree>
    <p:extLst>
      <p:ext uri="{BB962C8B-B14F-4D97-AF65-F5344CB8AC3E}">
        <p14:creationId xmlns:p14="http://schemas.microsoft.com/office/powerpoint/2010/main" val="644023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5"/>
                                        </p:tgtEl>
                                      </p:cBhvr>
                                    </p:cmd>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6" presetClass="entr" presetSubtype="32"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circle(out)">
                                      <p:cBhvr>
                                        <p:cTn id="16" dur="2000"/>
                                        <p:tgtEl>
                                          <p:spTgt spid="13"/>
                                        </p:tgtEl>
                                      </p:cBhvr>
                                    </p:animEffect>
                                  </p:childTnLst>
                                </p:cTn>
                              </p:par>
                            </p:childTnLst>
                          </p:cTn>
                        </p:par>
                        <p:par>
                          <p:cTn id="17" fill="hold">
                            <p:stCondLst>
                              <p:cond delay="2000"/>
                            </p:stCondLst>
                            <p:childTnLst>
                              <p:par>
                                <p:cTn id="18" presetID="6" presetClass="entr" presetSubtype="32" fill="hold" nodeType="after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circle(out)">
                                      <p:cBhvr>
                                        <p:cTn id="20" dur="2000"/>
                                        <p:tgtEl>
                                          <p:spTgt spid="13"/>
                                        </p:tgtEl>
                                      </p:cBhvr>
                                    </p:animEffect>
                                  </p:childTnLst>
                                </p:cTn>
                              </p:par>
                            </p:childTnLst>
                          </p:cTn>
                        </p:par>
                        <p:par>
                          <p:cTn id="21" fill="hold">
                            <p:stCondLst>
                              <p:cond delay="4000"/>
                            </p:stCondLst>
                            <p:childTnLst>
                              <p:par>
                                <p:cTn id="22" presetID="22" presetClass="entr" presetSubtype="8" fill="hold" grpId="0" nodeType="after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wipe(left)">
                                      <p:cBhvr>
                                        <p:cTn id="24" dur="1250"/>
                                        <p:tgtEl>
                                          <p:spTgt spid="3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grpId="1" nodeType="clickEffect">
                                  <p:stCondLst>
                                    <p:cond delay="0"/>
                                  </p:stCondLst>
                                  <p:childTnLst>
                                    <p:animEffect transition="out" filter="fade">
                                      <p:cBhvr>
                                        <p:cTn id="28" dur="500"/>
                                        <p:tgtEl>
                                          <p:spTgt spid="10"/>
                                        </p:tgtEl>
                                      </p:cBhvr>
                                    </p:animEffect>
                                    <p:set>
                                      <p:cBhvr>
                                        <p:cTn id="29" dur="1" fill="hold">
                                          <p:stCondLst>
                                            <p:cond delay="499"/>
                                          </p:stCondLst>
                                        </p:cTn>
                                        <p:tgtEl>
                                          <p:spTgt spid="10"/>
                                        </p:tgtEl>
                                        <p:attrNameLst>
                                          <p:attrName>style.visibility</p:attrName>
                                        </p:attrNameLst>
                                      </p:cBhvr>
                                      <p:to>
                                        <p:strVal val="hidden"/>
                                      </p:to>
                                    </p:set>
                                  </p:childTnLst>
                                </p:cTn>
                              </p:par>
                              <p:par>
                                <p:cTn id="30" presetID="10" presetClass="exit" presetSubtype="0" fill="hold" nodeType="withEffect">
                                  <p:stCondLst>
                                    <p:cond delay="0"/>
                                  </p:stCondLst>
                                  <p:childTnLst>
                                    <p:animEffect transition="out" filter="fade">
                                      <p:cBhvr>
                                        <p:cTn id="31" dur="500"/>
                                        <p:tgtEl>
                                          <p:spTgt spid="13"/>
                                        </p:tgtEl>
                                      </p:cBhvr>
                                    </p:animEffect>
                                    <p:set>
                                      <p:cBhvr>
                                        <p:cTn id="32" dur="1" fill="hold">
                                          <p:stCondLst>
                                            <p:cond delay="499"/>
                                          </p:stCondLst>
                                        </p:cTn>
                                        <p:tgtEl>
                                          <p:spTgt spid="13"/>
                                        </p:tgtEl>
                                        <p:attrNameLst>
                                          <p:attrName>style.visibility</p:attrName>
                                        </p:attrNameLst>
                                      </p:cBhvr>
                                      <p:to>
                                        <p:strVal val="hidden"/>
                                      </p:to>
                                    </p:set>
                                  </p:childTnLst>
                                </p:cTn>
                              </p:par>
                              <p:par>
                                <p:cTn id="33" presetID="10" presetClass="exit" presetSubtype="0" fill="hold" grpId="1" nodeType="withEffect">
                                  <p:stCondLst>
                                    <p:cond delay="0"/>
                                  </p:stCondLst>
                                  <p:childTnLst>
                                    <p:animEffect transition="out" filter="fade">
                                      <p:cBhvr>
                                        <p:cTn id="34" dur="500"/>
                                        <p:tgtEl>
                                          <p:spTgt spid="31"/>
                                        </p:tgtEl>
                                      </p:cBhvr>
                                    </p:animEffect>
                                    <p:set>
                                      <p:cBhvr>
                                        <p:cTn id="35" dur="1" fill="hold">
                                          <p:stCondLst>
                                            <p:cond delay="499"/>
                                          </p:stCondLst>
                                        </p:cTn>
                                        <p:tgtEl>
                                          <p:spTgt spid="31"/>
                                        </p:tgtEl>
                                        <p:attrNameLst>
                                          <p:attrName>style.visibility</p:attrName>
                                        </p:attrNameLst>
                                      </p:cBhvr>
                                      <p:to>
                                        <p:strVal val="hidden"/>
                                      </p:to>
                                    </p:set>
                                  </p:childTnLst>
                                </p:cTn>
                              </p:par>
                            </p:childTnLst>
                          </p:cTn>
                        </p:par>
                        <p:par>
                          <p:cTn id="36" fill="hold">
                            <p:stCondLst>
                              <p:cond delay="500"/>
                            </p:stCondLst>
                            <p:childTnLst>
                              <p:par>
                                <p:cTn id="37" presetID="22" presetClass="entr" presetSubtype="2" fill="hold" grpId="0" nodeType="after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wipe(right)">
                                      <p:cBhvr>
                                        <p:cTn id="39" dur="1250"/>
                                        <p:tgtEl>
                                          <p:spTgt spid="32"/>
                                        </p:tgtEl>
                                      </p:cBhvr>
                                    </p:animEffect>
                                  </p:childTnLst>
                                </p:cTn>
                              </p:par>
                            </p:childTnLst>
                          </p:cTn>
                        </p:par>
                        <p:par>
                          <p:cTn id="40" fill="hold">
                            <p:stCondLst>
                              <p:cond delay="1750"/>
                            </p:stCondLst>
                            <p:childTnLst>
                              <p:par>
                                <p:cTn id="41" presetID="10" presetClass="entr" presetSubtype="0" fill="hold" grpId="2" nodeType="after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500"/>
                                        <p:tgtEl>
                                          <p:spTgt spid="10"/>
                                        </p:tgtEl>
                                      </p:cBhvr>
                                    </p:animEffect>
                                  </p:childTnLst>
                                </p:cTn>
                              </p:par>
                              <p:par>
                                <p:cTn id="44" presetID="6" presetClass="entr" presetSubtype="32" fill="hold" nodeType="with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circle(out)">
                                      <p:cBhvr>
                                        <p:cTn id="46" dur="2000"/>
                                        <p:tgtEl>
                                          <p:spTgt spid="13"/>
                                        </p:tgtEl>
                                      </p:cBhvr>
                                    </p:animEffect>
                                  </p:childTnLst>
                                </p:cTn>
                              </p:par>
                            </p:childTnLst>
                          </p:cTn>
                        </p:par>
                        <p:par>
                          <p:cTn id="47" fill="hold">
                            <p:stCondLst>
                              <p:cond delay="3750"/>
                            </p:stCondLst>
                            <p:childTnLst>
                              <p:par>
                                <p:cTn id="48" presetID="6" presetClass="entr" presetSubtype="32" fill="hold" nodeType="after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circle(out)">
                                      <p:cBhvr>
                                        <p:cTn id="50" dur="2000"/>
                                        <p:tgtEl>
                                          <p:spTgt spid="13"/>
                                        </p:tgtEl>
                                      </p:cBhvr>
                                    </p:animEffect>
                                  </p:childTnLst>
                                </p:cTn>
                              </p:par>
                            </p:childTnLst>
                          </p:cTn>
                        </p:par>
                        <p:par>
                          <p:cTn id="51" fill="hold">
                            <p:stCondLst>
                              <p:cond delay="5750"/>
                            </p:stCondLst>
                            <p:childTnLst>
                              <p:par>
                                <p:cTn id="52" presetID="10" presetClass="exit" presetSubtype="0" fill="hold" nodeType="afterEffect">
                                  <p:stCondLst>
                                    <p:cond delay="0"/>
                                  </p:stCondLst>
                                  <p:childTnLst>
                                    <p:animEffect transition="out" filter="fade">
                                      <p:cBhvr>
                                        <p:cTn id="53" dur="500"/>
                                        <p:tgtEl>
                                          <p:spTgt spid="12"/>
                                        </p:tgtEl>
                                      </p:cBhvr>
                                    </p:animEffect>
                                    <p:set>
                                      <p:cBhvr>
                                        <p:cTn id="54" dur="1" fill="hold">
                                          <p:stCondLst>
                                            <p:cond delay="499"/>
                                          </p:stCondLst>
                                        </p:cTn>
                                        <p:tgtEl>
                                          <p:spTgt spid="12"/>
                                        </p:tgtEl>
                                        <p:attrNameLst>
                                          <p:attrName>style.visibility</p:attrName>
                                        </p:attrNameLst>
                                      </p:cBhvr>
                                      <p:to>
                                        <p:strVal val="hidden"/>
                                      </p:to>
                                    </p:set>
                                  </p:childTnLst>
                                </p:cTn>
                              </p:par>
                              <p:par>
                                <p:cTn id="55" presetID="10" presetClass="entr" presetSubtype="0" fill="hold" nodeType="withEffect">
                                  <p:stCondLst>
                                    <p:cond delay="0"/>
                                  </p:stCondLst>
                                  <p:childTnLst>
                                    <p:set>
                                      <p:cBhvr>
                                        <p:cTn id="56" dur="1" fill="hold">
                                          <p:stCondLst>
                                            <p:cond delay="0"/>
                                          </p:stCondLst>
                                        </p:cTn>
                                        <p:tgtEl>
                                          <p:spTgt spid="11"/>
                                        </p:tgtEl>
                                        <p:attrNameLst>
                                          <p:attrName>style.visibility</p:attrName>
                                        </p:attrNameLst>
                                      </p:cBhvr>
                                      <p:to>
                                        <p:strVal val="visible"/>
                                      </p:to>
                                    </p:set>
                                    <p:animEffect transition="in" filter="fade">
                                      <p:cBhvr>
                                        <p:cTn id="5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58" fill="hold" display="0">
                  <p:stCondLst>
                    <p:cond delay="indefinite"/>
                  </p:stCondLst>
                  <p:endCondLst>
                    <p:cond evt="onStopAudio" delay="0">
                      <p:tgtEl>
                        <p:sldTgt/>
                      </p:tgtEl>
                    </p:cond>
                  </p:endCondLst>
                </p:cTn>
                <p:tgtEl>
                  <p:spTgt spid="35"/>
                </p:tgtEl>
              </p:cMediaNode>
            </p:audio>
          </p:childTnLst>
        </p:cTn>
      </p:par>
    </p:tnLst>
    <p:bldLst>
      <p:bldP spid="10" grpId="0"/>
      <p:bldP spid="10" grpId="1"/>
      <p:bldP spid="10" grpId="2"/>
      <p:bldP spid="31" grpId="0" animBg="1"/>
      <p:bldP spid="31" grpId="1" animBg="1"/>
      <p:bldP spid="3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BE" dirty="0"/>
              <a:t>Services DHCP</a:t>
            </a:r>
          </a:p>
        </p:txBody>
      </p:sp>
      <p:sp>
        <p:nvSpPr>
          <p:cNvPr id="3" name="Content Placeholder 2"/>
          <p:cNvSpPr>
            <a:spLocks noGrp="1"/>
          </p:cNvSpPr>
          <p:nvPr>
            <p:ph idx="1"/>
          </p:nvPr>
        </p:nvSpPr>
        <p:spPr/>
        <p:txBody>
          <a:bodyPr>
            <a:normAutofit fontScale="85000" lnSpcReduction="20000"/>
          </a:bodyPr>
          <a:lstStyle/>
          <a:p>
            <a:endParaRPr lang="fr-BE" dirty="0"/>
          </a:p>
          <a:p>
            <a:r>
              <a:rPr lang="fr-BE" dirty="0"/>
              <a:t>Le service DHCP, s’il fonctionne dans un domaine, doit être autorisé par l’Active Directory, sinon le service n’est pas autorisé à répondre aux requête DHCP DISCOVER. Pour cela, le serveur DHCP envoie un message DHCPINFORM à l’Active Directory qui lui répond avec un message DHCPACK ou DHCPNACK</a:t>
            </a:r>
          </a:p>
          <a:p>
            <a:r>
              <a:rPr lang="fr-BE" dirty="0"/>
              <a:t>Le serveur DHCP peut mettre à jour le DNS au nom du client DHCP</a:t>
            </a:r>
          </a:p>
          <a:p>
            <a:r>
              <a:rPr lang="fr-BE" dirty="0"/>
              <a:t>Le support du protocole DHCPv6, signifie qu’il est possible de définir des étendues et de distribuer des adresses IPv6</a:t>
            </a:r>
          </a:p>
          <a:p>
            <a:r>
              <a:rPr lang="fr-BE" dirty="0"/>
              <a:t>Le support du protocole NAP permet de contrôler la distribution d’adresses IP de manière à ce qu’un client non conforme ne puisse recevoir toutes les options DHCP et soit renvoyé vers le réseau de remédiation</a:t>
            </a:r>
          </a:p>
          <a:p>
            <a:r>
              <a:rPr lang="fr-BE" dirty="0"/>
              <a:t>Les outils de configuration et de gestion sont:</a:t>
            </a:r>
          </a:p>
          <a:p>
            <a:pPr lvl="1"/>
            <a:r>
              <a:rPr lang="fr-BE" dirty="0"/>
              <a:t>La console DHCP, soit une console MMC permettant de gérer un ou plusieurs serveurs DHCP</a:t>
            </a:r>
          </a:p>
          <a:p>
            <a:pPr lvl="1"/>
            <a:r>
              <a:rPr lang="fr-BE" dirty="0"/>
              <a:t>Les commandes </a:t>
            </a:r>
            <a:r>
              <a:rPr lang="fr-BE" dirty="0" err="1"/>
              <a:t>netsh</a:t>
            </a:r>
            <a:r>
              <a:rPr lang="fr-BE" dirty="0"/>
              <a:t> qui permettent également d’effectuer une gestion efficace d’un serveur DHCP</a:t>
            </a:r>
          </a:p>
          <a:p>
            <a:endParaRPr lang="fr-BE"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124712" cy="706378"/>
          </a:xfrm>
          <a:prstGeom prst="rect">
            <a:avLst/>
          </a:prstGeom>
        </p:spPr>
      </p:pic>
    </p:spTree>
    <p:extLst>
      <p:ext uri="{BB962C8B-B14F-4D97-AF65-F5344CB8AC3E}">
        <p14:creationId xmlns:p14="http://schemas.microsoft.com/office/powerpoint/2010/main" val="41347196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BE" dirty="0"/>
              <a:t>Installation</a:t>
            </a:r>
          </a:p>
        </p:txBody>
      </p:sp>
      <p:sp>
        <p:nvSpPr>
          <p:cNvPr id="3" name="Content Placeholder 2"/>
          <p:cNvSpPr>
            <a:spLocks noGrp="1"/>
          </p:cNvSpPr>
          <p:nvPr>
            <p:ph idx="1"/>
          </p:nvPr>
        </p:nvSpPr>
        <p:spPr>
          <a:xfrm>
            <a:off x="677335" y="2160589"/>
            <a:ext cx="4827726" cy="2821957"/>
          </a:xfrm>
        </p:spPr>
        <p:txBody>
          <a:bodyPr>
            <a:normAutofit fontScale="85000" lnSpcReduction="10000"/>
          </a:bodyPr>
          <a:lstStyle/>
          <a:p>
            <a:r>
              <a:rPr lang="fr-BE" dirty="0"/>
              <a:t>Dans Rôles, cliquez sur Ajouter des rôles</a:t>
            </a:r>
          </a:p>
          <a:p>
            <a:endParaRPr lang="fr-BE" dirty="0"/>
          </a:p>
          <a:p>
            <a:r>
              <a:rPr lang="fr-BE" dirty="0"/>
              <a:t>Sur la page Rôles de serveurs, sélectionnez le rôle Serveur DHCP puis cliquez sur Suivant</a:t>
            </a:r>
          </a:p>
          <a:p>
            <a:endParaRPr lang="fr-BE" dirty="0"/>
          </a:p>
          <a:p>
            <a:r>
              <a:rPr lang="fr-BE" dirty="0"/>
              <a:t>Installer le rôle</a:t>
            </a:r>
          </a:p>
          <a:p>
            <a:endParaRPr lang="fr-BE" dirty="0"/>
          </a:p>
          <a:p>
            <a:r>
              <a:rPr lang="fr-BE" dirty="0"/>
              <a:t>Terminer en complétant la configuration DHCP en post-</a:t>
            </a:r>
            <a:r>
              <a:rPr lang="fr-BE" dirty="0" err="1"/>
              <a:t>deploiement</a:t>
            </a:r>
            <a:endParaRPr lang="fr-BE" dirty="0"/>
          </a:p>
          <a:p>
            <a:endParaRPr lang="fr-BE"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124712" cy="706378"/>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71017" y="1930400"/>
            <a:ext cx="5725818" cy="4058174"/>
          </a:xfrm>
          <a:prstGeom prst="rect">
            <a:avLst/>
          </a:prstGeom>
        </p:spPr>
      </p:pic>
    </p:spTree>
    <p:extLst>
      <p:ext uri="{BB962C8B-B14F-4D97-AF65-F5344CB8AC3E}">
        <p14:creationId xmlns:p14="http://schemas.microsoft.com/office/powerpoint/2010/main" val="28853428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BE" dirty="0"/>
              <a:t>Installation</a:t>
            </a:r>
          </a:p>
        </p:txBody>
      </p:sp>
      <p:sp>
        <p:nvSpPr>
          <p:cNvPr id="3" name="Content Placeholder 2"/>
          <p:cNvSpPr>
            <a:spLocks noGrp="1"/>
          </p:cNvSpPr>
          <p:nvPr>
            <p:ph idx="1"/>
          </p:nvPr>
        </p:nvSpPr>
        <p:spPr>
          <a:xfrm>
            <a:off x="677334" y="1688841"/>
            <a:ext cx="8596668" cy="4646645"/>
          </a:xfrm>
        </p:spPr>
        <p:txBody>
          <a:bodyPr>
            <a:normAutofit fontScale="77500" lnSpcReduction="20000"/>
          </a:bodyPr>
          <a:lstStyle/>
          <a:p>
            <a:r>
              <a:rPr lang="fr-BE" dirty="0"/>
              <a:t>Une fois le rôle installé, sur le gestionnaire DHCP, ajouter au moins une étendue en cliquant sur le bouton « Nouvelle étendue » sur la racine IPv4:</a:t>
            </a:r>
          </a:p>
          <a:p>
            <a:endParaRPr lang="fr-BE" dirty="0"/>
          </a:p>
          <a:p>
            <a:r>
              <a:rPr lang="fr-BE" dirty="0"/>
              <a:t>Dans la boîte de dialogue Ajouter une étendue, tapez les informations demandées:</a:t>
            </a:r>
          </a:p>
          <a:p>
            <a:pPr lvl="1"/>
            <a:r>
              <a:rPr lang="fr-BE" dirty="0"/>
              <a:t>Nom de l’étendue: tapez un nom qui a un sens permettant d’identifier facilement les adresses comprises dans  l’étendue.</a:t>
            </a:r>
          </a:p>
          <a:p>
            <a:pPr lvl="1"/>
            <a:r>
              <a:rPr lang="fr-BE" dirty="0"/>
              <a:t>Adresse IP de départ: indique la première adresse de l’étendue.</a:t>
            </a:r>
          </a:p>
          <a:p>
            <a:pPr lvl="1"/>
            <a:r>
              <a:rPr lang="fr-BE" dirty="0"/>
              <a:t>Adresse IP de fin: indique la dernière adresse de l’étendue.</a:t>
            </a:r>
          </a:p>
          <a:p>
            <a:pPr lvl="1"/>
            <a:r>
              <a:rPr lang="fr-BE" dirty="0"/>
              <a:t>Masque de sous-réseau: comme son nom l’indique.</a:t>
            </a:r>
          </a:p>
          <a:p>
            <a:pPr lvl="1"/>
            <a:r>
              <a:rPr lang="fr-BE" dirty="0"/>
              <a:t>Plage d’exclusion: si besoin d’exclure certaines IP de la plage mentionnée</a:t>
            </a:r>
          </a:p>
          <a:p>
            <a:pPr lvl="1"/>
            <a:r>
              <a:rPr lang="fr-BE" dirty="0"/>
              <a:t>Durée de bail: permet de définir rapidement une durée de bail, soit 8 jours pour un ordinateur de bureau et 4 heures pour un ordinateur portable. </a:t>
            </a:r>
          </a:p>
          <a:p>
            <a:pPr lvl="1"/>
            <a:r>
              <a:rPr lang="fr-BE" dirty="0"/>
              <a:t>Passerelle par défaut (facultatif): soit l’adresse du routeur</a:t>
            </a:r>
          </a:p>
          <a:p>
            <a:pPr lvl="1"/>
            <a:r>
              <a:rPr lang="fr-BE" dirty="0"/>
              <a:t>Spécifier les paramètres DNS</a:t>
            </a:r>
          </a:p>
          <a:p>
            <a:pPr lvl="1"/>
            <a:r>
              <a:rPr lang="fr-BE" dirty="0"/>
              <a:t>Sur la page Paramètres WINS IPv4, spécifiez les options WINS c’est à dire les adresses des serveurs WINS que recevra  un client DHCP, puis appuyez sur Suivant.(WINS est aux noms </a:t>
            </a:r>
            <a:r>
              <a:rPr lang="fr-BE" dirty="0" err="1"/>
              <a:t>Netbios</a:t>
            </a:r>
            <a:r>
              <a:rPr lang="fr-BE" dirty="0"/>
              <a:t>, ce que le DNS est au FQDN, et n’est plus utilisé)</a:t>
            </a:r>
          </a:p>
          <a:p>
            <a:pPr lvl="1"/>
            <a:r>
              <a:rPr lang="fr-BE" dirty="0"/>
              <a:t>Activer cette étendue: indique si l’étendue une fois créée peut être utilisée par le serveur DHCP ou non</a:t>
            </a:r>
          </a:p>
          <a:p>
            <a:endParaRPr lang="fr-BE"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124712" cy="706378"/>
          </a:xfrm>
          <a:prstGeom prst="rect">
            <a:avLst/>
          </a:prstGeom>
        </p:spPr>
      </p:pic>
    </p:spTree>
    <p:extLst>
      <p:ext uri="{BB962C8B-B14F-4D97-AF65-F5344CB8AC3E}">
        <p14:creationId xmlns:p14="http://schemas.microsoft.com/office/powerpoint/2010/main" val="8380767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BE" dirty="0"/>
              <a:t>Les étendues DHCP</a:t>
            </a:r>
          </a:p>
        </p:txBody>
      </p:sp>
      <p:sp>
        <p:nvSpPr>
          <p:cNvPr id="3" name="Content Placeholder 2"/>
          <p:cNvSpPr>
            <a:spLocks noGrp="1"/>
          </p:cNvSpPr>
          <p:nvPr>
            <p:ph idx="1"/>
          </p:nvPr>
        </p:nvSpPr>
        <p:spPr>
          <a:xfrm>
            <a:off x="6555941" y="2219649"/>
            <a:ext cx="3213210" cy="2912188"/>
          </a:xfrm>
        </p:spPr>
        <p:txBody>
          <a:bodyPr>
            <a:normAutofit fontScale="85000" lnSpcReduction="20000"/>
          </a:bodyPr>
          <a:lstStyle/>
          <a:p>
            <a:r>
              <a:rPr lang="fr-BE" dirty="0"/>
              <a:t>Il est possible de rajouter une autre étendue, par exemple pour un nouveau sous-réseau. Il conviendra alors de renseigner de nouveau:</a:t>
            </a:r>
          </a:p>
          <a:p>
            <a:pPr lvl="1"/>
            <a:r>
              <a:rPr lang="fr-BE" dirty="0"/>
              <a:t>Plage IP</a:t>
            </a:r>
          </a:p>
          <a:p>
            <a:pPr lvl="1"/>
            <a:r>
              <a:rPr lang="fr-BE" dirty="0"/>
              <a:t>Masque</a:t>
            </a:r>
          </a:p>
          <a:p>
            <a:pPr lvl="1"/>
            <a:r>
              <a:rPr lang="fr-BE" dirty="0"/>
              <a:t>Un bail</a:t>
            </a:r>
          </a:p>
          <a:p>
            <a:pPr lvl="1"/>
            <a:r>
              <a:rPr lang="fr-BE" dirty="0"/>
              <a:t>L’IP de la passerelle</a:t>
            </a:r>
          </a:p>
          <a:p>
            <a:pPr lvl="1"/>
            <a:r>
              <a:rPr lang="fr-BE" dirty="0"/>
              <a:t>Le nom de domaine</a:t>
            </a:r>
          </a:p>
          <a:p>
            <a:pPr lvl="1"/>
            <a:r>
              <a:rPr lang="fr-BE" dirty="0"/>
              <a:t>L’IP du serveur(s) DNS</a:t>
            </a:r>
          </a:p>
          <a:p>
            <a:endParaRPr lang="fr-BE"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124712" cy="706378"/>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6272" y="1930400"/>
            <a:ext cx="6219669" cy="3650209"/>
          </a:xfrm>
          <a:prstGeom prst="rect">
            <a:avLst/>
          </a:prstGeom>
        </p:spPr>
      </p:pic>
    </p:spTree>
    <p:extLst>
      <p:ext uri="{BB962C8B-B14F-4D97-AF65-F5344CB8AC3E}">
        <p14:creationId xmlns:p14="http://schemas.microsoft.com/office/powerpoint/2010/main" val="19973150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BE" dirty="0"/>
              <a:t>Configuration et Gestion</a:t>
            </a:r>
          </a:p>
        </p:txBody>
      </p:sp>
      <p:sp>
        <p:nvSpPr>
          <p:cNvPr id="3" name="Content Placeholder 2"/>
          <p:cNvSpPr>
            <a:spLocks noGrp="1"/>
          </p:cNvSpPr>
          <p:nvPr>
            <p:ph idx="1"/>
          </p:nvPr>
        </p:nvSpPr>
        <p:spPr>
          <a:xfrm>
            <a:off x="677334" y="1744825"/>
            <a:ext cx="8596668" cy="4749282"/>
          </a:xfrm>
        </p:spPr>
        <p:txBody>
          <a:bodyPr>
            <a:normAutofit fontScale="77500" lnSpcReduction="20000"/>
          </a:bodyPr>
          <a:lstStyle/>
          <a:p>
            <a:r>
              <a:rPr lang="fr-BE" dirty="0"/>
              <a:t>Avec DHCP, il est possible de:</a:t>
            </a:r>
          </a:p>
          <a:p>
            <a:pPr lvl="1"/>
            <a:r>
              <a:rPr lang="fr-BE" dirty="0"/>
              <a:t>Création d’une étendue IPv4</a:t>
            </a:r>
          </a:p>
          <a:p>
            <a:pPr lvl="1"/>
            <a:r>
              <a:rPr lang="fr-BE" dirty="0"/>
              <a:t>Création d’une étendue IPv6</a:t>
            </a:r>
          </a:p>
          <a:p>
            <a:pPr lvl="1"/>
            <a:r>
              <a:rPr lang="fr-BE" dirty="0"/>
              <a:t>Gestion d’une étendue</a:t>
            </a:r>
          </a:p>
          <a:p>
            <a:pPr lvl="1"/>
            <a:r>
              <a:rPr lang="fr-BE" dirty="0"/>
              <a:t>Création d’une réservation</a:t>
            </a:r>
          </a:p>
          <a:p>
            <a:pPr lvl="1"/>
            <a:r>
              <a:rPr lang="fr-BE" dirty="0"/>
              <a:t>Configuration des options de bail</a:t>
            </a:r>
          </a:p>
          <a:p>
            <a:r>
              <a:rPr lang="fr-BE" dirty="0"/>
              <a:t>Sauvegarde DHCP</a:t>
            </a:r>
          </a:p>
          <a:p>
            <a:r>
              <a:rPr lang="fr-BE" dirty="0"/>
              <a:t>La DHCP </a:t>
            </a:r>
            <a:r>
              <a:rPr lang="fr-BE" dirty="0" err="1"/>
              <a:t>Database</a:t>
            </a:r>
            <a:r>
              <a:rPr lang="fr-BE" dirty="0"/>
              <a:t> est une base dynamique qui contient des informations de configuration comme les étendues, les baux d’adresses et les réservations</a:t>
            </a:r>
          </a:p>
          <a:p>
            <a:pPr lvl="1"/>
            <a:r>
              <a:rPr lang="fr-BE" dirty="0"/>
              <a:t>Par défaut  elle se trouve dans ce dossier:</a:t>
            </a:r>
          </a:p>
          <a:p>
            <a:pPr lvl="2"/>
            <a:r>
              <a:rPr lang="fr-BE" dirty="0"/>
              <a:t>%</a:t>
            </a:r>
            <a:r>
              <a:rPr lang="fr-BE" dirty="0" err="1"/>
              <a:t>systemroot</a:t>
            </a:r>
            <a:r>
              <a:rPr lang="fr-BE" dirty="0"/>
              <a:t>%\system32\</a:t>
            </a:r>
            <a:r>
              <a:rPr lang="fr-BE" dirty="0" err="1"/>
              <a:t>dhcp</a:t>
            </a:r>
            <a:endParaRPr lang="fr-BE" dirty="0"/>
          </a:p>
          <a:p>
            <a:pPr lvl="1"/>
            <a:r>
              <a:rPr lang="fr-BE" dirty="0"/>
              <a:t>Ainsi que le répertoire de sauvegarde</a:t>
            </a:r>
          </a:p>
          <a:p>
            <a:pPr lvl="2"/>
            <a:r>
              <a:rPr lang="fr-BE" dirty="0"/>
              <a:t>%</a:t>
            </a:r>
            <a:r>
              <a:rPr lang="fr-BE" dirty="0" err="1"/>
              <a:t>systemroot</a:t>
            </a:r>
            <a:r>
              <a:rPr lang="fr-BE" dirty="0"/>
              <a:t>%\system32\</a:t>
            </a:r>
            <a:r>
              <a:rPr lang="fr-BE" dirty="0" err="1"/>
              <a:t>dhcp</a:t>
            </a:r>
            <a:r>
              <a:rPr lang="fr-BE" dirty="0"/>
              <a:t>\backup.</a:t>
            </a:r>
          </a:p>
          <a:p>
            <a:r>
              <a:rPr lang="fr-BE" dirty="0"/>
              <a:t>Statistiques</a:t>
            </a:r>
          </a:p>
          <a:p>
            <a:pPr lvl="1"/>
            <a:r>
              <a:rPr lang="fr-BE" dirty="0"/>
              <a:t>Lancez la console DHCP.</a:t>
            </a:r>
          </a:p>
          <a:p>
            <a:pPr lvl="1"/>
            <a:r>
              <a:rPr lang="fr-BE" dirty="0"/>
              <a:t>Cliquez sur le nœud du serveur pour développer l’arborescence.</a:t>
            </a:r>
          </a:p>
          <a:p>
            <a:pPr lvl="1"/>
            <a:r>
              <a:rPr lang="fr-BE" dirty="0"/>
              <a:t>Cliquez avec le bouton droit de la souris sur IPv4 ou sur IPv6 pour afficher les statistiques IPv4 ou IPv6, puis sur Afficher les statistiques.</a:t>
            </a:r>
          </a:p>
          <a:p>
            <a:endParaRPr lang="fr-BE" dirty="0"/>
          </a:p>
          <a:p>
            <a:endParaRPr lang="fr-BE"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25319" y="2273447"/>
            <a:ext cx="2968121" cy="2724058"/>
          </a:xfrm>
          <a:prstGeom prst="rect">
            <a:avLst/>
          </a:prstGeom>
        </p:spPr>
      </p:pic>
    </p:spTree>
    <p:extLst>
      <p:ext uri="{BB962C8B-B14F-4D97-AF65-F5344CB8AC3E}">
        <p14:creationId xmlns:p14="http://schemas.microsoft.com/office/powerpoint/2010/main" val="88686608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338</TotalTime>
  <Words>2070</Words>
  <Application>Microsoft Office PowerPoint</Application>
  <PresentationFormat>Widescreen</PresentationFormat>
  <Paragraphs>228</Paragraphs>
  <Slides>20</Slides>
  <Notes>0</Notes>
  <HiddenSlides>0</HiddenSlides>
  <MMClips>3</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Segoe UI</vt:lpstr>
      <vt:lpstr>Trebuchet MS</vt:lpstr>
      <vt:lpstr>Wingdings 3</vt:lpstr>
      <vt:lpstr>Facet</vt:lpstr>
      <vt:lpstr>2 – Réseaux IP et DHCP</vt:lpstr>
      <vt:lpstr>Réseaux IP et DHCP</vt:lpstr>
      <vt:lpstr>Introduction IPv4</vt:lpstr>
      <vt:lpstr>Introduction IPv4</vt:lpstr>
      <vt:lpstr>Calcul de réseaux</vt:lpstr>
      <vt:lpstr>Classes d’adresses</vt:lpstr>
      <vt:lpstr>Espace d’adressage</vt:lpstr>
      <vt:lpstr>Outils en CLI</vt:lpstr>
      <vt:lpstr>Introduction IPv6</vt:lpstr>
      <vt:lpstr>L’adressage IPv6</vt:lpstr>
      <vt:lpstr>Catégorie d’adresses IP</vt:lpstr>
      <vt:lpstr>Présentation DHCP</vt:lpstr>
      <vt:lpstr>Génération Bail DHCP</vt:lpstr>
      <vt:lpstr>Renouvellement bail DHCP</vt:lpstr>
      <vt:lpstr>DHCP Relay</vt:lpstr>
      <vt:lpstr>Services DHCP</vt:lpstr>
      <vt:lpstr>Installation</vt:lpstr>
      <vt:lpstr>Installation</vt:lpstr>
      <vt:lpstr>Les étendues DHCP</vt:lpstr>
      <vt:lpstr>Configuration et Gestion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 – Réseaux IP et DHCP</dc:title>
  <dc:creator>Yann Vanhemelryck</dc:creator>
  <cp:lastModifiedBy>Sébastien Sotiaux</cp:lastModifiedBy>
  <cp:revision>16</cp:revision>
  <dcterms:created xsi:type="dcterms:W3CDTF">2018-03-12T13:29:46Z</dcterms:created>
  <dcterms:modified xsi:type="dcterms:W3CDTF">2026-02-23T14:24:03Z</dcterms:modified>
</cp:coreProperties>
</file>